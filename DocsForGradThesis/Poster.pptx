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21388388" cy="30243463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42" name="PlaceHolder 1"/>
          <p:cNvSpPr>
            <a:spLocks noGrp="1"/>
          </p:cNvSpPr>
          <p:nvPr>
            <p:ph type="hdr"/>
          </p:nvPr>
        </p:nvSpPr>
        <p:spPr>
          <a:xfrm>
            <a:off x="-360" y="-360"/>
            <a:ext cx="3962520" cy="34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2948040"/>
                <a:tab algn="l" pos="5896080"/>
                <a:tab algn="l" pos="8844120"/>
              </a:tabLst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dt" idx="4"/>
          </p:nvPr>
        </p:nvSpPr>
        <p:spPr>
          <a:xfrm>
            <a:off x="5179680" y="-360"/>
            <a:ext cx="3962520" cy="34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tabLst>
                <a:tab algn="l" pos="0"/>
                <a:tab algn="l" pos="2948040"/>
                <a:tab algn="l" pos="5896080"/>
                <a:tab algn="l" pos="884412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algn="r">
              <a:tabLst>
                <a:tab algn="l" pos="0"/>
                <a:tab algn="l" pos="2948040"/>
                <a:tab algn="l" pos="5896080"/>
                <a:tab algn="l" pos="884412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Img"/>
          </p:nvPr>
        </p:nvSpPr>
        <p:spPr>
          <a:xfrm>
            <a:off x="3662280" y="514440"/>
            <a:ext cx="1819440" cy="257184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2944800"/>
                <a:tab algn="l" pos="5889600"/>
                <a:tab algn="l" pos="8834400"/>
              </a:tabLst>
            </a:pPr>
            <a:r>
              <a:rPr b="0" lang="en-US" sz="142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4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5200" cy="30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r>
              <a:rPr b="0" lang="en-US" sz="3800" spc="-1" strike="noStrike">
                <a:solidFill>
                  <a:srgbClr val="000000"/>
                </a:solidFill>
                <a:latin typeface="Calibri"/>
              </a:rPr>
              <a:t>Click to edit the notes format</a:t>
            </a:r>
            <a:endParaRPr b="0" lang="en-US" sz="3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ftr" idx="5"/>
          </p:nvPr>
        </p:nvSpPr>
        <p:spPr>
          <a:xfrm>
            <a:off x="-360" y="6513120"/>
            <a:ext cx="3962520" cy="34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>
              <a:tabLst>
                <a:tab algn="l" pos="0"/>
                <a:tab algn="l" pos="2948040"/>
                <a:tab algn="l" pos="5896080"/>
                <a:tab algn="l" pos="884412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>
              <a:tabLst>
                <a:tab algn="l" pos="0"/>
                <a:tab algn="l" pos="2948040"/>
                <a:tab algn="l" pos="5896080"/>
                <a:tab algn="l" pos="8844120"/>
              </a:tabLst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sldNum" idx="6"/>
          </p:nvPr>
        </p:nvSpPr>
        <p:spPr>
          <a:xfrm>
            <a:off x="5179680" y="6513120"/>
            <a:ext cx="3962520" cy="34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algn="r">
              <a:tabLst>
                <a:tab algn="l" pos="0"/>
                <a:tab algn="l" pos="2948040"/>
                <a:tab algn="l" pos="5896080"/>
                <a:tab algn="l" pos="884412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algn="r">
              <a:tabLst>
                <a:tab algn="l" pos="0"/>
                <a:tab algn="l" pos="2948040"/>
                <a:tab algn="l" pos="5896080"/>
                <a:tab algn="l" pos="8844120"/>
              </a:tabLst>
            </a:pPr>
            <a:fld id="{546F9F7F-7F1B-43AA-BF11-F4A0EE695DB4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3662280" y="514440"/>
            <a:ext cx="1819440" cy="2571840"/>
          </a:xfrm>
          <a:prstGeom prst="rect">
            <a:avLst/>
          </a:prstGeom>
          <a:ln w="0">
            <a:noFill/>
          </a:ln>
        </p:spPr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5200" cy="308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3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Slayt Numarası Yer Tutucusu 3"/>
          <p:cNvSpPr/>
          <p:nvPr/>
        </p:nvSpPr>
        <p:spPr>
          <a:xfrm>
            <a:off x="5180040" y="6513480"/>
            <a:ext cx="3962520" cy="343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2948040"/>
                <a:tab algn="l" pos="5896080"/>
                <a:tab algn="l" pos="8844120"/>
              </a:tabLst>
            </a:pPr>
            <a:fld id="{A23BDE98-E007-4942-9CF2-01D0527399CF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8828AD-86B9-4E01-9643-B0CFA150783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069920" y="1211400"/>
            <a:ext cx="19247040" cy="5040000"/>
          </a:xfrm>
          <a:prstGeom prst="rect">
            <a:avLst/>
          </a:prstGeom>
          <a:noFill/>
          <a:ln w="0">
            <a:noFill/>
          </a:ln>
        </p:spPr>
        <p:txBody>
          <a:bodyPr lIns="294480" rIns="294480" tIns="147240" bIns="147240" anchor="ctr">
            <a:noAutofit/>
          </a:bodyPr>
          <a:p>
            <a:pPr algn="ctr">
              <a:buNone/>
              <a:tabLst>
                <a:tab algn="l" pos="0"/>
                <a:tab algn="l" pos="2944800"/>
                <a:tab algn="l" pos="5889600"/>
                <a:tab algn="l" pos="8834400"/>
              </a:tabLst>
            </a:pPr>
            <a:endParaRPr b="0" lang="en-US" sz="14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1069920" y="7056360"/>
            <a:ext cx="19247040" cy="1995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2599"/>
              </a:spcBef>
              <a:buNone/>
              <a:tabLst>
                <a:tab algn="l" pos="0"/>
                <a:tab algn="l" pos="2944800"/>
                <a:tab algn="l" pos="5889600"/>
                <a:tab algn="l" pos="8834400"/>
              </a:tabLst>
            </a:pPr>
            <a:endParaRPr b="0" lang="en-US" sz="10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4C44D8-77AB-4707-B099-296C052B7D0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069920" y="1211400"/>
            <a:ext cx="19247040" cy="5040000"/>
          </a:xfrm>
          <a:prstGeom prst="rect">
            <a:avLst/>
          </a:prstGeom>
          <a:noFill/>
          <a:ln w="0">
            <a:noFill/>
          </a:ln>
        </p:spPr>
        <p:txBody>
          <a:bodyPr lIns="294480" rIns="294480" tIns="147240" bIns="147240" anchor="ctr">
            <a:noAutofit/>
          </a:bodyPr>
          <a:p>
            <a:pPr algn="ctr">
              <a:buNone/>
              <a:tabLst>
                <a:tab algn="l" pos="0"/>
                <a:tab algn="l" pos="2944800"/>
                <a:tab algn="l" pos="5889600"/>
                <a:tab algn="l" pos="8834400"/>
              </a:tabLst>
            </a:pPr>
            <a:endParaRPr b="0" lang="en-US" sz="14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1069920" y="7056360"/>
            <a:ext cx="19247040" cy="19959840"/>
          </a:xfrm>
          <a:prstGeom prst="rect">
            <a:avLst/>
          </a:prstGeom>
          <a:noFill/>
          <a:ln w="0">
            <a:noFill/>
          </a:ln>
        </p:spPr>
        <p:txBody>
          <a:bodyPr lIns="294480" rIns="294480" tIns="147240" bIns="147240" anchor="t">
            <a:normAutofit/>
          </a:bodyPr>
          <a:p>
            <a:endParaRPr b="0" lang="en-US" sz="10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00E751-3F83-4945-93CA-92A8C362117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069920" y="1211400"/>
            <a:ext cx="19247040" cy="5040000"/>
          </a:xfrm>
          <a:prstGeom prst="rect">
            <a:avLst/>
          </a:prstGeom>
          <a:noFill/>
          <a:ln w="0">
            <a:noFill/>
          </a:ln>
        </p:spPr>
        <p:txBody>
          <a:bodyPr lIns="294480" rIns="294480" tIns="147240" bIns="147240" anchor="ctr">
            <a:noAutofit/>
          </a:bodyPr>
          <a:p>
            <a:pPr algn="ctr">
              <a:buNone/>
              <a:tabLst>
                <a:tab algn="l" pos="0"/>
                <a:tab algn="l" pos="2944800"/>
                <a:tab algn="l" pos="5889600"/>
                <a:tab algn="l" pos="8834400"/>
              </a:tabLst>
            </a:pPr>
            <a:endParaRPr b="0" lang="en-US" sz="14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1069920" y="7056360"/>
            <a:ext cx="9392400" cy="19959840"/>
          </a:xfrm>
          <a:prstGeom prst="rect">
            <a:avLst/>
          </a:prstGeom>
          <a:noFill/>
          <a:ln w="0">
            <a:noFill/>
          </a:ln>
        </p:spPr>
        <p:txBody>
          <a:bodyPr lIns="294480" rIns="294480" tIns="147240" bIns="147240" anchor="t">
            <a:normAutofit/>
          </a:bodyPr>
          <a:p>
            <a:endParaRPr b="0" lang="en-US" sz="10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10932480" y="7056360"/>
            <a:ext cx="9392400" cy="19959840"/>
          </a:xfrm>
          <a:prstGeom prst="rect">
            <a:avLst/>
          </a:prstGeom>
          <a:noFill/>
          <a:ln w="0">
            <a:noFill/>
          </a:ln>
        </p:spPr>
        <p:txBody>
          <a:bodyPr lIns="294480" rIns="294480" tIns="147240" bIns="147240" anchor="t">
            <a:normAutofit/>
          </a:bodyPr>
          <a:p>
            <a:endParaRPr b="0" lang="en-US" sz="10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B0F1CC-0E05-4B14-B2DA-FB90977A50E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069920" y="1211400"/>
            <a:ext cx="19247040" cy="5040000"/>
          </a:xfrm>
          <a:prstGeom prst="rect">
            <a:avLst/>
          </a:prstGeom>
          <a:noFill/>
          <a:ln w="0">
            <a:noFill/>
          </a:ln>
        </p:spPr>
        <p:txBody>
          <a:bodyPr lIns="294480" rIns="294480" tIns="147240" bIns="147240" anchor="ctr">
            <a:noAutofit/>
          </a:bodyPr>
          <a:p>
            <a:pPr algn="ctr">
              <a:buNone/>
              <a:tabLst>
                <a:tab algn="l" pos="0"/>
                <a:tab algn="l" pos="2944800"/>
                <a:tab algn="l" pos="5889600"/>
                <a:tab algn="l" pos="8834400"/>
              </a:tabLst>
            </a:pPr>
            <a:endParaRPr b="0" lang="en-US" sz="14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28F1AF-FA64-4574-8B55-65E6DBDC8FD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069920" y="1211400"/>
            <a:ext cx="19247040" cy="2336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2599"/>
              </a:spcBef>
              <a:buNone/>
              <a:tabLst>
                <a:tab algn="l" pos="0"/>
                <a:tab algn="l" pos="2944800"/>
                <a:tab algn="l" pos="5889600"/>
                <a:tab algn="l" pos="8834400"/>
              </a:tabLst>
            </a:pPr>
            <a:endParaRPr b="0" lang="en-US" sz="10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721E3D-1405-439C-9D2D-565E4BE4063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069920" y="1211400"/>
            <a:ext cx="19247040" cy="5040000"/>
          </a:xfrm>
          <a:prstGeom prst="rect">
            <a:avLst/>
          </a:prstGeom>
          <a:noFill/>
          <a:ln w="0">
            <a:noFill/>
          </a:ln>
        </p:spPr>
        <p:txBody>
          <a:bodyPr lIns="294480" rIns="294480" tIns="147240" bIns="147240" anchor="ctr">
            <a:noAutofit/>
          </a:bodyPr>
          <a:p>
            <a:pPr algn="ctr">
              <a:buNone/>
              <a:tabLst>
                <a:tab algn="l" pos="0"/>
                <a:tab algn="l" pos="2944800"/>
                <a:tab algn="l" pos="5889600"/>
                <a:tab algn="l" pos="8834400"/>
              </a:tabLst>
            </a:pPr>
            <a:endParaRPr b="0" lang="en-US" sz="14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1069920" y="7056360"/>
            <a:ext cx="9392400" cy="9520560"/>
          </a:xfrm>
          <a:prstGeom prst="rect">
            <a:avLst/>
          </a:prstGeom>
          <a:noFill/>
          <a:ln w="0">
            <a:noFill/>
          </a:ln>
        </p:spPr>
        <p:txBody>
          <a:bodyPr lIns="294480" rIns="294480" tIns="147240" bIns="147240" anchor="t">
            <a:normAutofit/>
          </a:bodyPr>
          <a:p>
            <a:endParaRPr b="0" lang="en-US" sz="10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10932480" y="7056360"/>
            <a:ext cx="9392400" cy="19959840"/>
          </a:xfrm>
          <a:prstGeom prst="rect">
            <a:avLst/>
          </a:prstGeom>
          <a:noFill/>
          <a:ln w="0">
            <a:noFill/>
          </a:ln>
        </p:spPr>
        <p:txBody>
          <a:bodyPr lIns="294480" rIns="294480" tIns="147240" bIns="147240" anchor="t">
            <a:normAutofit/>
          </a:bodyPr>
          <a:p>
            <a:endParaRPr b="0" lang="en-US" sz="10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1069920" y="17481600"/>
            <a:ext cx="9392400" cy="9520560"/>
          </a:xfrm>
          <a:prstGeom prst="rect">
            <a:avLst/>
          </a:prstGeom>
          <a:noFill/>
          <a:ln w="0">
            <a:noFill/>
          </a:ln>
        </p:spPr>
        <p:txBody>
          <a:bodyPr lIns="294480" rIns="294480" tIns="147240" bIns="147240" anchor="t">
            <a:normAutofit/>
          </a:bodyPr>
          <a:p>
            <a:endParaRPr b="0" lang="en-US" sz="10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C3419A-274B-4985-885C-EF20ED6A512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069920" y="1211400"/>
            <a:ext cx="19247040" cy="5040000"/>
          </a:xfrm>
          <a:prstGeom prst="rect">
            <a:avLst/>
          </a:prstGeom>
          <a:noFill/>
          <a:ln w="0">
            <a:noFill/>
          </a:ln>
        </p:spPr>
        <p:txBody>
          <a:bodyPr lIns="294480" rIns="294480" tIns="147240" bIns="147240" anchor="ctr">
            <a:noAutofit/>
          </a:bodyPr>
          <a:p>
            <a:pPr algn="ctr">
              <a:buNone/>
              <a:tabLst>
                <a:tab algn="l" pos="0"/>
                <a:tab algn="l" pos="2944800"/>
                <a:tab algn="l" pos="5889600"/>
                <a:tab algn="l" pos="8834400"/>
              </a:tabLst>
            </a:pPr>
            <a:endParaRPr b="0" lang="en-US" sz="14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069920" y="7056360"/>
            <a:ext cx="9392400" cy="19959840"/>
          </a:xfrm>
          <a:prstGeom prst="rect">
            <a:avLst/>
          </a:prstGeom>
          <a:noFill/>
          <a:ln w="0">
            <a:noFill/>
          </a:ln>
        </p:spPr>
        <p:txBody>
          <a:bodyPr lIns="294480" rIns="294480" tIns="147240" bIns="147240" anchor="t">
            <a:normAutofit/>
          </a:bodyPr>
          <a:p>
            <a:endParaRPr b="0" lang="en-US" sz="10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10932480" y="7056360"/>
            <a:ext cx="9392400" cy="9520560"/>
          </a:xfrm>
          <a:prstGeom prst="rect">
            <a:avLst/>
          </a:prstGeom>
          <a:noFill/>
          <a:ln w="0">
            <a:noFill/>
          </a:ln>
        </p:spPr>
        <p:txBody>
          <a:bodyPr lIns="294480" rIns="294480" tIns="147240" bIns="147240" anchor="t">
            <a:normAutofit/>
          </a:bodyPr>
          <a:p>
            <a:endParaRPr b="0" lang="en-US" sz="10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10932480" y="17481600"/>
            <a:ext cx="9392400" cy="9520560"/>
          </a:xfrm>
          <a:prstGeom prst="rect">
            <a:avLst/>
          </a:prstGeom>
          <a:noFill/>
          <a:ln w="0">
            <a:noFill/>
          </a:ln>
        </p:spPr>
        <p:txBody>
          <a:bodyPr lIns="294480" rIns="294480" tIns="147240" bIns="147240" anchor="t">
            <a:normAutofit/>
          </a:bodyPr>
          <a:p>
            <a:endParaRPr b="0" lang="en-US" sz="10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BEBD36-26D3-4321-BAAC-1B07F4B8042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069920" y="1211400"/>
            <a:ext cx="19247040" cy="5040000"/>
          </a:xfrm>
          <a:prstGeom prst="rect">
            <a:avLst/>
          </a:prstGeom>
          <a:noFill/>
          <a:ln w="0">
            <a:noFill/>
          </a:ln>
        </p:spPr>
        <p:txBody>
          <a:bodyPr lIns="294480" rIns="294480" tIns="147240" bIns="147240" anchor="ctr">
            <a:noAutofit/>
          </a:bodyPr>
          <a:p>
            <a:pPr algn="ctr">
              <a:buNone/>
              <a:tabLst>
                <a:tab algn="l" pos="0"/>
                <a:tab algn="l" pos="2944800"/>
                <a:tab algn="l" pos="5889600"/>
                <a:tab algn="l" pos="8834400"/>
              </a:tabLst>
            </a:pPr>
            <a:endParaRPr b="0" lang="en-US" sz="14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1069920" y="7056360"/>
            <a:ext cx="9392400" cy="9520560"/>
          </a:xfrm>
          <a:prstGeom prst="rect">
            <a:avLst/>
          </a:prstGeom>
          <a:noFill/>
          <a:ln w="0">
            <a:noFill/>
          </a:ln>
        </p:spPr>
        <p:txBody>
          <a:bodyPr lIns="294480" rIns="294480" tIns="147240" bIns="147240" anchor="t">
            <a:normAutofit/>
          </a:bodyPr>
          <a:p>
            <a:endParaRPr b="0" lang="en-US" sz="10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10932480" y="7056360"/>
            <a:ext cx="9392400" cy="9520560"/>
          </a:xfrm>
          <a:prstGeom prst="rect">
            <a:avLst/>
          </a:prstGeom>
          <a:noFill/>
          <a:ln w="0">
            <a:noFill/>
          </a:ln>
        </p:spPr>
        <p:txBody>
          <a:bodyPr lIns="294480" rIns="294480" tIns="147240" bIns="147240" anchor="t">
            <a:normAutofit/>
          </a:bodyPr>
          <a:p>
            <a:endParaRPr b="0" lang="en-US" sz="10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1069920" y="17481600"/>
            <a:ext cx="19247040" cy="9520560"/>
          </a:xfrm>
          <a:prstGeom prst="rect">
            <a:avLst/>
          </a:prstGeom>
          <a:noFill/>
          <a:ln w="0">
            <a:noFill/>
          </a:ln>
        </p:spPr>
        <p:txBody>
          <a:bodyPr lIns="294480" rIns="294480" tIns="147240" bIns="147240" anchor="t">
            <a:normAutofit/>
          </a:bodyPr>
          <a:p>
            <a:endParaRPr b="0" lang="en-US" sz="10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3FB8B8-6DA8-4393-B387-55D5935D56A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069920" y="1211400"/>
            <a:ext cx="19247040" cy="5040000"/>
          </a:xfrm>
          <a:prstGeom prst="rect">
            <a:avLst/>
          </a:prstGeom>
          <a:noFill/>
          <a:ln w="0">
            <a:noFill/>
          </a:ln>
        </p:spPr>
        <p:txBody>
          <a:bodyPr lIns="294480" rIns="294480" tIns="147240" bIns="147240" anchor="ctr">
            <a:noAutofit/>
          </a:bodyPr>
          <a:p>
            <a:pPr algn="ctr">
              <a:buNone/>
              <a:tabLst>
                <a:tab algn="l" pos="0"/>
                <a:tab algn="l" pos="2944800"/>
                <a:tab algn="l" pos="5889600"/>
                <a:tab algn="l" pos="8834400"/>
              </a:tabLst>
            </a:pPr>
            <a:endParaRPr b="0" lang="en-US" sz="14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1069920" y="7056360"/>
            <a:ext cx="19247040" cy="9520560"/>
          </a:xfrm>
          <a:prstGeom prst="rect">
            <a:avLst/>
          </a:prstGeom>
          <a:noFill/>
          <a:ln w="0">
            <a:noFill/>
          </a:ln>
        </p:spPr>
        <p:txBody>
          <a:bodyPr lIns="294480" rIns="294480" tIns="147240" bIns="147240" anchor="t">
            <a:normAutofit/>
          </a:bodyPr>
          <a:p>
            <a:endParaRPr b="0" lang="en-US" sz="10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1069920" y="17481600"/>
            <a:ext cx="19247040" cy="9520560"/>
          </a:xfrm>
          <a:prstGeom prst="rect">
            <a:avLst/>
          </a:prstGeom>
          <a:noFill/>
          <a:ln w="0">
            <a:noFill/>
          </a:ln>
        </p:spPr>
        <p:txBody>
          <a:bodyPr lIns="294480" rIns="294480" tIns="147240" bIns="147240" anchor="t">
            <a:normAutofit/>
          </a:bodyPr>
          <a:p>
            <a:endParaRPr b="0" lang="en-US" sz="10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75CB98-8DA5-4E1A-A640-5BAB4F7E45A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069920" y="1211400"/>
            <a:ext cx="19247040" cy="5040000"/>
          </a:xfrm>
          <a:prstGeom prst="rect">
            <a:avLst/>
          </a:prstGeom>
          <a:noFill/>
          <a:ln w="0">
            <a:noFill/>
          </a:ln>
        </p:spPr>
        <p:txBody>
          <a:bodyPr lIns="294480" rIns="294480" tIns="147240" bIns="147240" anchor="ctr">
            <a:noAutofit/>
          </a:bodyPr>
          <a:p>
            <a:pPr algn="ctr">
              <a:buNone/>
              <a:tabLst>
                <a:tab algn="l" pos="0"/>
                <a:tab algn="l" pos="2944800"/>
                <a:tab algn="l" pos="5889600"/>
                <a:tab algn="l" pos="8834400"/>
              </a:tabLst>
            </a:pPr>
            <a:endParaRPr b="0" lang="en-US" sz="14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1069920" y="7056360"/>
            <a:ext cx="9392400" cy="9520560"/>
          </a:xfrm>
          <a:prstGeom prst="rect">
            <a:avLst/>
          </a:prstGeom>
          <a:noFill/>
          <a:ln w="0">
            <a:noFill/>
          </a:ln>
        </p:spPr>
        <p:txBody>
          <a:bodyPr lIns="294480" rIns="294480" tIns="147240" bIns="147240" anchor="t">
            <a:normAutofit/>
          </a:bodyPr>
          <a:p>
            <a:endParaRPr b="0" lang="en-US" sz="10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10932480" y="7056360"/>
            <a:ext cx="9392400" cy="9520560"/>
          </a:xfrm>
          <a:prstGeom prst="rect">
            <a:avLst/>
          </a:prstGeom>
          <a:noFill/>
          <a:ln w="0">
            <a:noFill/>
          </a:ln>
        </p:spPr>
        <p:txBody>
          <a:bodyPr lIns="294480" rIns="294480" tIns="147240" bIns="147240" anchor="t">
            <a:normAutofit/>
          </a:bodyPr>
          <a:p>
            <a:endParaRPr b="0" lang="en-US" sz="10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1069920" y="17481600"/>
            <a:ext cx="9392400" cy="9520560"/>
          </a:xfrm>
          <a:prstGeom prst="rect">
            <a:avLst/>
          </a:prstGeom>
          <a:noFill/>
          <a:ln w="0">
            <a:noFill/>
          </a:ln>
        </p:spPr>
        <p:txBody>
          <a:bodyPr lIns="294480" rIns="294480" tIns="147240" bIns="147240" anchor="t">
            <a:normAutofit/>
          </a:bodyPr>
          <a:p>
            <a:endParaRPr b="0" lang="en-US" sz="10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10932480" y="17481600"/>
            <a:ext cx="9392400" cy="9520560"/>
          </a:xfrm>
          <a:prstGeom prst="rect">
            <a:avLst/>
          </a:prstGeom>
          <a:noFill/>
          <a:ln w="0">
            <a:noFill/>
          </a:ln>
        </p:spPr>
        <p:txBody>
          <a:bodyPr lIns="294480" rIns="294480" tIns="147240" bIns="147240" anchor="t">
            <a:normAutofit/>
          </a:bodyPr>
          <a:p>
            <a:endParaRPr b="0" lang="en-US" sz="10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D6700F-85AC-4887-8327-A06AD508909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069920" y="1211400"/>
            <a:ext cx="19247040" cy="5040000"/>
          </a:xfrm>
          <a:prstGeom prst="rect">
            <a:avLst/>
          </a:prstGeom>
          <a:noFill/>
          <a:ln w="0">
            <a:noFill/>
          </a:ln>
        </p:spPr>
        <p:txBody>
          <a:bodyPr lIns="294480" rIns="294480" tIns="147240" bIns="147240" anchor="ctr">
            <a:noAutofit/>
          </a:bodyPr>
          <a:p>
            <a:pPr algn="ctr">
              <a:buNone/>
              <a:tabLst>
                <a:tab algn="l" pos="0"/>
                <a:tab algn="l" pos="2944800"/>
                <a:tab algn="l" pos="5889600"/>
                <a:tab algn="l" pos="8834400"/>
              </a:tabLst>
            </a:pPr>
            <a:endParaRPr b="0" lang="en-US" sz="14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1069920" y="7056360"/>
            <a:ext cx="6197400" cy="9520560"/>
          </a:xfrm>
          <a:prstGeom prst="rect">
            <a:avLst/>
          </a:prstGeom>
          <a:noFill/>
          <a:ln w="0">
            <a:noFill/>
          </a:ln>
        </p:spPr>
        <p:txBody>
          <a:bodyPr lIns="294480" rIns="294480" tIns="147240" bIns="147240" anchor="t">
            <a:normAutofit/>
          </a:bodyPr>
          <a:p>
            <a:endParaRPr b="0" lang="en-US" sz="10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7577640" y="7056360"/>
            <a:ext cx="6197400" cy="9520560"/>
          </a:xfrm>
          <a:prstGeom prst="rect">
            <a:avLst/>
          </a:prstGeom>
          <a:noFill/>
          <a:ln w="0">
            <a:noFill/>
          </a:ln>
        </p:spPr>
        <p:txBody>
          <a:bodyPr lIns="294480" rIns="294480" tIns="147240" bIns="147240" anchor="t">
            <a:normAutofit/>
          </a:bodyPr>
          <a:p>
            <a:endParaRPr b="0" lang="en-US" sz="10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14085360" y="7056360"/>
            <a:ext cx="6197400" cy="9520560"/>
          </a:xfrm>
          <a:prstGeom prst="rect">
            <a:avLst/>
          </a:prstGeom>
          <a:noFill/>
          <a:ln w="0">
            <a:noFill/>
          </a:ln>
        </p:spPr>
        <p:txBody>
          <a:bodyPr lIns="294480" rIns="294480" tIns="147240" bIns="147240" anchor="t">
            <a:normAutofit/>
          </a:bodyPr>
          <a:p>
            <a:endParaRPr b="0" lang="en-US" sz="10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1069920" y="17481600"/>
            <a:ext cx="6197400" cy="9520560"/>
          </a:xfrm>
          <a:prstGeom prst="rect">
            <a:avLst/>
          </a:prstGeom>
          <a:noFill/>
          <a:ln w="0">
            <a:noFill/>
          </a:ln>
        </p:spPr>
        <p:txBody>
          <a:bodyPr lIns="294480" rIns="294480" tIns="147240" bIns="147240" anchor="t">
            <a:normAutofit/>
          </a:bodyPr>
          <a:p>
            <a:endParaRPr b="0" lang="en-US" sz="10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7577640" y="17481600"/>
            <a:ext cx="6197400" cy="9520560"/>
          </a:xfrm>
          <a:prstGeom prst="rect">
            <a:avLst/>
          </a:prstGeom>
          <a:noFill/>
          <a:ln w="0">
            <a:noFill/>
          </a:ln>
        </p:spPr>
        <p:txBody>
          <a:bodyPr lIns="294480" rIns="294480" tIns="147240" bIns="147240" anchor="t">
            <a:normAutofit/>
          </a:bodyPr>
          <a:p>
            <a:endParaRPr b="0" lang="en-US" sz="10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14085360" y="17481600"/>
            <a:ext cx="6197400" cy="9520560"/>
          </a:xfrm>
          <a:prstGeom prst="rect">
            <a:avLst/>
          </a:prstGeom>
          <a:noFill/>
          <a:ln w="0">
            <a:noFill/>
          </a:ln>
        </p:spPr>
        <p:txBody>
          <a:bodyPr lIns="294480" rIns="294480" tIns="147240" bIns="147240" anchor="t">
            <a:normAutofit/>
          </a:bodyPr>
          <a:p>
            <a:endParaRPr b="0" lang="en-US" sz="10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FF21F6-B7B7-49A8-9221-0C5C9D8DB55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069920" y="1211400"/>
            <a:ext cx="19247040" cy="5040000"/>
          </a:xfrm>
          <a:prstGeom prst="rect">
            <a:avLst/>
          </a:prstGeom>
          <a:noFill/>
          <a:ln w="0">
            <a:noFill/>
          </a:ln>
        </p:spPr>
        <p:txBody>
          <a:bodyPr lIns="294480" rIns="294480" tIns="147240" bIns="147240" anchor="ctr">
            <a:noAutofit/>
          </a:bodyPr>
          <a:p>
            <a:pPr algn="ctr">
              <a:buNone/>
              <a:tabLst>
                <a:tab algn="l" pos="0"/>
                <a:tab algn="l" pos="2944800"/>
                <a:tab algn="l" pos="5889600"/>
                <a:tab algn="l" pos="8834400"/>
              </a:tabLst>
            </a:pPr>
            <a:r>
              <a:rPr b="0" lang="en-US" sz="142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4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1069920" y="7056360"/>
            <a:ext cx="19247040" cy="19959840"/>
          </a:xfrm>
          <a:prstGeom prst="rect">
            <a:avLst/>
          </a:prstGeom>
          <a:noFill/>
          <a:ln w="0">
            <a:noFill/>
          </a:ln>
        </p:spPr>
        <p:txBody>
          <a:bodyPr lIns="294480" rIns="294480" tIns="147240" bIns="147240" anchor="t">
            <a:normAutofit/>
          </a:bodyPr>
          <a:p>
            <a:pPr marL="1103400" indent="-1103400">
              <a:spcBef>
                <a:spcPts val="2599"/>
              </a:spcBef>
              <a:buClr>
                <a:srgbClr val="000000"/>
              </a:buClr>
              <a:buFont typeface="Arial"/>
              <a:buChar char="•"/>
              <a:tabLst>
                <a:tab algn="l" pos="2944800"/>
                <a:tab algn="l" pos="5889600"/>
                <a:tab algn="l" pos="8834400"/>
              </a:tabLst>
            </a:pPr>
            <a:r>
              <a:rPr b="0" lang="en-US" sz="104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10400" spc="-1" strike="noStrike">
              <a:solidFill>
                <a:srgbClr val="000000"/>
              </a:solidFill>
              <a:latin typeface="Calibri"/>
            </a:endParaRPr>
          </a:p>
          <a:p>
            <a:pPr lvl="1" marL="2392200" indent="-919080">
              <a:spcBef>
                <a:spcPts val="2599"/>
              </a:spcBef>
              <a:buClr>
                <a:srgbClr val="000000"/>
              </a:buClr>
              <a:buFont typeface="Arial"/>
              <a:buChar char="–"/>
              <a:tabLst>
                <a:tab algn="l" pos="2944800"/>
                <a:tab algn="l" pos="5889600"/>
                <a:tab algn="l" pos="8834400"/>
              </a:tabLst>
            </a:pPr>
            <a:r>
              <a:rPr b="0" lang="en-US" sz="10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10400" spc="-1" strike="noStrike">
              <a:solidFill>
                <a:srgbClr val="000000"/>
              </a:solidFill>
              <a:latin typeface="Calibri"/>
            </a:endParaRPr>
          </a:p>
          <a:p>
            <a:pPr lvl="2" marL="3679920" indent="-735120">
              <a:spcBef>
                <a:spcPts val="2599"/>
              </a:spcBef>
              <a:buClr>
                <a:srgbClr val="000000"/>
              </a:buClr>
              <a:buFont typeface="Arial"/>
              <a:buChar char="•"/>
              <a:tabLst>
                <a:tab algn="l" pos="2944800"/>
                <a:tab algn="l" pos="5889600"/>
                <a:tab algn="l" pos="8834400"/>
              </a:tabLst>
            </a:pPr>
            <a:r>
              <a:rPr b="0" lang="en-US" sz="104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0400" spc="-1" strike="noStrike">
              <a:solidFill>
                <a:srgbClr val="000000"/>
              </a:solidFill>
              <a:latin typeface="Calibri"/>
            </a:endParaRPr>
          </a:p>
          <a:p>
            <a:pPr lvl="3" marL="5153040" indent="-735120">
              <a:spcBef>
                <a:spcPts val="2599"/>
              </a:spcBef>
              <a:buClr>
                <a:srgbClr val="000000"/>
              </a:buClr>
              <a:buFont typeface="Arial"/>
              <a:buChar char="–"/>
              <a:tabLst>
                <a:tab algn="l" pos="2944800"/>
                <a:tab algn="l" pos="5889600"/>
                <a:tab algn="l" pos="8834400"/>
              </a:tabLst>
            </a:pPr>
            <a:r>
              <a:rPr b="0" lang="en-US" sz="104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0400" spc="-1" strike="noStrike">
              <a:solidFill>
                <a:srgbClr val="000000"/>
              </a:solidFill>
              <a:latin typeface="Calibri"/>
            </a:endParaRPr>
          </a:p>
          <a:p>
            <a:pPr lvl="4" marL="6626160" indent="-735120">
              <a:spcBef>
                <a:spcPts val="2599"/>
              </a:spcBef>
              <a:buClr>
                <a:srgbClr val="000000"/>
              </a:buClr>
              <a:buFont typeface="Arial"/>
              <a:buChar char="»"/>
              <a:tabLst>
                <a:tab algn="l" pos="2944800"/>
                <a:tab algn="l" pos="5889600"/>
                <a:tab algn="l" pos="8834400"/>
              </a:tabLst>
            </a:pPr>
            <a:r>
              <a:rPr b="0" lang="en-US" sz="104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10400" spc="-1" strike="noStrike">
              <a:solidFill>
                <a:srgbClr val="000000"/>
              </a:solidFill>
              <a:latin typeface="Calibri"/>
            </a:endParaRPr>
          </a:p>
          <a:p>
            <a:pPr lvl="5" marL="6626160" indent="-735120">
              <a:spcBef>
                <a:spcPts val="2599"/>
              </a:spcBef>
              <a:buClr>
                <a:srgbClr val="000000"/>
              </a:buClr>
              <a:buFont typeface="Arial"/>
              <a:buChar char="»"/>
              <a:tabLst>
                <a:tab algn="l" pos="2944800"/>
                <a:tab algn="l" pos="5889600"/>
                <a:tab algn="l" pos="8834400"/>
              </a:tabLst>
            </a:pPr>
            <a:r>
              <a:rPr b="0" lang="en-US" sz="104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10400" spc="-1" strike="noStrike">
              <a:solidFill>
                <a:srgbClr val="000000"/>
              </a:solidFill>
              <a:latin typeface="Calibri"/>
            </a:endParaRPr>
          </a:p>
          <a:p>
            <a:pPr lvl="6" marL="6626160" indent="-735120">
              <a:spcBef>
                <a:spcPts val="2599"/>
              </a:spcBef>
              <a:buClr>
                <a:srgbClr val="000000"/>
              </a:buClr>
              <a:buFont typeface="Arial"/>
              <a:buChar char="»"/>
              <a:tabLst>
                <a:tab algn="l" pos="2944800"/>
                <a:tab algn="l" pos="5889600"/>
                <a:tab algn="l" pos="8834400"/>
              </a:tabLst>
            </a:pPr>
            <a:r>
              <a:rPr b="0" lang="en-US" sz="104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10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1069920" y="28030320"/>
            <a:ext cx="4989600" cy="1611360"/>
          </a:xfrm>
          <a:prstGeom prst="rect">
            <a:avLst/>
          </a:prstGeom>
          <a:noFill/>
          <a:ln w="0">
            <a:noFill/>
          </a:ln>
        </p:spPr>
        <p:txBody>
          <a:bodyPr lIns="294480" rIns="294480" tIns="147240" bIns="147240" anchor="ctr">
            <a:noAutofit/>
          </a:bodyPr>
          <a:lstStyle>
            <a:lvl1pPr>
              <a:tabLst>
                <a:tab algn="l" pos="0"/>
                <a:tab algn="l" pos="2948040"/>
                <a:tab algn="l" pos="5896080"/>
                <a:tab algn="l" pos="8844120"/>
              </a:tabLst>
              <a:defRPr b="0" lang="en-US" sz="3800" spc="-1" strike="noStrike">
                <a:solidFill>
                  <a:srgbClr val="898989"/>
                </a:solidFill>
                <a:latin typeface="Calibri"/>
              </a:defRPr>
            </a:lvl1pPr>
          </a:lstStyle>
          <a:p>
            <a:pPr>
              <a:tabLst>
                <a:tab algn="l" pos="0"/>
                <a:tab algn="l" pos="2948040"/>
                <a:tab algn="l" pos="5896080"/>
                <a:tab algn="l" pos="8844120"/>
              </a:tabLst>
            </a:pPr>
            <a:r>
              <a:rPr b="0" lang="en-US" sz="3800" spc="-1" strike="noStrike">
                <a:solidFill>
                  <a:srgbClr val="898989"/>
                </a:solidFill>
                <a:latin typeface="Calibri"/>
              </a:rPr>
              <a:t>&lt;date/time&gt;</a:t>
            </a:r>
            <a:endParaRPr b="0" lang="en-US" sz="3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7307280" y="28030320"/>
            <a:ext cx="6772320" cy="1611360"/>
          </a:xfrm>
          <a:prstGeom prst="rect">
            <a:avLst/>
          </a:prstGeom>
          <a:noFill/>
          <a:ln w="0">
            <a:noFill/>
          </a:ln>
        </p:spPr>
        <p:txBody>
          <a:bodyPr lIns="294480" rIns="294480" tIns="147240" bIns="147240" anchor="ctr">
            <a:noAutofit/>
          </a:bodyPr>
          <a:lstStyle>
            <a:lvl1pPr>
              <a:tabLst>
                <a:tab algn="l" pos="0"/>
                <a:tab algn="l" pos="2948040"/>
                <a:tab algn="l" pos="5896080"/>
                <a:tab algn="l" pos="8844120"/>
              </a:tabLst>
              <a:defRPr b="0" lang="en-US" sz="3800" spc="-1" strike="noStrike">
                <a:solidFill>
                  <a:srgbClr val="898989"/>
                </a:solidFill>
                <a:latin typeface="Calibri"/>
              </a:defRPr>
            </a:lvl1pPr>
          </a:lstStyle>
          <a:p>
            <a:pPr>
              <a:tabLst>
                <a:tab algn="l" pos="0"/>
                <a:tab algn="l" pos="2948040"/>
                <a:tab algn="l" pos="5896080"/>
                <a:tab algn="l" pos="8844120"/>
              </a:tabLst>
            </a:pPr>
            <a:endParaRPr b="0" lang="en-US" sz="3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15327360" y="28030320"/>
            <a:ext cx="4989600" cy="1611360"/>
          </a:xfrm>
          <a:prstGeom prst="rect">
            <a:avLst/>
          </a:prstGeom>
          <a:noFill/>
          <a:ln w="0">
            <a:noFill/>
          </a:ln>
        </p:spPr>
        <p:txBody>
          <a:bodyPr lIns="294480" rIns="294480" tIns="147240" bIns="147240" anchor="ctr">
            <a:noAutofit/>
          </a:bodyPr>
          <a:lstStyle>
            <a:lvl1pPr algn="r">
              <a:tabLst>
                <a:tab algn="l" pos="0"/>
                <a:tab algn="l" pos="2948040"/>
                <a:tab algn="l" pos="5896080"/>
                <a:tab algn="l" pos="8844120"/>
              </a:tabLst>
              <a:defRPr b="0" lang="en-US" sz="3800" spc="-1" strike="noStrike">
                <a:solidFill>
                  <a:srgbClr val="898989"/>
                </a:solidFill>
                <a:latin typeface="Calibri"/>
              </a:defRPr>
            </a:lvl1pPr>
          </a:lstStyle>
          <a:p>
            <a:pPr algn="r">
              <a:tabLst>
                <a:tab algn="l" pos="0"/>
                <a:tab algn="l" pos="2948040"/>
                <a:tab algn="l" pos="5896080"/>
                <a:tab algn="l" pos="8844120"/>
              </a:tabLst>
            </a:pPr>
            <a:fld id="{FC63133D-180B-4B62-B01F-0245CE10A3AE}" type="slidenum">
              <a:rPr b="0" lang="en-US" sz="3800" spc="-1" strike="noStrike">
                <a:solidFill>
                  <a:srgbClr val="898989"/>
                </a:solidFill>
                <a:latin typeface="Calibri"/>
              </a:rPr>
              <a:t>&lt;number&gt;</a:t>
            </a:fld>
            <a:endParaRPr b="0" lang="en-US" sz="3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6"/>
          <p:cNvSpPr/>
          <p:nvPr/>
        </p:nvSpPr>
        <p:spPr>
          <a:xfrm>
            <a:off x="0" y="0"/>
            <a:ext cx="21388388" cy="4983480"/>
          </a:xfrm>
          <a:prstGeom prst="rect">
            <a:avLst/>
          </a:prstGeom>
          <a:solidFill>
            <a:srgbClr val="1f497d"/>
          </a:solidFill>
          <a:ln w="25560">
            <a:solidFill>
              <a:srgbClr val="357d9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Rectangle 9"/>
          <p:cNvSpPr/>
          <p:nvPr/>
        </p:nvSpPr>
        <p:spPr>
          <a:xfrm>
            <a:off x="326880" y="5257800"/>
            <a:ext cx="9909360" cy="24643080"/>
          </a:xfrm>
          <a:prstGeom prst="rect">
            <a:avLst/>
          </a:prstGeom>
          <a:gradFill rotWithShape="0">
            <a:gsLst>
              <a:gs pos="0">
                <a:srgbClr val="bcbcbc"/>
              </a:gs>
              <a:gs pos="100000">
                <a:srgbClr val="ededed"/>
              </a:gs>
            </a:gsLst>
            <a:lin ang="16200000"/>
          </a:gradFill>
          <a:ln w="9360">
            <a:solidFill>
              <a:srgbClr val="000000"/>
            </a:solidFill>
            <a:miter/>
          </a:ln>
          <a:effectLst>
            <a:outerShdw dist="20160" dir="5400000" blurRad="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0" name="Rectangle 17"/>
          <p:cNvSpPr/>
          <p:nvPr/>
        </p:nvSpPr>
        <p:spPr>
          <a:xfrm>
            <a:off x="10793520" y="5257800"/>
            <a:ext cx="10118520" cy="24643080"/>
          </a:xfrm>
          <a:prstGeom prst="rect">
            <a:avLst/>
          </a:prstGeom>
          <a:gradFill rotWithShape="0">
            <a:gsLst>
              <a:gs pos="0">
                <a:srgbClr val="bcbcbc"/>
              </a:gs>
              <a:gs pos="100000">
                <a:srgbClr val="ededed"/>
              </a:gs>
            </a:gsLst>
            <a:lin ang="16200000"/>
          </a:gradFill>
          <a:ln w="9360">
            <a:solidFill>
              <a:srgbClr val="000000"/>
            </a:solidFill>
            <a:miter/>
          </a:ln>
          <a:effectLst>
            <a:outerShdw dist="20160" dir="5400000" blurRad="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1" name="Straight Connector 20"/>
          <p:cNvSpPr/>
          <p:nvPr/>
        </p:nvSpPr>
        <p:spPr>
          <a:xfrm>
            <a:off x="0" y="5029200"/>
            <a:ext cx="21386880" cy="0"/>
          </a:xfrm>
          <a:prstGeom prst="line">
            <a:avLst/>
          </a:prstGeom>
          <a:ln w="162000">
            <a:solidFill>
              <a:srgbClr val="1f497d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TextBox 21"/>
          <p:cNvSpPr/>
          <p:nvPr/>
        </p:nvSpPr>
        <p:spPr>
          <a:xfrm>
            <a:off x="2651760" y="1353312"/>
            <a:ext cx="16093440" cy="2542032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400" rIns="25400" tIns="25400" bIns="25400" anchor="ctr" wrap="square">
            <a:spAutoFit/>
          </a:bodyPr>
          <a:p>
            <a:pPr algn="ctr">
              <a:lnSpc>
                <a:spcPts val="6398"/>
              </a:lnSpc>
              <a:spcBef>
                <a:spcPts val="200"/>
              </a:spcBef>
              <a:spcAft>
                <a:spcPts val="200"/>
              </a:spcAft>
              <a:tabLst>
                <a:tab algn="l" pos="0"/>
                <a:tab algn="l" pos="2948040"/>
                <a:tab algn="l" pos="5896080"/>
                <a:tab algn="l" pos="8844120"/>
              </a:tabLst>
            </a:pPr>
            <a:r>
              <a:rPr sz="5200" b="0" i="0">
                <a:solidFill>
                  <a:srgbClr val="FFFFFF"/>
                </a:solidFill>
                <a:latin typeface="Calibri"/>
              </a:rPr>
              <a:t>When Does Federated BatchNorm Help under Differential Privacy?</a:t>
            </a:r>
            <a:endParaRPr b="0" lang="en-US" sz="69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3400" b="0" i="1">
                <a:solidFill>
                  <a:srgbClr val="FFFFFF"/>
                </a:solidFill>
                <a:latin typeface="Calibri"/>
              </a:rPr>
              <a:t>An Eval-Regime Characterization of DP-FedBN on Medical ECG Classification</a:t>
            </a:r>
          </a:p>
        </p:txBody>
      </p:sp>
      <p:sp>
        <p:nvSpPr>
          <p:cNvPr id="53" name="TextBox 22"/>
          <p:cNvSpPr/>
          <p:nvPr/>
        </p:nvSpPr>
        <p:spPr>
          <a:xfrm>
            <a:off x="2651760" y="4069080"/>
            <a:ext cx="16093440" cy="713232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400" rIns="25400" tIns="25400" bIns="25400" anchor="ctr" wrap="square">
            <a:spAutoFit/>
          </a:bodyPr>
          <a:p>
            <a:pPr algn="ctr">
              <a:spcBef>
                <a:spcPts val="200"/>
              </a:spcBef>
              <a:spcAft>
                <a:spcPts val="200"/>
              </a:spcAft>
              <a:tabLst>
                <a:tab algn="l" pos="0"/>
                <a:tab algn="l" pos="2948040"/>
                <a:tab algn="l" pos="5896080"/>
                <a:tab algn="l" pos="8844120"/>
              </a:tabLst>
            </a:pPr>
            <a:r>
              <a:rPr sz="3000" b="0" i="0">
                <a:solidFill>
                  <a:srgbClr val="FFFFFF"/>
                </a:solidFill>
                <a:latin typeface="Calibri"/>
              </a:rPr>
              <a:t>Efe Deniz Bağlar      ·      Advisor: Prof. Dr. Hasan Bulut      ·      İzmir 2026</a:t>
            </a:r>
            <a:endParaRPr b="0" lang="en-US" sz="3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TextBox 23"/>
          <p:cNvSpPr/>
          <p:nvPr/>
        </p:nvSpPr>
        <p:spPr>
          <a:xfrm>
            <a:off x="2651760" y="201168"/>
            <a:ext cx="16093440" cy="1078992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400" rIns="25400" tIns="25400" bIns="25400" anchor="ctr" wrap="square">
            <a:spAutoFit/>
          </a:bodyPr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tabLst>
                <a:tab algn="l" pos="0"/>
                <a:tab algn="l" pos="2948040"/>
                <a:tab algn="l" pos="5896080"/>
                <a:tab algn="l" pos="8844120"/>
              </a:tabLst>
            </a:pPr>
            <a:r>
              <a:rPr sz="4200" b="0" i="0">
                <a:solidFill>
                  <a:srgbClr val="FFFFFF"/>
                </a:solidFill>
                <a:latin typeface="Calibri"/>
              </a:rPr>
              <a:t>EGE ÜNİVERSİTESİ</a:t>
            </a:r>
            <a:endParaRPr b="0" lang="en-US" sz="54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800" b="0" i="0">
                <a:solidFill>
                  <a:srgbClr val="FFFFFF"/>
                </a:solidFill>
                <a:latin typeface="Calibri"/>
              </a:rPr>
              <a:t>Mühendislik Fakültesi · Bilgisayar Mühendisliği Bölümü</a:t>
            </a:r>
          </a:p>
        </p:txBody>
      </p:sp>
      <p:pic>
        <p:nvPicPr>
          <p:cNvPr id="58" name="Picture 7" descr=""/>
          <p:cNvPicPr/>
          <p:nvPr/>
        </p:nvPicPr>
        <p:blipFill>
          <a:blip r:embed="rId1"/>
          <a:stretch/>
        </p:blipFill>
        <p:spPr>
          <a:xfrm>
            <a:off x="502920" y="411480"/>
            <a:ext cx="2514600" cy="2514600"/>
          </a:xfrm>
          <a:prstGeom prst="rect">
            <a:avLst/>
          </a:prstGeom>
          <a:ln w="0">
            <a:noFill/>
          </a:ln>
        </p:spPr>
      </p:pic>
      <p:pic>
        <p:nvPicPr>
          <p:cNvPr id="59" name="Picture 10" descr=""/>
          <p:cNvPicPr/>
          <p:nvPr/>
        </p:nvPicPr>
        <p:blipFill>
          <a:blip r:embed="rId2"/>
          <a:stretch/>
        </p:blipFill>
        <p:spPr>
          <a:xfrm>
            <a:off x="19075320" y="502920"/>
            <a:ext cx="2286000" cy="2286000"/>
          </a:xfrm>
          <a:prstGeom prst="rect">
            <a:avLst/>
          </a:prstGeom>
          <a:ln w="0">
            <a:noFill/>
          </a:ln>
        </p:spPr>
      </p:pic>
      <p:sp>
        <p:nvSpPr>
          <p:cNvPr id="60" name="Rounded Rectangle 59"/>
          <p:cNvSpPr/>
          <p:nvPr/>
        </p:nvSpPr>
        <p:spPr>
          <a:xfrm>
            <a:off x="603504" y="5440680"/>
            <a:ext cx="9326880" cy="868680"/>
          </a:xfrm>
          <a:prstGeom prst="roundRect">
            <a:avLst>
              <a:gd name="adj" fmla="val 12000"/>
            </a:avLst>
          </a:prstGeom>
          <a:solidFill>
            <a:srgbClr val="1F497D"/>
          </a:solidFill>
          <a:ln w="19050">
            <a:solidFill>
              <a:srgbClr val="357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1.  Introduction — The BatchNorm–Privacy Tension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3504" y="6309360"/>
            <a:ext cx="9326880" cy="5715000"/>
          </a:xfrm>
          <a:prstGeom prst="rect">
            <a:avLst/>
          </a:prstGeom>
          <a:solidFill>
            <a:srgbClr val="FFFFFF"/>
          </a:solidFill>
          <a:ln w="15875">
            <a:solidFill>
              <a:srgbClr val="4A7E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46304" bIns="76200"/>
          <a:lstStyle/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sz="2400" b="0">
                <a:solidFill>
                  <a:srgbClr val="4A7EBB"/>
                </a:solidFill>
                <a:latin typeface="Calibri"/>
              </a:rPr>
              <a:t>•  </a:t>
            </a:r>
            <a:r>
              <a:rPr sz="2400" b="1">
                <a:solidFill>
                  <a:srgbClr val="1F497D"/>
                </a:solidFill>
                <a:latin typeface="Calibri"/>
              </a:rPr>
              <a:t>Federated learning (FL)</a:t>
            </a:r>
            <a:r>
              <a:rPr sz="2400" b="0">
                <a:solidFill>
                  <a:srgbClr val="101010"/>
                </a:solidFill>
                <a:latin typeface="Calibri"/>
              </a:rPr>
              <a:t> trains models across hospitals without sharing patient data; </a:t>
            </a:r>
            <a:r>
              <a:rPr sz="2400" b="1">
                <a:solidFill>
                  <a:srgbClr val="1F497D"/>
                </a:solidFill>
                <a:latin typeface="Calibri"/>
              </a:rPr>
              <a:t>differential privacy (DP-SGD)</a:t>
            </a:r>
            <a:r>
              <a:rPr sz="2400" b="0">
                <a:solidFill>
                  <a:srgbClr val="101010"/>
                </a:solidFill>
                <a:latin typeface="Calibri"/>
              </a:rPr>
              <a:t> adds a formal guarantee to the updates that are shared.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sz="2400" b="0">
                <a:solidFill>
                  <a:srgbClr val="4A7EBB"/>
                </a:solidFill>
                <a:latin typeface="Calibri"/>
              </a:rPr>
              <a:t>•  </a:t>
            </a:r>
            <a:r>
              <a:rPr sz="2400" b="1">
                <a:solidFill>
                  <a:srgbClr val="1F497D"/>
                </a:solidFill>
                <a:latin typeface="Calibri"/>
              </a:rPr>
              <a:t>FedBN</a:t>
            </a:r>
            <a:r>
              <a:rPr sz="2400" b="0">
                <a:solidFill>
                  <a:srgbClr val="101010"/>
                </a:solidFill>
                <a:latin typeface="Calibri"/>
              </a:rPr>
              <a:t> keeps each client's </a:t>
            </a:r>
            <a:r>
              <a:rPr sz="2400" b="1">
                <a:solidFill>
                  <a:srgbClr val="1F497D"/>
                </a:solidFill>
                <a:latin typeface="Calibri"/>
              </a:rPr>
              <a:t>BatchNorm (BN)</a:t>
            </a:r>
            <a:r>
              <a:rPr sz="2400" b="0">
                <a:solidFill>
                  <a:srgbClr val="101010"/>
                </a:solidFill>
                <a:latin typeface="Calibri"/>
              </a:rPr>
              <a:t> statistics local — a per-site domain adapter that is the key to non-IID medical data.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sz="2400" b="0">
                <a:solidFill>
                  <a:srgbClr val="4A7EBB"/>
                </a:solidFill>
                <a:latin typeface="Calibri"/>
              </a:rPr>
              <a:t>•  </a:t>
            </a:r>
            <a:r>
              <a:rPr sz="2400" b="0">
                <a:solidFill>
                  <a:srgbClr val="101010"/>
                </a:solidFill>
                <a:latin typeface="Calibri"/>
              </a:rPr>
              <a:t>But BN is </a:t>
            </a:r>
            <a:r>
              <a:rPr sz="2400" b="1">
                <a:solidFill>
                  <a:srgbClr val="1F497D"/>
                </a:solidFill>
                <a:latin typeface="Calibri"/>
              </a:rPr>
              <a:t>incompatible with DP-SGD</a:t>
            </a:r>
            <a:r>
              <a:rPr sz="2400" b="0">
                <a:solidFill>
                  <a:srgbClr val="101010"/>
                </a:solidFill>
                <a:latin typeface="Calibri"/>
              </a:rPr>
              <a:t>: per-sample gradients are ill-defined, and Opacus's ModuleValidator </a:t>
            </a:r>
            <a:r>
              <a:rPr sz="2400" b="1">
                <a:solidFill>
                  <a:srgbClr val="1F497D"/>
                </a:solidFill>
                <a:latin typeface="Calibri"/>
              </a:rPr>
              <a:t>refuses</a:t>
            </a:r>
            <a:r>
              <a:rPr sz="2400" b="0">
                <a:solidFill>
                  <a:srgbClr val="101010"/>
                </a:solidFill>
                <a:latin typeface="Calibri"/>
              </a:rPr>
              <a:t> any model containing BatchNorm.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sz="2400" b="0">
                <a:solidFill>
                  <a:srgbClr val="4A7EBB"/>
                </a:solidFill>
                <a:latin typeface="Calibri"/>
              </a:rPr>
              <a:t>•  </a:t>
            </a:r>
            <a:r>
              <a:rPr sz="2400" b="0">
                <a:solidFill>
                  <a:srgbClr val="101010"/>
                </a:solidFill>
                <a:latin typeface="Calibri"/>
              </a:rPr>
              <a:t>The standard fix — replace BN with </a:t>
            </a:r>
            <a:r>
              <a:rPr sz="2400" b="1">
                <a:solidFill>
                  <a:srgbClr val="1F497D"/>
                </a:solidFill>
                <a:latin typeface="Calibri"/>
              </a:rPr>
              <a:t>GroupNorm</a:t>
            </a:r>
            <a:r>
              <a:rPr sz="2400" b="0">
                <a:solidFill>
                  <a:srgbClr val="101010"/>
                </a:solidFill>
                <a:latin typeface="Calibri"/>
              </a:rPr>
              <a:t> — removes the very mechanism FedBN depends on.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sz="2400" b="0">
                <a:solidFill>
                  <a:srgbClr val="4A7EBB"/>
                </a:solidFill>
                <a:latin typeface="Calibri"/>
              </a:rPr>
              <a:t>•  </a:t>
            </a:r>
            <a:r>
              <a:rPr sz="2400" b="1">
                <a:solidFill>
                  <a:srgbClr val="1F497D"/>
                </a:solidFill>
                <a:latin typeface="Calibri"/>
              </a:rPr>
              <a:t>Question:</a:t>
            </a:r>
            <a:r>
              <a:rPr sz="2400" b="0">
                <a:solidFill>
                  <a:srgbClr val="101010"/>
                </a:solidFill>
                <a:latin typeface="Calibri"/>
              </a:rPr>
              <a:t> can we keep FedBN's personalization </a:t>
            </a:r>
            <a:r>
              <a:rPr sz="2400" b="1">
                <a:solidFill>
                  <a:srgbClr val="1F497D"/>
                </a:solidFill>
                <a:latin typeface="Calibri"/>
              </a:rPr>
              <a:t>and</a:t>
            </a:r>
            <a:r>
              <a:rPr sz="2400" b="0">
                <a:solidFill>
                  <a:srgbClr val="101010"/>
                </a:solidFill>
                <a:latin typeface="Calibri"/>
              </a:rPr>
              <a:t> satisfy record-level DP — and when does it actually help?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03504" y="12298680"/>
            <a:ext cx="9326880" cy="868680"/>
          </a:xfrm>
          <a:prstGeom prst="roundRect">
            <a:avLst>
              <a:gd name="adj" fmla="val 12000"/>
            </a:avLst>
          </a:prstGeom>
          <a:solidFill>
            <a:srgbClr val="1F497D"/>
          </a:solidFill>
          <a:ln w="19050">
            <a:solidFill>
              <a:srgbClr val="357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2.  Method — DP-FedBN (Dual-Optimizer)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3504" y="13167360"/>
            <a:ext cx="9326880" cy="7680960"/>
          </a:xfrm>
          <a:prstGeom prst="rect">
            <a:avLst/>
          </a:prstGeom>
          <a:solidFill>
            <a:srgbClr val="FFFFFF"/>
          </a:solidFill>
          <a:ln w="15875">
            <a:solidFill>
              <a:srgbClr val="4A7E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46304" bIns="76200"/>
          <a:lstStyle/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sz="2400" b="0">
                <a:solidFill>
                  <a:srgbClr val="4A7EBB"/>
                </a:solidFill>
                <a:latin typeface="Calibri"/>
              </a:rPr>
              <a:t>•  </a:t>
            </a:r>
            <a:r>
              <a:rPr sz="2400" b="1">
                <a:solidFill>
                  <a:srgbClr val="1F497D"/>
                </a:solidFill>
                <a:latin typeface="Calibri"/>
              </a:rPr>
              <a:t>Key idea:</a:t>
            </a:r>
            <a:r>
              <a:rPr sz="2400" b="0">
                <a:solidFill>
                  <a:srgbClr val="101010"/>
                </a:solidFill>
                <a:latin typeface="Calibri"/>
              </a:rPr>
              <a:t> BN parameters and running statistics never cross the federation boundary, so they need </a:t>
            </a:r>
            <a:r>
              <a:rPr sz="2400" b="1">
                <a:solidFill>
                  <a:srgbClr val="1F497D"/>
                </a:solidFill>
                <a:latin typeface="Calibri"/>
              </a:rPr>
              <a:t>no DP</a:t>
            </a:r>
            <a:r>
              <a:rPr sz="2400" b="0">
                <a:solidFill>
                  <a:srgbClr val="101010"/>
                </a:solidFill>
                <a:latin typeface="Calibri"/>
              </a:rPr>
              <a:t>. Apply DP-SGD only to the parameters that are actually shared.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sz="2400" b="0">
                <a:solidFill>
                  <a:srgbClr val="4A7EBB"/>
                </a:solidFill>
                <a:latin typeface="Calibri"/>
              </a:rPr>
              <a:t>•  </a:t>
            </a:r>
            <a:r>
              <a:rPr sz="2400" b="1">
                <a:solidFill>
                  <a:srgbClr val="1F497D"/>
                </a:solidFill>
                <a:latin typeface="Calibri"/>
              </a:rPr>
              <a:t>Per client, each round: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sz="2400" b="0">
                <a:solidFill>
                  <a:srgbClr val="1F497D"/>
                </a:solidFill>
                <a:latin typeface="Calibri"/>
              </a:rPr>
              <a:t>      –  </a:t>
            </a:r>
            <a:r>
              <a:rPr sz="2300" b="1">
                <a:solidFill>
                  <a:srgbClr val="1F497D"/>
                </a:solidFill>
                <a:latin typeface="Calibri"/>
              </a:rPr>
              <a:t>Freeze BN</a:t>
            </a:r>
            <a:r>
              <a:rPr sz="2300" b="0">
                <a:solidFill>
                  <a:srgbClr val="101010"/>
                </a:solidFill>
                <a:latin typeface="Calibri"/>
              </a:rPr>
              <a:t> → Opacus's ModuleValidator now accepts the model (freeze-then-unfreeze trick).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sz="2400" b="0">
                <a:solidFill>
                  <a:srgbClr val="1F497D"/>
                </a:solidFill>
                <a:latin typeface="Calibri"/>
              </a:rPr>
              <a:t>      –  </a:t>
            </a:r>
            <a:r>
              <a:rPr sz="2300" b="1">
                <a:solidFill>
                  <a:srgbClr val="1F497D"/>
                </a:solidFill>
                <a:latin typeface="Calibri"/>
              </a:rPr>
              <a:t>opt_A</a:t>
            </a:r>
            <a:r>
              <a:rPr sz="2300" b="0">
                <a:solidFill>
                  <a:srgbClr val="101010"/>
                </a:solidFill>
                <a:latin typeface="Calibri"/>
              </a:rPr>
              <a:t> (AdamW + Opacus PrivacyEngine): non-BN params → per-sample </a:t>
            </a:r>
            <a:r>
              <a:rPr sz="2300" b="1">
                <a:solidFill>
                  <a:srgbClr val="1F497D"/>
                </a:solidFill>
                <a:latin typeface="Calibri"/>
              </a:rPr>
              <a:t>clipped + Gaussian-noised</a:t>
            </a:r>
            <a:r>
              <a:rPr sz="2300" b="0">
                <a:solidFill>
                  <a:srgbClr val="101010"/>
                </a:solidFill>
                <a:latin typeface="Calibri"/>
              </a:rPr>
              <a:t> (DP-SGD).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sz="2400" b="0">
                <a:solidFill>
                  <a:srgbClr val="1F497D"/>
                </a:solidFill>
                <a:latin typeface="Calibri"/>
              </a:rPr>
              <a:t>      –  </a:t>
            </a:r>
            <a:r>
              <a:rPr sz="2300" b="1">
                <a:solidFill>
                  <a:srgbClr val="1F497D"/>
                </a:solidFill>
                <a:latin typeface="Calibri"/>
              </a:rPr>
              <a:t>opt_B</a:t>
            </a:r>
            <a:r>
              <a:rPr sz="2300" b="0">
                <a:solidFill>
                  <a:srgbClr val="101010"/>
                </a:solidFill>
                <a:latin typeface="Calibri"/>
              </a:rPr>
              <a:t> (plain AdamW): BN params → updated </a:t>
            </a:r>
            <a:r>
              <a:rPr sz="2300" b="1">
                <a:solidFill>
                  <a:srgbClr val="1F497D"/>
                </a:solidFill>
                <a:latin typeface="Calibri"/>
              </a:rPr>
              <a:t>locally, no DP</a:t>
            </a:r>
            <a:r>
              <a:rPr sz="2300" b="0">
                <a:solidFill>
                  <a:srgbClr val="101010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sz="2400" b="0">
                <a:solidFill>
                  <a:srgbClr val="1F497D"/>
                </a:solidFill>
                <a:latin typeface="Calibri"/>
              </a:rPr>
              <a:t>      –  </a:t>
            </a:r>
            <a:r>
              <a:rPr sz="2300" b="1">
                <a:solidFill>
                  <a:srgbClr val="1F497D"/>
                </a:solidFill>
                <a:latin typeface="Calibri"/>
              </a:rPr>
              <a:t>Server:</a:t>
            </a:r>
            <a:r>
              <a:rPr sz="2300" b="0">
                <a:solidFill>
                  <a:srgbClr val="101010"/>
                </a:solidFill>
                <a:latin typeface="Calibri"/>
              </a:rPr>
              <a:t> FedAvg-average non-BN params; BN stays local (FedBN rule).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sz="2400" b="0">
                <a:solidFill>
                  <a:srgbClr val="4A7EBB"/>
                </a:solidFill>
                <a:latin typeface="Calibri"/>
              </a:rPr>
              <a:t>•  </a:t>
            </a:r>
            <a:r>
              <a:rPr sz="2400" b="0">
                <a:solidFill>
                  <a:srgbClr val="101010"/>
                </a:solidFill>
                <a:latin typeface="Calibri"/>
              </a:rPr>
              <a:t>Gives </a:t>
            </a:r>
            <a:r>
              <a:rPr sz="2400" b="1">
                <a:solidFill>
                  <a:srgbClr val="1F497D"/>
                </a:solidFill>
                <a:latin typeface="Calibri"/>
              </a:rPr>
              <a:t>record-level (ε, δ)-DP</a:t>
            </a:r>
            <a:r>
              <a:rPr sz="2400" b="0">
                <a:solidFill>
                  <a:srgbClr val="101010"/>
                </a:solidFill>
                <a:latin typeface="Calibri"/>
              </a:rPr>
              <a:t> on everything that leaves the client while preserving FedBN's per-client BN.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sz="2400" b="0">
                <a:solidFill>
                  <a:srgbClr val="4A7EBB"/>
                </a:solidFill>
                <a:latin typeface="Calibri"/>
              </a:rPr>
              <a:t>•  </a:t>
            </a:r>
            <a:r>
              <a:rPr sz="2400" b="0">
                <a:solidFill>
                  <a:srgbClr val="101010"/>
                </a:solidFill>
                <a:latin typeface="Calibri"/>
              </a:rPr>
              <a:t>First </a:t>
            </a:r>
            <a:r>
              <a:rPr sz="2400" b="1">
                <a:solidFill>
                  <a:srgbClr val="1F497D"/>
                </a:solidFill>
                <a:latin typeface="Calibri"/>
              </a:rPr>
              <a:t>record-level DP-SGD</a:t>
            </a:r>
            <a:r>
              <a:rPr sz="2400" b="0">
                <a:solidFill>
                  <a:srgbClr val="101010"/>
                </a:solidFill>
                <a:latin typeface="Calibri"/>
              </a:rPr>
              <a:t> composition of FedBN with explicit Opacus engineering (vs. the party-level Laplace "DP-FedBN" mention in ADCOL, ICML'23).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03504" y="21122640"/>
            <a:ext cx="9326880" cy="868680"/>
          </a:xfrm>
          <a:prstGeom prst="roundRect">
            <a:avLst>
              <a:gd name="adj" fmla="val 12000"/>
            </a:avLst>
          </a:prstGeom>
          <a:solidFill>
            <a:srgbClr val="1F497D"/>
          </a:solidFill>
          <a:ln w="19050">
            <a:solidFill>
              <a:srgbClr val="357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3.  Experimental Setup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3504" y="21991320"/>
            <a:ext cx="9326880" cy="7543800"/>
          </a:xfrm>
          <a:prstGeom prst="rect">
            <a:avLst/>
          </a:prstGeom>
          <a:solidFill>
            <a:srgbClr val="FFFFFF"/>
          </a:solidFill>
          <a:ln w="15875">
            <a:solidFill>
              <a:srgbClr val="4A7E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46304" bIns="76200"/>
          <a:lstStyle/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sz="2400" b="0">
                <a:solidFill>
                  <a:srgbClr val="4A7EBB"/>
                </a:solidFill>
                <a:latin typeface="Calibri"/>
              </a:rPr>
              <a:t>•  </a:t>
            </a:r>
            <a:r>
              <a:rPr sz="2400" b="1">
                <a:solidFill>
                  <a:srgbClr val="1F497D"/>
                </a:solidFill>
                <a:latin typeface="Calibri"/>
              </a:rPr>
              <a:t>Datasets:</a:t>
            </a:r>
            <a:r>
              <a:rPr sz="2400" b="0">
                <a:solidFill>
                  <a:srgbClr val="101010"/>
                </a:solidFill>
                <a:latin typeface="Calibri"/>
              </a:rPr>
              <a:t> MIT-BIH Arrhythmia — 109,453 beats, 5-class AAMI, 360 Hz; PTB-XL — 21,388 records, binary Normal/Abnormal, Lead II, 100 Hz.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sz="2400" b="0">
                <a:solidFill>
                  <a:srgbClr val="4A7EBB"/>
                </a:solidFill>
                <a:latin typeface="Calibri"/>
              </a:rPr>
              <a:t>•  </a:t>
            </a:r>
            <a:r>
              <a:rPr sz="2400" b="1">
                <a:solidFill>
                  <a:srgbClr val="1F497D"/>
                </a:solidFill>
                <a:latin typeface="Calibri"/>
              </a:rPr>
              <a:t>Model:</a:t>
            </a:r>
            <a:r>
              <a:rPr sz="2400" b="0">
                <a:solidFill>
                  <a:srgbClr val="101010"/>
                </a:solidFill>
                <a:latin typeface="Calibri"/>
              </a:rPr>
              <a:t> 4-block 1D-CNN, ~437k params, 5 BatchNorm modules. K = 5 clients, AdamW, batch 96.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sz="2400" b="0">
                <a:solidFill>
                  <a:srgbClr val="4A7EBB"/>
                </a:solidFill>
                <a:latin typeface="Calibri"/>
              </a:rPr>
              <a:t>•  </a:t>
            </a:r>
            <a:r>
              <a:rPr sz="2400" b="1">
                <a:solidFill>
                  <a:srgbClr val="1F497D"/>
                </a:solidFill>
                <a:latin typeface="Calibri"/>
              </a:rPr>
              <a:t>Non-IID partitions (6):</a:t>
            </a:r>
            <a:r>
              <a:rPr sz="2400" b="0">
                <a:solidFill>
                  <a:srgbClr val="101010"/>
                </a:solidFill>
                <a:latin typeface="Calibri"/>
              </a:rPr>
              <a:t> IID, quantity skew, Dirichlet α ∈ {1.0, 0.5, 0.1}, label skew C = 2.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sz="2400" b="0">
                <a:solidFill>
                  <a:srgbClr val="4A7EBB"/>
                </a:solidFill>
                <a:latin typeface="Calibri"/>
              </a:rPr>
              <a:t>•  </a:t>
            </a:r>
            <a:r>
              <a:rPr sz="2400" b="1">
                <a:solidFill>
                  <a:srgbClr val="1F497D"/>
                </a:solidFill>
                <a:latin typeface="Calibri"/>
              </a:rPr>
              <a:t>Privacy:</a:t>
            </a:r>
            <a:r>
              <a:rPr sz="2400" b="0">
                <a:solidFill>
                  <a:srgbClr val="101010"/>
                </a:solidFill>
                <a:latin typeface="Calibri"/>
              </a:rPr>
              <a:t> ε ∈ {1, 3, ∞}, δ = 1e-5, clip C = 1.0, Opacus 1.5. Methods: DP-FedAvg (raw BN), DP-FedAvg+GroupNorm, </a:t>
            </a:r>
            <a:r>
              <a:rPr sz="2400" b="1">
                <a:solidFill>
                  <a:srgbClr val="1F497D"/>
                </a:solidFill>
                <a:latin typeface="Calibri"/>
              </a:rPr>
              <a:t>DP-FedBN</a:t>
            </a:r>
            <a:r>
              <a:rPr sz="2400" b="0">
                <a:solidFill>
                  <a:srgbClr val="101010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sz="2400" b="0">
                <a:solidFill>
                  <a:srgbClr val="4A7EBB"/>
                </a:solidFill>
                <a:latin typeface="Calibri"/>
              </a:rPr>
              <a:t>•  </a:t>
            </a:r>
            <a:r>
              <a:rPr sz="2400" b="1">
                <a:solidFill>
                  <a:srgbClr val="1F497D"/>
                </a:solidFill>
                <a:latin typeface="Calibri"/>
              </a:rPr>
              <a:t>Two eval regimes:</a:t>
            </a:r>
            <a:r>
              <a:rPr sz="2400" b="0">
                <a:solidFill>
                  <a:srgbClr val="101010"/>
                </a:solidFill>
                <a:latin typeface="Calibri"/>
              </a:rPr>
              <a:t> Central F1 (pooled holdout) vs. Local F1 (per-client). ~40 configurations, single seed (42).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1192256" y="5440680"/>
            <a:ext cx="9326880" cy="868680"/>
          </a:xfrm>
          <a:prstGeom prst="roundRect">
            <a:avLst>
              <a:gd name="adj" fmla="val 12000"/>
            </a:avLst>
          </a:prstGeom>
          <a:solidFill>
            <a:srgbClr val="1F497D"/>
          </a:solidFill>
          <a:ln w="19050">
            <a:solidFill>
              <a:srgbClr val="357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4.  Result 1 — The Eval-Regime Flip is Task-Agnostic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192256" y="6309360"/>
            <a:ext cx="9326880" cy="7360920"/>
          </a:xfrm>
          <a:prstGeom prst="rect">
            <a:avLst/>
          </a:prstGeom>
          <a:solidFill>
            <a:srgbClr val="FFFFFF"/>
          </a:solidFill>
          <a:ln w="15875">
            <a:solidFill>
              <a:srgbClr val="4A7E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46304" bIns="76200"/>
          <a:lstStyle/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sz="2300" b="0">
                <a:solidFill>
                  <a:srgbClr val="4A7EBB"/>
                </a:solidFill>
                <a:latin typeface="Calibri"/>
              </a:rPr>
              <a:t>•  </a:t>
            </a:r>
            <a:r>
              <a:rPr sz="2300" b="0">
                <a:solidFill>
                  <a:srgbClr val="101010"/>
                </a:solidFill>
                <a:latin typeface="Calibri"/>
              </a:rPr>
              <a:t>On severe non-IID, FedBN ranks </a:t>
            </a:r>
            <a:r>
              <a:rPr sz="2300" b="1">
                <a:solidFill>
                  <a:srgbClr val="1F497D"/>
                </a:solidFill>
                <a:latin typeface="Calibri"/>
              </a:rPr>
              <a:t>worst on pooled-central F1</a:t>
            </a:r>
            <a:r>
              <a:rPr sz="2300" b="0">
                <a:solidFill>
                  <a:srgbClr val="101010"/>
                </a:solidFill>
                <a:latin typeface="Calibri"/>
              </a:rPr>
              <a:t> but </a:t>
            </a:r>
            <a:r>
              <a:rPr sz="2300" b="1">
                <a:solidFill>
                  <a:srgbClr val="1F497D"/>
                </a:solidFill>
                <a:latin typeface="Calibri"/>
              </a:rPr>
              <a:t>best on per-client local F1</a:t>
            </a:r>
            <a:r>
              <a:rPr sz="2300" b="0">
                <a:solidFill>
                  <a:srgbClr val="101010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sz="2300" b="0">
                <a:solidFill>
                  <a:srgbClr val="4A7EBB"/>
                </a:solidFill>
                <a:latin typeface="Calibri"/>
              </a:rPr>
              <a:t>•  </a:t>
            </a:r>
            <a:r>
              <a:rPr sz="2300" b="0">
                <a:solidFill>
                  <a:srgbClr val="101010"/>
                </a:solidFill>
                <a:latin typeface="Calibri"/>
              </a:rPr>
              <a:t>MIT-BIH label skew C=2: FedBN central </a:t>
            </a:r>
            <a:r>
              <a:rPr sz="2300" b="1">
                <a:solidFill>
                  <a:srgbClr val="1F497D"/>
                </a:solidFill>
                <a:latin typeface="Calibri"/>
              </a:rPr>
              <a:t>0.224</a:t>
            </a:r>
            <a:r>
              <a:rPr sz="2300" b="0">
                <a:solidFill>
                  <a:srgbClr val="101010"/>
                </a:solidFill>
                <a:latin typeface="Calibri"/>
              </a:rPr>
              <a:t> (lowest) vs. local </a:t>
            </a:r>
            <a:r>
              <a:rPr sz="2300" b="1">
                <a:solidFill>
                  <a:srgbClr val="1F497D"/>
                </a:solidFill>
                <a:latin typeface="Calibri"/>
              </a:rPr>
              <a:t>0.942</a:t>
            </a:r>
            <a:r>
              <a:rPr sz="2300" b="0">
                <a:solidFill>
                  <a:srgbClr val="101010"/>
                </a:solidFill>
                <a:latin typeface="Calibri"/>
              </a:rPr>
              <a:t> (highest) — a </a:t>
            </a:r>
            <a:r>
              <a:rPr sz="2300" b="1">
                <a:solidFill>
                  <a:srgbClr val="1F497D"/>
                </a:solidFill>
                <a:latin typeface="Calibri"/>
              </a:rPr>
              <a:t>+0.72 flip</a:t>
            </a:r>
            <a:r>
              <a:rPr sz="2300" b="0">
                <a:solidFill>
                  <a:srgbClr val="101010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sz="2300" b="0">
                <a:solidFill>
                  <a:srgbClr val="4A7EBB"/>
                </a:solidFill>
                <a:latin typeface="Calibri"/>
              </a:rPr>
              <a:t>•  </a:t>
            </a:r>
            <a:r>
              <a:rPr sz="2300" b="0">
                <a:solidFill>
                  <a:srgbClr val="101010"/>
                </a:solidFill>
                <a:latin typeface="Calibri"/>
              </a:rPr>
              <a:t>Replicates on PTB-XL (different task): FedBN−FedAvg = </a:t>
            </a:r>
            <a:r>
              <a:rPr sz="2300" b="1">
                <a:solidFill>
                  <a:srgbClr val="1F497D"/>
                </a:solidFill>
                <a:latin typeface="Calibri"/>
              </a:rPr>
              <a:t>−0.116 central / +0.123 local</a:t>
            </a:r>
            <a:r>
              <a:rPr sz="2300" b="0">
                <a:solidFill>
                  <a:srgbClr val="101010"/>
                </a:solidFill>
                <a:latin typeface="Calibri"/>
              </a:rPr>
              <a:t> — task-agnostic.</a:t>
            </a:r>
          </a:p>
        </p:txBody>
      </p:sp>
      <p:pic>
        <p:nvPicPr>
          <p:cNvPr id="68" name="Picture 67" descr="fig_eval_regime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56848" y="9098280"/>
            <a:ext cx="8997696" cy="3512954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sp>
        <p:nvSpPr>
          <p:cNvPr id="69" name="TextBox 68"/>
          <p:cNvSpPr txBox="1"/>
          <p:nvPr/>
        </p:nvSpPr>
        <p:spPr>
          <a:xfrm>
            <a:off x="11375136" y="12647810"/>
            <a:ext cx="8961119" cy="54864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 algn="ctr"/>
            <a:r>
              <a:rPr sz="1500" b="0" i="1">
                <a:solidFill>
                  <a:srgbClr val="333333"/>
                </a:solidFill>
                <a:latin typeface="Calibri"/>
              </a:rPr>
              <a:t>Central (blue) vs. per-client local (red) macro-F1 on MIT-BIH. FedBN: lowest central, highest local.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1192256" y="13944600"/>
            <a:ext cx="9326880" cy="868680"/>
          </a:xfrm>
          <a:prstGeom prst="roundRect">
            <a:avLst>
              <a:gd name="adj" fmla="val 12000"/>
            </a:avLst>
          </a:prstGeom>
          <a:solidFill>
            <a:srgbClr val="1F497D"/>
          </a:solidFill>
          <a:ln w="19050">
            <a:solidFill>
              <a:srgbClr val="357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5.  Result 2 — Under DP, the Edge is Partition-Dependent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1192256" y="14813280"/>
            <a:ext cx="9326880" cy="9052560"/>
          </a:xfrm>
          <a:prstGeom prst="rect">
            <a:avLst/>
          </a:prstGeom>
          <a:solidFill>
            <a:srgbClr val="FFFFFF"/>
          </a:solidFill>
          <a:ln w="15875">
            <a:solidFill>
              <a:srgbClr val="4A7E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46304" bIns="76200"/>
          <a:lstStyle/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sz="2200" b="0">
                <a:solidFill>
                  <a:srgbClr val="4A7EBB"/>
                </a:solidFill>
                <a:latin typeface="Calibri"/>
              </a:rPr>
              <a:t>•  </a:t>
            </a:r>
            <a:r>
              <a:rPr sz="2200" b="1">
                <a:solidFill>
                  <a:srgbClr val="1F497D"/>
                </a:solidFill>
                <a:latin typeface="Calibri"/>
              </a:rPr>
              <a:t>Naive DP-FedAvg on a BN model is structurally impossible</a:t>
            </a:r>
            <a:r>
              <a:rPr sz="2200" b="0">
                <a:solidFill>
                  <a:srgbClr val="101010"/>
                </a:solidFill>
                <a:latin typeface="Calibri"/>
              </a:rPr>
              <a:t> — Opacus REFUSES it at every finite ε. This motivates DP-FedBN.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sz="2200" b="0">
                <a:solidFill>
                  <a:srgbClr val="4A7EBB"/>
                </a:solidFill>
                <a:latin typeface="Calibri"/>
              </a:rPr>
              <a:t>•  </a:t>
            </a:r>
            <a:r>
              <a:rPr sz="2200" b="1">
                <a:solidFill>
                  <a:srgbClr val="1F497D"/>
                </a:solidFill>
                <a:latin typeface="Calibri"/>
              </a:rPr>
              <a:t>Label skew</a:t>
            </a:r>
            <a:r>
              <a:rPr sz="2200" b="0">
                <a:solidFill>
                  <a:srgbClr val="101010"/>
                </a:solidFill>
                <a:latin typeface="Calibri"/>
              </a:rPr>
              <a:t> (specialty-clinic regime): DP-FedBN keeps a </a:t>
            </a:r>
            <a:r>
              <a:rPr sz="2200" b="1">
                <a:solidFill>
                  <a:srgbClr val="1F497D"/>
                </a:solidFill>
                <a:latin typeface="Calibri"/>
              </a:rPr>
              <a:t>+0.17</a:t>
            </a:r>
            <a:r>
              <a:rPr sz="2200" b="0">
                <a:solidFill>
                  <a:srgbClr val="101010"/>
                </a:solidFill>
                <a:latin typeface="Calibri"/>
              </a:rPr>
              <a:t> local-F1 edge over GroupNorm at ε=3 (+0.05 at ε=1).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sz="2200" b="0">
                <a:solidFill>
                  <a:srgbClr val="4A7EBB"/>
                </a:solidFill>
                <a:latin typeface="Calibri"/>
              </a:rPr>
              <a:t>•  </a:t>
            </a:r>
            <a:r>
              <a:rPr sz="2200" b="1">
                <a:solidFill>
                  <a:srgbClr val="1F497D"/>
                </a:solidFill>
                <a:latin typeface="Calibri"/>
              </a:rPr>
              <a:t>Dirichlet α=0.1</a:t>
            </a:r>
            <a:r>
              <a:rPr sz="2200" b="0">
                <a:solidFill>
                  <a:srgbClr val="101010"/>
                </a:solidFill>
                <a:latin typeface="Calibri"/>
              </a:rPr>
              <a:t> (proportional skew): edge vanishes/reverses (PTB-XL </a:t>
            </a:r>
            <a:r>
              <a:rPr sz="2200" b="1">
                <a:solidFill>
                  <a:srgbClr val="1F497D"/>
                </a:solidFill>
                <a:latin typeface="Calibri"/>
              </a:rPr>
              <a:t>−0.234</a:t>
            </a:r>
            <a:r>
              <a:rPr sz="2200" b="0">
                <a:solidFill>
                  <a:srgbClr val="101010"/>
                </a:solidFill>
                <a:latin typeface="Calibri"/>
              </a:rPr>
              <a:t> at ε=3) — GroupNorm wins. DP noise hits per-client BN with no cross-client averaging to smooth it.</a:t>
            </a:r>
          </a:p>
        </p:txBody>
      </p:sp>
      <p:pic>
        <p:nvPicPr>
          <p:cNvPr id="72" name="Picture 71" descr="fig_privacy_utility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53724" y="18333720"/>
            <a:ext cx="6603943" cy="5029200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sp>
        <p:nvSpPr>
          <p:cNvPr id="73" name="TextBox 72"/>
          <p:cNvSpPr txBox="1"/>
          <p:nvPr/>
        </p:nvSpPr>
        <p:spPr>
          <a:xfrm>
            <a:off x="11375136" y="23399496"/>
            <a:ext cx="8961119" cy="54864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 algn="ctr"/>
            <a:r>
              <a:rPr sz="1500" b="0" i="1">
                <a:solidFill>
                  <a:srgbClr val="333333"/>
                </a:solidFill>
                <a:latin typeface="Calibri"/>
              </a:rPr>
              <a:t>Privacy–utility frontier (MIT-BIH). DP-FedBN (green) keeps a clear local edge on label-skew at ε=3; mixed on Dirichlet.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1192256" y="24140160"/>
            <a:ext cx="9326880" cy="868680"/>
          </a:xfrm>
          <a:prstGeom prst="roundRect">
            <a:avLst>
              <a:gd name="adj" fmla="val 12000"/>
            </a:avLst>
          </a:prstGeom>
          <a:solidFill>
            <a:srgbClr val="1F497D"/>
          </a:solidFill>
          <a:ln w="19050">
            <a:solidFill>
              <a:srgbClr val="357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6.  Conclusions &amp; Practitioner Rubric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192256" y="25008840"/>
            <a:ext cx="9326880" cy="4526280"/>
          </a:xfrm>
          <a:prstGeom prst="rect">
            <a:avLst/>
          </a:prstGeom>
          <a:solidFill>
            <a:srgbClr val="FFFFFF"/>
          </a:solidFill>
          <a:ln w="15875">
            <a:solidFill>
              <a:srgbClr val="4A7E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46304" bIns="76200"/>
          <a:lstStyle/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sz="2300" b="0">
                <a:solidFill>
                  <a:srgbClr val="4A7EBB"/>
                </a:solidFill>
                <a:latin typeface="Calibri"/>
              </a:rPr>
              <a:t>•  </a:t>
            </a:r>
            <a:r>
              <a:rPr sz="2300" b="0">
                <a:solidFill>
                  <a:srgbClr val="101010"/>
                </a:solidFill>
                <a:latin typeface="Calibri"/>
              </a:rPr>
              <a:t>The eval-regime flip is </a:t>
            </a:r>
            <a:r>
              <a:rPr sz="2300" b="1">
                <a:solidFill>
                  <a:srgbClr val="1F497D"/>
                </a:solidFill>
                <a:latin typeface="Calibri"/>
              </a:rPr>
              <a:t>real and task-agnostic</a:t>
            </a:r>
            <a:r>
              <a:rPr sz="2300" b="0">
                <a:solidFill>
                  <a:srgbClr val="101010"/>
                </a:solidFill>
                <a:latin typeface="Calibri"/>
              </a:rPr>
              <a:t> — always report </a:t>
            </a:r>
            <a:r>
              <a:rPr sz="2300" b="1">
                <a:solidFill>
                  <a:srgbClr val="1F497D"/>
                </a:solidFill>
                <a:latin typeface="Calibri"/>
              </a:rPr>
              <a:t>both</a:t>
            </a:r>
            <a:r>
              <a:rPr sz="2300" b="0">
                <a:solidFill>
                  <a:srgbClr val="101010"/>
                </a:solidFill>
                <a:latin typeface="Calibri"/>
              </a:rPr>
              <a:t> central and local F1.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sz="2300" b="0">
                <a:solidFill>
                  <a:srgbClr val="4A7EBB"/>
                </a:solidFill>
                <a:latin typeface="Calibri"/>
              </a:rPr>
              <a:t>•  </a:t>
            </a:r>
            <a:r>
              <a:rPr sz="2300" b="1">
                <a:solidFill>
                  <a:srgbClr val="1F497D"/>
                </a:solidFill>
                <a:latin typeface="Calibri"/>
              </a:rPr>
              <a:t>Rubric:</a:t>
            </a:r>
            <a:r>
              <a:rPr sz="2300" b="0">
                <a:solidFill>
                  <a:srgbClr val="101010"/>
                </a:solidFill>
                <a:latin typeface="Calibri"/>
              </a:rPr>
              <a:t> label-truncated sites (specialty clinics) + local deployment → </a:t>
            </a:r>
            <a:r>
              <a:rPr sz="2300" b="1">
                <a:solidFill>
                  <a:srgbClr val="1F497D"/>
                </a:solidFill>
                <a:latin typeface="Calibri"/>
              </a:rPr>
              <a:t>DP-FedBN</a:t>
            </a:r>
            <a:r>
              <a:rPr sz="2300" b="0">
                <a:solidFill>
                  <a:srgbClr val="101010"/>
                </a:solidFill>
                <a:latin typeface="Calibri"/>
              </a:rPr>
              <a:t>; proportional case-mix (general hospitals) → </a:t>
            </a:r>
            <a:r>
              <a:rPr sz="2300" b="1">
                <a:solidFill>
                  <a:srgbClr val="1F497D"/>
                </a:solidFill>
                <a:latin typeface="Calibri"/>
              </a:rPr>
              <a:t>DP-FedAvg+GroupNorm</a:t>
            </a:r>
            <a:r>
              <a:rPr sz="2300" b="0">
                <a:solidFill>
                  <a:srgbClr val="101010"/>
                </a:solidFill>
                <a:latin typeface="Calibri"/>
              </a:rPr>
              <a:t>; strict pooled-central requirement → FedAvg/FedPerf, not FedBN.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sz="2300" b="0">
                <a:solidFill>
                  <a:srgbClr val="4A7EBB"/>
                </a:solidFill>
                <a:latin typeface="Calibri"/>
              </a:rPr>
              <a:t>•  </a:t>
            </a:r>
            <a:r>
              <a:rPr sz="2300" b="1">
                <a:solidFill>
                  <a:srgbClr val="1F497D"/>
                </a:solidFill>
                <a:latin typeface="Calibri"/>
              </a:rPr>
              <a:t>Limitations:</a:t>
            </a:r>
            <a:r>
              <a:rPr sz="2300" b="0">
                <a:solidFill>
                  <a:srgbClr val="101010"/>
                </a:solidFill>
                <a:latin typeface="Calibri"/>
              </a:rPr>
              <a:t> single seed, 5 clients, ECG-only, fixed CNN.  </a:t>
            </a:r>
            <a:r>
              <a:rPr sz="2300" b="1">
                <a:solidFill>
                  <a:srgbClr val="1F497D"/>
                </a:solidFill>
                <a:latin typeface="Calibri"/>
              </a:rPr>
              <a:t>Repro:</a:t>
            </a:r>
            <a:r>
              <a:rPr sz="2300" b="0">
                <a:solidFill>
                  <a:srgbClr val="101010"/>
                </a:solidFill>
                <a:latin typeface="Calibri"/>
              </a:rPr>
              <a:t> github.com/kanemoda/MedicalFL · Opacus 1.5 · PyTorch 2.4.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2012-02-02T08:39:18Z</dcterms:created>
  <dc:creator>Template.org</dc:creator>
  <dc:description/>
  <cp:keywords>scientific poster template</cp:keywords>
  <dc:language>en-US</dc:language>
  <cp:lastModifiedBy>Microsoft Office User</cp:lastModifiedBy>
  <dcterms:modified xsi:type="dcterms:W3CDTF">2020-06-11T14:56:37Z</dcterms:modified>
  <cp:revision>35</cp:revision>
  <dc:subject/>
  <dc:title>Scientific Poster Template</dc:title>
</cp:coreProperties>
</file>