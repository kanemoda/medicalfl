
<file path=[Content_Types].xml><?xml version="1.0" encoding="utf-8"?>
<Types xmlns="http://schemas.openxmlformats.org/package/2006/content-types">
  <Default Extension="gif" ContentType="image/gif"/>
  <Default Extension="jpeg" ContentType="image/jpeg"/>
  <Default Extension="jpg" ContentType="image/jpg"/>
  <Default Extension="m4v" ContentType="video/mp4"/>
  <Default Extension="mp4" ContentType="video/mp4"/>
  <Default Extension="png" ContentType="image/png"/>
  <Default Extension="rels" ContentType="application/vnd.openxmlformats-package.relationships+xml"/>
  <Default Extension="svg" ContentType="image/svg+xml"/>
  <Default Extension="vml" ContentType="application/vnd.openxmlformats-officedocument.vmlDrawing"/>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theme/theme1.xml" ContentType="application/vnd.openxmlformats-officedocument.theme+xml"/>
  <Override PartName="/ppt/presentation.xml" ContentType="application/vnd.openxmlformats-officedocument.presentationml.presentation.main+xml"/>
  <Override PartName="/ppt/presProps.xml" ContentType="application/vnd.openxmlformats-officedocument.presentationml.presProps+xml"/>
  <Override PartName="/ppt/tableStyles.xml" ContentType="application/vnd.openxmlformats-officedocument.presentationml.tableStyles+xml"/>
  <Override PartName="/ppt/viewProps.xml" ContentType="application/vnd.openxmlformats-officedocument.presentationml.viewProps+xml"/>
  <Override PartName="/ppt/slideLayouts/slideLayout1.xml" ContentType="application/vnd.openxmlformats-officedocument.presentationml.slideLayout+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Masters/slideMaster1.xml" ContentType="application/vnd.openxmlformats-officedocument.presentationml.slideMaster+xml"/>
  <Override PartName="/ppt/notesMasters/notesMaster1.xml" ContentType="application/vnd.openxmlformats-officedocument.presentationml.notesMaster+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officeDocument" Target="ppt/presentation.xml"/><Relationship Id="rId2" Type="http://schemas.openxmlformats.org/package/2006/relationships/metadata/core-properties" Target="docProps/core.xml"/><Relationship Id="rId1"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Lst>
  <p:notesMasterIdLst>
    <p:notesMasterId r:id="rId1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18" Type="http://schemas.openxmlformats.org/officeDocument/2006/relationships/customXml" Target="../customXml/item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20" Type="http://schemas.openxmlformats.org/officeDocument/2006/relationships/customXml" Target="../customXml/item3.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customXml" Target="../customXml/item2.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[Açılış — 20-30 saniye]
Sayın hocalarım, sunumuma başlamadan önce dinleyeceğiniz için teşekkür ederim. Bugün sizinle lisans bitirme tezimi paylaşacağım: "Diferansiyel mahremiyet altında federe BatchNorm ne zaman işe yarar?" başlığıyla, tıbbi EKG sınıflandırması üzerinde bir değerlendirme rejimi karakterizasyonu yaptım.
Çalışma, Prof. Dr. Hasan Bulut hocamın danışmanlığında yürütüldü ve şu anda IEEE Journal of Biomedical and Health Informatics dergisine gönderim için son hazırlık aşamasında.
[Sonraki slayta geç]</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[Motivation — 60-75 saniye]
Tıbbi yapay zekâ uygulamaları, doğası gereği iki rakip talebi aynı anda karşılamak zorunda. Bir taraftan, klinik olarak anlamlı modeller eğitebilmek için farklı hastanelerden veri gerekiyor — ama bu verileri merkezi bir sunucuda toplamak hasta mahremiyetini ihlal eder. Bu sorunun çözümü federated learning, yani federe öğrenme. Diğer taraftan, sadece veriyi merkezde toplamamak yetmiyor — eğitim sırasında model güncellemelerinden bile hasta bilgileri sızabilir. Bunun için de differential privacy, yani diferansiyel mahremiyet ekleniyor.
Sorun şu: Bu ikisi doğal bir biçimde birleşmiyor. FedBN dediğimiz federe öğrenme varyantı, her sitenin kendi BatchNorm istatistiklerini yerel tutuyor — bu personalization için kritik. Ama DP-SGD, her örnek için ayrı gradyan kırpması yapmayı gerektiriyor, ve BatchNorm bu kavramla matematiksel olarak uyumsuz. Kütüphane düzeyinde Opacus modeli direkt reddediyor.
Bu tezin amacı, bu birleşimin gerçek bir tıbbi görevde — EKG sınıflandırmasında — sınır koşullarını sistematik biçimde haritalamak.
[Sağdaki Venn diyagramında "BU TEZ" kesişimde gözüküyor]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[Background — 75-90 saniye]
Bu çakışmanın neden olduğunu biraz daha açıklığa kavuşturmak istiyorum, çünkü mühendislik tarafındaki katkımızın anlaşılması için kritik.
DP-SGD, örnek-düzeyi diferansiyel mahremiyet sağlıyor. Bunun anlamı, eğitim sırasındaki her örnek için gradyan ayrı ayrı hesaplanıp kırpılıyor, sonra gürültü ekleniyor. Bu, tek bir hasta kaydının modele ne kadar katkı yaptığına matematiksel sınır koymak demek.
BatchNorm ise tamamen ters bir mantıkla çalışıyor. Her örneğin çıktısı, o batch'teki diğer örneklerin ortalamasına ve varyansına bağlı. Yani örnek-başına gradyan kavramı BN için iyi tanımlı değil.
Opacus kütüphanesi bunu fark ediyor ve modeli başlangıçta reddediyor — sağda gördüğünüz UnsupportedModuleError hatası bunun sonucu. Standart çözüm, BatchNorm'u GroupNorm ile değiştirmek. Ama bu, FedBN'in personalization mekanizmasını yok ediyor — çünkü GroupNorm'da paylaşılacak veya yerel kalacak istatistik yok.
Yani çıkmaz şu: ya personalization'dan vazgeç (GroupNorm), ya mahremiyetten vazgeç (BatchNorm + plain training), ya da bu ikisini akıllıca birleştir.
[Üçüncüsünü yapıyoruz, devam slaytı]</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Construction — 90 saniye]
Bizim kurgumuzu açıklayayım. Anahtar gözlem şu: FedBN protokolünde BN parametreleri zaten federasyon sınırını geçmiyor — yani sunucuya gönderilmiyor. Demek ki bu threat model'de BN'in DP korumasına ihtiyacı yok. Sadece sunucuya giden parametrelerin DP gürültüsüyle korunması gerekiyor.
Bu gözlemden hareketle dört adımlı bir kurgu önerdim. Birinci adımda, BN parametrelerini eğitim öncesi freeze ediyoruz — yani gradyan almıyorlar. İkinci adımda Opacus'un ModuleValidator'ı modeli kabul ediyor, çünkü BN parametreleri artık gradyan akışında değil. Üçüncü adımda BN'i unfreeze ediyoruz ve iki ayrı optimizer kuruyoruz: non-BN parametreler için DP-SGD, BN parametreleri için ise gürültüsüz, plain SGD. Dördüncü adımda FedBN protokolünü çalıştırıyoruz: BN parametreleri yerel kalıyor, sadece non-BN parametreler agregasyona giriyor.
Sonuç olarak, hazır Opacus 1.5 kütüphanesi, örnek-düzeyi DP-SGD, ve FedBN personalization — üçü bir arada, tek modelde, paketlenmiş halde.
[Sağdaki diyagram bu akışı gösteriyor: sol kol BN, sağ kol non-BN, ikisi farklı işlem akışlarından geçiyor]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[Contributions — 75 saniye]
Bu tezin üç somut katkısı var.
Birincisi yöntemsel: DP-FedBN'in dual-optimizer kurgusu. Burada dürüst olmam gerek — "DP-FedBN" terimi 2023'te ADCOL paper'ında geçiyor, ama orada tek paragraflık bir baseline olarak, parti-düzeyi Laplace gürültüsüyle. Biz örnek-düzeyi DP-SGD ile, mühendislik detaylarıyla birlikte ilk paketlenmiş kurguyu veriyoruz.
İkincisi ampirik: Eval-regime flip dediğimiz bir bulgu. FedBN'in performans sıralaması, pooled-merkezi değerlendirme ile müşteri-yerel değerlendirme arasında sistematik biçimde tersine dönüyor. Bu fark MIT-BIH'te 0.72 makro-F1 puanına kadar çıkıyor — yani aynı model, hangi rejimde test ettiğinize bağlı olarak en kötüden en iyiye geçiyor. Bu bulgu hem MIT-BIH'te hem PTB-XL'de doğrulandı, yani göreve özgü değil.
Üçüncüsü yine ampirik: DP-FedBN'in yerel avantajı bölünme tipine bağlı. Label-skew altında GroupNorm yedeğine göre +0.17 üstün, ama Dirichlet skew altında bu avantaj negatife dönüyor. Bu bilgi, pratisyenler için heterogeneity-typed bir karar rubriği oluşturuyor.
[Geç sonraki slayta]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[Broader Impact — 45 saniye]
Bu çalışmanın etkisi üç kanaldan: Akademik tarafta IEEE JBHI dergisine gönderim hedefliyoruz, Eylül 2026'da. Federated medikal AI literatüründe FedBN+DP birleşiminin sistematik karakterizasyonu olmuş olacak.
Pratisyenler için doğrudan uygulanabilir bir karar rubriği var — sahada hangi heterojenite ve mahremiyet bütçesinde hangi yöntemi tercih edeceklerini söyleyen.
Mühendislik tarafında, Opacus 1.5 ile uyumlu yeniden üretilebilir bir referans uygulaması. GitHub'da iki yıldır açık olan #472 numaralı issue'nun pratik bir çözümü.
[Geç]</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[Feasibility — 45 saniye]
Uygulanabilirlik açısından kısaca: Tüm araçlar hazır — Opacus, PyTorch, özel bir simülatör; özel fork yok, mevcut altyapıya yerleştirilebilir.
Yeniden üretilebilirlik tam: tüm seed'ler, log'lar, konfigürasyonlar saklı; cuDNN deterministik mod kullanılıyor.
Klinik veri yönetimi standartlara uygun: AAMI EC57:2012 etiketleme, patient-stratified bölünme.
Donanım gereksinimi mütevazı: ~40 konfigürasyonun tamamı tek GTX 1660 Super üzerinde yaklaşık 24 saatte koşuyor. Daha güçlü donanımda daha hızlı.
[Sağdaki teknoloji yığını kutusunu kısaca gösterip geç]</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[Methodology Data — 75 saniye]
Veri ve düzen tarafı. İki tıbbi veri seti kullandık. MIT-BIH Arrhythmia 48 hastadan toplanan, yaklaşık 109 bin atışlık bir veri seti — AAMI EC57 standardında 5 sınıflı atış sınıflandırma görevi. PTB-XL ise 21 bin kayıttan oluşan, kayıt-düzeyi binary sınıflandırma görevi.
Heterojenite simülasyonu için altı farklı bölünme rejimi tanımladım — sağda listelenmiş. IID baseline'dan başlayıp, quantity skew, label skew'in iki varyantı, ve Dirichlet dağılımının iki şiddet seviyesine kadar uzanıyor. Gerçek hastane senaryolarını taklit etmek için tasarlandı.
Toplam deney boyutu: 40 civarı konfigürasyon, altı bölünme rejimi, üç DP bütçesi — epsilon 1, 3 ve 10 — dört farklı federe aggregation yöntemi, ve beş müşteri 30-50 round.
[Geç sonuçlara]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[Results · Eval-Regime Flip — 90 saniye]
Bu slayt paper'ın en önemli ampirik bulgusunu gösteriyor.
Soldaki grafikte MIT-BIH üzerinde altı bölünme rejiminde dört federe yöntemin performansını görüyorsunuz. Mavi barlar pooled-merkezi değerlendirme — yani tüm test verisi tek havuzda toplanıp ölçülüyor. Pembe barlar müşteri-yerel değerlendirme — her müşteri kendi test verisinde ölçüm yapıyor, sonra ortalama alınıyor.
Dikkatinizi label_skew_c2 sütununa çekmek istiyorum, ortada. FedBN burada pooled-merkezi F1'de 0.224 puan alıyor — yani en kötü yöntem. Ama aynı model müşteri-yerel F1'de 0.942 puan alıyor — yani en iyi yöntem. Bu 0.72 puanlık bir fark — slaytın sağında büyük yeşil rakamla gösteriliyor.
Bu örüntü Dirichlet alpha=0.1'de de görülüyor, sadece şiddeti farklı. Bulgu şu: FedBN'in sıralaması rejim değişince ters dönüyor. Bu, tıbbi FL benchmark'ları için ciddi bir mesaj — hangi rejimi raporladığınız sıralamayı belirliyor. İkisini birden raporlamak gerekir, çünkü gerçek dünyada deployment'ın hangi rejime denk geleceği genelde belirsiz.
[Geç]</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[Results · Privacy-Utility — 75 saniye]
İkinci sonuç slaydı: DP bütçesinin etkisi.
Soldaki dört panelli grafikte DP-FedBN'i — yeşil — GroupNorm yedeği DP-FedAvg ile — pembe — karşılaştırıyoruz. Üst sıra label-skew partition'da, alt sıra Dirichlet'te.
Üç temel bulgu var. Birincisi: Label-skew altında, epsilon eşittir 3'te, DP-FedBN GroupNorm yedeğine göre +0.17 yerel F1 puanı kazanıyor. Mahremiyetten ödün vermeden personalization'ın korunması mümkün.
İkincisi: Dirichlet skew altında bu avantaj tersine dönüyor — DP-FedBN, GroupNorm'a göre 0.234 puan kaybediyor. Yani bölünme tipi belirleyici.
Üçüncüsü: PTB-XL'de aynı örüntü tekrarlanıyor — paper'da cross-task replikasyon olarak gösteriliyor. Bu sonuç sadece MIT-BIH'e özgü değil.
Sağ alttaki kutu pratisyen rubriği: Eğer hastaneler label-truncated kohorta sahipse ve lokal deployment hedefiniz varsa, DP-FedBN kullanın. Eğer Dirichlet tarzı yoğun class-mix heterojenitesi varsa, DP-FedAvg + GroupNorm tercih edin.
[Geç kapanışa]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[Limitations, Roadmap, Closing — 60 saniye]
Dürüstçe kısıtlardan başlayayım. Sol sütundaki dört madde. Tüm sonuçlar tek tohumdan, seed=42; varyans henüz nicelleştirilmedi. Mimari sadece CNN1D — diğer mimarilere genelleme test edilmedi. Müşteri sayısı 5, gerçek üretim FL'inde onlar veya yüzler olabiliyor. FedProx için μ=0.01 muhtemelen yeterince tune edilmedi.
Orta sütun yol haritası, Mayıs-Eylül 2026 dönemi. Multi-seed expansion — 3 ila 5 tohum, özellikle PTB-XL Dirichlet'te öncelikli. FedProx için μ grid search. Threat model'in derinleştirilmesi, BN üzerinden tekrarlı sorgu saldırılarının analizi. Freeze trick'in ablation çalışması.
Sağ sütun hedef: IEEE Journal of Biomedical and Health Informatics, Eylül 2026 gönderim. Major revision bekliyorum — bu normal, ilk paper için tipik. Yedek venue'ler ML4H workshop ve MICCAI MedAGI.
Beni dinlediğiniz için teşekkür ederim. Sorularınıza geçmeden önce, kısa bir notebook gösterimi yapmak isterim — eval-regime flip'i CSV'den canlı doğrulayalım.
[Notebook'a geç]</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411480" cy="6858000"/>
          </a:xfrm>
          <a:prstGeom prst="rect">
            <a:avLst/>
          </a:prstGeom>
          <a:solidFill>
            <a:srgbClr val="1E2761"/>
          </a:solidFill>
          <a:ln w="12700">
            <a:solidFill>
              <a:srgbClr val="1E2761"/>
            </a:solidFill>
            <a:prstDash val="solid"/>
          </a:ln>
        </p:spPr>
      </p:sp>
      <p:sp>
        <p:nvSpPr>
          <p:cNvPr id="3" name="Text 1"/>
          <p:cNvSpPr/>
          <p:nvPr/>
        </p:nvSpPr>
        <p:spPr>
          <a:xfrm>
            <a:off x="1097280" y="914400"/>
            <a:ext cx="10058400" cy="365760"/>
          </a:xfrm>
          <a:prstGeom prst="rect">
            <a:avLst/>
          </a:prstGeom>
          <a:noFill/>
          <a:ln/>
        </p:spPr>
        <p:txBody>
          <a:bodyPr wrap="square" lIns="0" tIns="0" rIns="0" bIns="0" rtlCol="0" anchor="ctr"/>
          <a:lstStyle/>
          <a:p>
            <a:pPr indent="0" marL="0">
              <a:buNone/>
            </a:pPr>
            <a:r>
              <a:rPr lang="en-US" sz="1300" b="1" spc="400" kern="0" dirty="0">
                <a:solidFill>
                  <a:srgbClr val="065A82"/>
                </a:solidFill>
                <a:latin typeface="Calibri" pitchFamily="34" charset="0"/>
                <a:ea typeface="Calibri" pitchFamily="34" charset="-122"/>
                <a:cs typeface="Calibri" pitchFamily="34" charset="-120"/>
              </a:rPr>
              <a:t>UNDERGRADUATE THESIS DEFENSE SEMINAR</a:t>
            </a:r>
            <a:endParaRPr lang="en-US" sz="1300" dirty="0"/>
          </a:p>
        </p:txBody>
      </p:sp>
      <p:sp>
        <p:nvSpPr>
          <p:cNvPr id="4" name="Text 2"/>
          <p:cNvSpPr/>
          <p:nvPr/>
        </p:nvSpPr>
        <p:spPr>
          <a:xfrm>
            <a:off x="1097280" y="1554480"/>
            <a:ext cx="10362895" cy="1828800"/>
          </a:xfrm>
          <a:prstGeom prst="rect">
            <a:avLst/>
          </a:prstGeom>
          <a:noFill/>
          <a:ln/>
        </p:spPr>
        <p:txBody>
          <a:bodyPr wrap="square" lIns="0" tIns="0" rIns="0" bIns="0" rtlCol="0" anchor="ctr"/>
          <a:lstStyle/>
          <a:p>
            <a:pPr indent="0" marL="0">
              <a:spcAft>
                <a:spcPts val="400"/>
              </a:spcAft>
              <a:buNone/>
            </a:pPr>
            <a:r>
              <a:rPr lang="en-US" sz="3600" b="1" dirty="0">
                <a:solidFill>
                  <a:srgbClr val="1A1F36"/>
                </a:solidFill>
                <a:latin typeface="Calibri" pitchFamily="34" charset="0"/>
                <a:ea typeface="Calibri" pitchFamily="34" charset="-122"/>
                <a:cs typeface="Calibri" pitchFamily="34" charset="-120"/>
              </a:rPr>
              <a:t>When Does Federated BatchNorm Help</a:t>
            </a:r>
            <a:endParaRPr lang="en-US" sz="3600" dirty="0"/>
          </a:p>
          <a:p>
            <a:pPr indent="0" marL="0">
              <a:spcAft>
                <a:spcPts val="400"/>
              </a:spcAft>
              <a:buNone/>
            </a:pPr>
            <a:r>
              <a:rPr lang="en-US" sz="3600" b="1" dirty="0">
                <a:solidFill>
                  <a:srgbClr val="1A1F36"/>
                </a:solidFill>
                <a:latin typeface="Calibri" pitchFamily="34" charset="0"/>
                <a:ea typeface="Calibri" pitchFamily="34" charset="-122"/>
                <a:cs typeface="Calibri" pitchFamily="34" charset="-120"/>
              </a:rPr>
              <a:t>under Differential Privacy?</a:t>
            </a:r>
            <a:endParaRPr lang="en-US" sz="3600" dirty="0"/>
          </a:p>
        </p:txBody>
      </p:sp>
      <p:sp>
        <p:nvSpPr>
          <p:cNvPr id="5" name="Text 3"/>
          <p:cNvSpPr/>
          <p:nvPr/>
        </p:nvSpPr>
        <p:spPr>
          <a:xfrm>
            <a:off x="1097280" y="3474720"/>
            <a:ext cx="10362895" cy="548640"/>
          </a:xfrm>
          <a:prstGeom prst="rect">
            <a:avLst/>
          </a:prstGeom>
          <a:noFill/>
          <a:ln/>
        </p:spPr>
        <p:txBody>
          <a:bodyPr wrap="square" lIns="0" tIns="0" rIns="0" bIns="0" rtlCol="0" anchor="ctr"/>
          <a:lstStyle/>
          <a:p>
            <a:pPr indent="0" marL="0">
              <a:buNone/>
            </a:pPr>
            <a:r>
              <a:rPr lang="en-US" sz="2000" i="1" dirty="0">
                <a:solidFill>
                  <a:srgbClr val="1C7293"/>
                </a:solidFill>
                <a:latin typeface="Calibri" pitchFamily="34" charset="0"/>
                <a:ea typeface="Calibri" pitchFamily="34" charset="-122"/>
                <a:cs typeface="Calibri" pitchFamily="34" charset="-120"/>
              </a:rPr>
              <a:t>An Eval-Regime Characterization on Medical ECG Classification</a:t>
            </a:r>
            <a:endParaRPr lang="en-US" sz="2000" dirty="0"/>
          </a:p>
        </p:txBody>
      </p:sp>
      <p:sp>
        <p:nvSpPr>
          <p:cNvPr id="6" name="Text 4"/>
          <p:cNvSpPr/>
          <p:nvPr/>
        </p:nvSpPr>
        <p:spPr>
          <a:xfrm>
            <a:off x="1097280" y="4937760"/>
            <a:ext cx="7315200" cy="1097280"/>
          </a:xfrm>
          <a:prstGeom prst="rect">
            <a:avLst/>
          </a:prstGeom>
          <a:noFill/>
          <a:ln/>
        </p:spPr>
        <p:txBody>
          <a:bodyPr wrap="square" lIns="0" tIns="0" rIns="0" bIns="0" rtlCol="0" anchor="ctr"/>
          <a:lstStyle/>
          <a:p>
            <a:pPr indent="0" marL="0">
              <a:spcAft>
                <a:spcPts val="400"/>
              </a:spcAft>
              <a:buNone/>
            </a:pPr>
            <a:r>
              <a:rPr lang="en-US" sz="1600" b="1" dirty="0">
                <a:solidFill>
                  <a:srgbClr val="065A82"/>
                </a:solidFill>
                <a:latin typeface="Calibri" pitchFamily="34" charset="0"/>
                <a:ea typeface="Calibri" pitchFamily="34" charset="-122"/>
                <a:cs typeface="Calibri" pitchFamily="34" charset="-120"/>
              </a:rPr>
              <a:t>Student:  </a:t>
            </a:r>
            <a:pPr indent="0" marL="0">
              <a:spcAft>
                <a:spcPts val="400"/>
              </a:spcAft>
              <a:buNone/>
            </a:pPr>
            <a:r>
              <a:rPr lang="en-US" sz="1600" dirty="0">
                <a:solidFill>
                  <a:srgbClr val="1A1F36"/>
                </a:solidFill>
                <a:latin typeface="Calibri" pitchFamily="34" charset="0"/>
                <a:ea typeface="Calibri" pitchFamily="34" charset="-122"/>
                <a:cs typeface="Calibri" pitchFamily="34" charset="-120"/>
              </a:rPr>
              <a:t>Efe Deniz Bağlar</a:t>
            </a:r>
            <a:endParaRPr lang="en-US" sz="1600" dirty="0"/>
          </a:p>
          <a:p>
            <a:pPr indent="0" marL="0">
              <a:spcAft>
                <a:spcPts val="400"/>
              </a:spcAft>
              <a:buNone/>
            </a:pPr>
            <a:r>
              <a:rPr lang="en-US" sz="1600" b="1" dirty="0">
                <a:solidFill>
                  <a:srgbClr val="065A82"/>
                </a:solidFill>
                <a:latin typeface="Calibri" pitchFamily="34" charset="0"/>
                <a:ea typeface="Calibri" pitchFamily="34" charset="-122"/>
                <a:cs typeface="Calibri" pitchFamily="34" charset="-120"/>
              </a:rPr>
              <a:t>Advisor:  </a:t>
            </a:r>
            <a:pPr indent="0" marL="0">
              <a:spcAft>
                <a:spcPts val="400"/>
              </a:spcAft>
              <a:buNone/>
            </a:pPr>
            <a:r>
              <a:rPr lang="en-US" sz="1600" dirty="0">
                <a:solidFill>
                  <a:srgbClr val="1A1F36"/>
                </a:solidFill>
                <a:latin typeface="Calibri" pitchFamily="34" charset="0"/>
                <a:ea typeface="Calibri" pitchFamily="34" charset="-122"/>
                <a:cs typeface="Calibri" pitchFamily="34" charset="-120"/>
              </a:rPr>
              <a:t>Prof. Dr. Hasan Bulut</a:t>
            </a:r>
            <a:endParaRPr lang="en-US" sz="1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65760"/>
            <a:ext cx="11094415" cy="822960"/>
          </a:xfrm>
          <a:prstGeom prst="rect">
            <a:avLst/>
          </a:prstGeom>
          <a:noFill/>
          <a:ln/>
        </p:spPr>
        <p:txBody>
          <a:bodyPr wrap="square" lIns="0" tIns="0" rIns="0" bIns="0" rtlCol="0" anchor="ctr"/>
          <a:lstStyle/>
          <a:p>
            <a:pPr indent="0" marL="0">
              <a:buNone/>
            </a:pPr>
            <a:r>
              <a:rPr lang="en-US" sz="3200" b="1" dirty="0">
                <a:solidFill>
                  <a:srgbClr val="1E2761"/>
                </a:solidFill>
                <a:latin typeface="Calibri" pitchFamily="34" charset="0"/>
                <a:ea typeface="Calibri" pitchFamily="34" charset="-122"/>
                <a:cs typeface="Calibri" pitchFamily="34" charset="-120"/>
              </a:rPr>
              <a:t>Motivation</a:t>
            </a:r>
            <a:endParaRPr lang="en-US" sz="3200" dirty="0"/>
          </a:p>
        </p:txBody>
      </p:sp>
      <p:sp>
        <p:nvSpPr>
          <p:cNvPr id="3" name="Shape 1"/>
          <p:cNvSpPr/>
          <p:nvPr/>
        </p:nvSpPr>
        <p:spPr>
          <a:xfrm>
            <a:off x="548640" y="1188720"/>
            <a:ext cx="1097280" cy="54864"/>
          </a:xfrm>
          <a:prstGeom prst="rect">
            <a:avLst/>
          </a:prstGeom>
          <a:solidFill>
            <a:srgbClr val="065A82"/>
          </a:solidFill>
          <a:ln w="12700">
            <a:solidFill>
              <a:srgbClr val="065A82"/>
            </a:solidFill>
            <a:prstDash val="solid"/>
          </a:ln>
        </p:spPr>
      </p:sp>
      <p:sp>
        <p:nvSpPr>
          <p:cNvPr id="4" name="Text 2"/>
          <p:cNvSpPr/>
          <p:nvPr/>
        </p:nvSpPr>
        <p:spPr>
          <a:xfrm>
            <a:off x="640080" y="1645920"/>
            <a:ext cx="6583680" cy="4114800"/>
          </a:xfrm>
          <a:prstGeom prst="rect">
            <a:avLst/>
          </a:prstGeom>
          <a:noFill/>
          <a:ln/>
        </p:spPr>
        <p:txBody>
          <a:bodyPr wrap="square" lIns="0" tIns="0" rIns="0" bIns="0" rtlCol="0" anchor="ctr"/>
          <a:lstStyle/>
          <a:p>
            <a:pPr indent="0" marL="0">
              <a:spcAft>
                <a:spcPts val="400"/>
              </a:spcAft>
              <a:buNone/>
            </a:pPr>
            <a:r>
              <a:rPr lang="en-US" sz="1700" b="1" dirty="0">
                <a:solidFill>
                  <a:srgbClr val="1E2761"/>
                </a:solidFill>
                <a:latin typeface="Calibri" pitchFamily="34" charset="0"/>
                <a:ea typeface="Calibri" pitchFamily="34" charset="-122"/>
                <a:cs typeface="Calibri" pitchFamily="34" charset="-120"/>
              </a:rPr>
              <a:t>Medical AI must reconcile two competing demands:</a:t>
            </a:r>
            <a:endParaRPr lang="en-US" sz="1700" dirty="0"/>
          </a:p>
          <a:p>
            <a:pPr indent="0" marL="0">
              <a:spcAft>
                <a:spcPts val="400"/>
              </a:spcAft>
              <a:buNone/>
            </a:pPr>
            <a:endParaRPr lang="en-US" sz="1700" dirty="0"/>
          </a:p>
          <a:p>
            <a:pPr indent="0" marL="0">
              <a:spcAft>
                <a:spcPts val="400"/>
              </a:spcAft>
              <a:buNone/>
            </a:pPr>
            <a:r>
              <a:rPr lang="en-US" sz="1400" dirty="0">
                <a:solidFill>
                  <a:srgbClr val="1A1F36"/>
                </a:solidFill>
                <a:latin typeface="Calibri" pitchFamily="34" charset="0"/>
                <a:ea typeface="Calibri" pitchFamily="34" charset="-122"/>
                <a:cs typeface="Calibri" pitchFamily="34" charset="-120"/>
              </a:rPr>
              <a:t>Train clinically meaningful models across hospital sites without centralizing patient data (Federated Learning), and provide formal per-record privacy guarantees during training (Differential Privacy).</a:t>
            </a:r>
            <a:endParaRPr lang="en-US" sz="1700" dirty="0"/>
          </a:p>
          <a:p>
            <a:pPr indent="0" marL="0">
              <a:spcAft>
                <a:spcPts val="400"/>
              </a:spcAft>
              <a:buNone/>
            </a:pPr>
            <a:endParaRPr lang="en-US" sz="1700" dirty="0"/>
          </a:p>
          <a:p>
            <a:pPr indent="0" marL="0">
              <a:spcAft>
                <a:spcPts val="400"/>
              </a:spcAft>
              <a:buNone/>
            </a:pPr>
            <a:r>
              <a:rPr lang="en-US" sz="1500" b="1" dirty="0">
                <a:solidFill>
                  <a:srgbClr val="B91C1C"/>
                </a:solidFill>
                <a:latin typeface="Calibri" pitchFamily="34" charset="0"/>
                <a:ea typeface="Calibri" pitchFamily="34" charset="-122"/>
                <a:cs typeface="Calibri" pitchFamily="34" charset="-120"/>
              </a:rPr>
              <a:t>The tension:</a:t>
            </a:r>
            <a:endParaRPr lang="en-US" sz="1700" dirty="0"/>
          </a:p>
          <a:p>
            <a:pPr indent="0" marL="0">
              <a:spcAft>
                <a:spcPts val="400"/>
              </a:spcAft>
              <a:buNone/>
            </a:pPr>
            <a:r>
              <a:rPr lang="en-US" sz="1400" dirty="0">
                <a:solidFill>
                  <a:srgbClr val="1A1F36"/>
                </a:solidFill>
                <a:latin typeface="Calibri" pitchFamily="34" charset="0"/>
                <a:ea typeface="Calibri" pitchFamily="34" charset="-122"/>
                <a:cs typeface="Calibri" pitchFamily="34" charset="-120"/>
              </a:rPr>
              <a:t>FedBN (keeps each site's BatchNorm statistics local) and DP-SGD (clips per-sample gradients) do not compose naturally — they collide at the library level (Opacus rejects BatchNorm modules outright).</a:t>
            </a:r>
            <a:endParaRPr lang="en-US" sz="1700" dirty="0"/>
          </a:p>
        </p:txBody>
      </p:sp>
      <p:sp>
        <p:nvSpPr>
          <p:cNvPr id="5" name="Shape 3"/>
          <p:cNvSpPr/>
          <p:nvPr/>
        </p:nvSpPr>
        <p:spPr>
          <a:xfrm>
            <a:off x="7772400" y="1920240"/>
            <a:ext cx="2377440" cy="2377440"/>
          </a:xfrm>
          <a:prstGeom prst="ellipse">
            <a:avLst/>
          </a:prstGeom>
          <a:solidFill>
            <a:srgbClr val="065A82">
              <a:alpha val="40000"/>
            </a:srgbClr>
          </a:solidFill>
          <a:ln w="25400">
            <a:solidFill>
              <a:srgbClr val="065A82"/>
            </a:solidFill>
            <a:prstDash val="solid"/>
          </a:ln>
        </p:spPr>
      </p:sp>
      <p:sp>
        <p:nvSpPr>
          <p:cNvPr id="6" name="Text 4"/>
          <p:cNvSpPr/>
          <p:nvPr/>
        </p:nvSpPr>
        <p:spPr>
          <a:xfrm>
            <a:off x="7955280" y="2286000"/>
            <a:ext cx="1645920" cy="91440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FedBN</a:t>
            </a:r>
            <a:endParaRPr lang="en-US" sz="1600" dirty="0"/>
          </a:p>
          <a:p>
            <a:pPr algn="ctr" indent="0" marL="0">
              <a:buNone/>
            </a:pPr>
            <a:r>
              <a:rPr lang="en-US" sz="1100" dirty="0">
                <a:solidFill>
                  <a:srgbClr val="FFFFFF"/>
                </a:solidFill>
                <a:latin typeface="Calibri" pitchFamily="34" charset="0"/>
                <a:ea typeface="Calibri" pitchFamily="34" charset="-122"/>
                <a:cs typeface="Calibri" pitchFamily="34" charset="-120"/>
              </a:rPr>
              <a:t>local BN stats</a:t>
            </a:r>
            <a:endParaRPr lang="en-US" sz="1600" dirty="0"/>
          </a:p>
        </p:txBody>
      </p:sp>
      <p:sp>
        <p:nvSpPr>
          <p:cNvPr id="7" name="Shape 5"/>
          <p:cNvSpPr/>
          <p:nvPr/>
        </p:nvSpPr>
        <p:spPr>
          <a:xfrm>
            <a:off x="9418320" y="2651760"/>
            <a:ext cx="2377440" cy="2377440"/>
          </a:xfrm>
          <a:prstGeom prst="ellipse">
            <a:avLst/>
          </a:prstGeom>
          <a:solidFill>
            <a:srgbClr val="1C7293">
              <a:alpha val="40000"/>
            </a:srgbClr>
          </a:solidFill>
          <a:ln w="25400">
            <a:solidFill>
              <a:srgbClr val="1C7293"/>
            </a:solidFill>
            <a:prstDash val="solid"/>
          </a:ln>
        </p:spPr>
      </p:sp>
      <p:sp>
        <p:nvSpPr>
          <p:cNvPr id="8" name="Text 6"/>
          <p:cNvSpPr/>
          <p:nvPr/>
        </p:nvSpPr>
        <p:spPr>
          <a:xfrm>
            <a:off x="10058400" y="3566160"/>
            <a:ext cx="1645920" cy="91440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DP-SGD</a:t>
            </a:r>
            <a:endParaRPr lang="en-US" sz="1600" dirty="0"/>
          </a:p>
          <a:p>
            <a:pPr algn="ctr" indent="0" marL="0">
              <a:buNone/>
            </a:pPr>
            <a:r>
              <a:rPr lang="en-US" sz="1100" dirty="0">
                <a:solidFill>
                  <a:srgbClr val="FFFFFF"/>
                </a:solidFill>
                <a:latin typeface="Calibri" pitchFamily="34" charset="0"/>
                <a:ea typeface="Calibri" pitchFamily="34" charset="-122"/>
                <a:cs typeface="Calibri" pitchFamily="34" charset="-120"/>
              </a:rPr>
              <a:t>record-level DP</a:t>
            </a:r>
            <a:endParaRPr lang="en-US" sz="1600" dirty="0"/>
          </a:p>
        </p:txBody>
      </p:sp>
      <p:sp>
        <p:nvSpPr>
          <p:cNvPr id="9" name="Shape 7"/>
          <p:cNvSpPr/>
          <p:nvPr/>
        </p:nvSpPr>
        <p:spPr>
          <a:xfrm>
            <a:off x="9189720" y="3200400"/>
            <a:ext cx="1005840" cy="384048"/>
          </a:xfrm>
          <a:prstGeom prst="rect">
            <a:avLst/>
          </a:prstGeom>
          <a:solidFill>
            <a:srgbClr val="FFFFFF"/>
          </a:solidFill>
          <a:ln w="15240">
            <a:solidFill>
              <a:srgbClr val="1E2761"/>
            </a:solidFill>
            <a:prstDash val="solid"/>
          </a:ln>
        </p:spPr>
      </p:sp>
      <p:sp>
        <p:nvSpPr>
          <p:cNvPr id="10" name="Text 8"/>
          <p:cNvSpPr/>
          <p:nvPr/>
        </p:nvSpPr>
        <p:spPr>
          <a:xfrm>
            <a:off x="9189720" y="3200400"/>
            <a:ext cx="1005840" cy="384048"/>
          </a:xfrm>
          <a:prstGeom prst="rect">
            <a:avLst/>
          </a:prstGeom>
          <a:noFill/>
          <a:ln/>
        </p:spPr>
        <p:txBody>
          <a:bodyPr wrap="square" lIns="0" tIns="0" rIns="0" bIns="0" rtlCol="0" anchor="ctr"/>
          <a:lstStyle/>
          <a:p>
            <a:pPr algn="ctr" indent="0" marL="0">
              <a:buNone/>
            </a:pPr>
            <a:r>
              <a:rPr lang="en-US" sz="900" b="1" i="1" spc="200" kern="0" dirty="0">
                <a:solidFill>
                  <a:srgbClr val="1E2761"/>
                </a:solidFill>
                <a:latin typeface="Calibri" pitchFamily="34" charset="0"/>
                <a:ea typeface="Calibri" pitchFamily="34" charset="-122"/>
                <a:cs typeface="Calibri" pitchFamily="34" charset="-120"/>
              </a:rPr>
              <a:t>THIS WORK</a:t>
            </a:r>
            <a:endParaRPr lang="en-US" sz="900" dirty="0"/>
          </a:p>
        </p:txBody>
      </p:sp>
      <p:sp>
        <p:nvSpPr>
          <p:cNvPr id="11" name="Text 9"/>
          <p:cNvSpPr/>
          <p:nvPr/>
        </p:nvSpPr>
        <p:spPr>
          <a:xfrm>
            <a:off x="7589520" y="5852160"/>
            <a:ext cx="4572000" cy="640080"/>
          </a:xfrm>
          <a:prstGeom prst="rect">
            <a:avLst/>
          </a:prstGeom>
          <a:noFill/>
          <a:ln/>
        </p:spPr>
        <p:txBody>
          <a:bodyPr wrap="square" lIns="0" tIns="0" rIns="0" bIns="0" rtlCol="0" anchor="ctr"/>
          <a:lstStyle/>
          <a:p>
            <a:pPr indent="0" marL="0">
              <a:buNone/>
            </a:pPr>
            <a:r>
              <a:rPr lang="en-US" sz="1200" b="1" dirty="0">
                <a:solidFill>
                  <a:srgbClr val="065A82"/>
                </a:solidFill>
                <a:latin typeface="Calibri" pitchFamily="34" charset="0"/>
                <a:ea typeface="Calibri" pitchFamily="34" charset="-122"/>
                <a:cs typeface="Calibri" pitchFamily="34" charset="-120"/>
              </a:rPr>
              <a:t>Goal:  </a:t>
            </a:r>
            <a:pPr indent="0" marL="0">
              <a:buNone/>
            </a:pPr>
            <a:r>
              <a:rPr lang="en-US" sz="1200" dirty="0">
                <a:solidFill>
                  <a:srgbClr val="1A1F36"/>
                </a:solidFill>
                <a:latin typeface="Calibri" pitchFamily="34" charset="0"/>
                <a:ea typeface="Calibri" pitchFamily="34" charset="-122"/>
                <a:cs typeface="Calibri" pitchFamily="34" charset="-120"/>
              </a:rPr>
              <a:t>Systematically map the boundary conditions of this composition on a real medical task (ECG classification).</a:t>
            </a:r>
            <a:endParaRPr lang="en-US" sz="1200" dirty="0"/>
          </a:p>
        </p:txBody>
      </p:sp>
      <p:sp>
        <p:nvSpPr>
          <p:cNvPr id="12" name="Text 10"/>
          <p:cNvSpPr/>
          <p:nvPr/>
        </p:nvSpPr>
        <p:spPr>
          <a:xfrm>
            <a:off x="457200" y="6492240"/>
            <a:ext cx="8229600" cy="274320"/>
          </a:xfrm>
          <a:prstGeom prst="rect">
            <a:avLst/>
          </a:prstGeom>
          <a:noFill/>
          <a:ln/>
        </p:spPr>
        <p:txBody>
          <a:bodyPr wrap="square" lIns="0" tIns="0" rIns="0" bIns="0" rtlCol="0" anchor="ctr"/>
          <a:lstStyle/>
          <a:p>
            <a:pPr indent="0" marL="0">
              <a:buNone/>
            </a:pPr>
            <a:r>
              <a:rPr lang="en-US" sz="900" dirty="0">
                <a:solidFill>
                  <a:srgbClr val="94A3B8"/>
                </a:solidFill>
                <a:latin typeface="Calibri" pitchFamily="34" charset="0"/>
                <a:ea typeface="Calibri" pitchFamily="34" charset="-122"/>
                <a:cs typeface="Calibri" pitchFamily="34" charset="-120"/>
              </a:rPr>
              <a:t>Efe Deniz Bağlar  ·  Undergraduate Thesis  ·  Ege University · Computer Engineering</a:t>
            </a:r>
            <a:endParaRPr lang="en-US" sz="900" dirty="0"/>
          </a:p>
        </p:txBody>
      </p:sp>
      <p:sp>
        <p:nvSpPr>
          <p:cNvPr id="13" name="Text 11"/>
          <p:cNvSpPr/>
          <p:nvPr/>
        </p:nvSpPr>
        <p:spPr>
          <a:xfrm>
            <a:off x="10820095" y="6492240"/>
            <a:ext cx="914400" cy="274320"/>
          </a:xfrm>
          <a:prstGeom prst="rect">
            <a:avLst/>
          </a:prstGeom>
          <a:noFill/>
          <a:ln/>
        </p:spPr>
        <p:txBody>
          <a:bodyPr wrap="square" lIns="0" tIns="0" rIns="0" bIns="0" rtlCol="0" anchor="ctr"/>
          <a:lstStyle/>
          <a:p>
            <a:pPr algn="r" indent="0" marL="0">
              <a:buNone/>
            </a:pPr>
            <a:r>
              <a:rPr lang="en-US" sz="900" dirty="0">
                <a:solidFill>
                  <a:srgbClr val="94A3B8"/>
                </a:solidFill>
                <a:latin typeface="Calibri" pitchFamily="34" charset="0"/>
                <a:ea typeface="Calibri" pitchFamily="34" charset="-122"/>
                <a:cs typeface="Calibri" pitchFamily="34" charset="-120"/>
              </a:rPr>
              <a:t>2 / 11</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65760"/>
            <a:ext cx="11094415" cy="822960"/>
          </a:xfrm>
          <a:prstGeom prst="rect">
            <a:avLst/>
          </a:prstGeom>
          <a:noFill/>
          <a:ln/>
        </p:spPr>
        <p:txBody>
          <a:bodyPr wrap="square" lIns="0" tIns="0" rIns="0" bIns="0" rtlCol="0" anchor="ctr"/>
          <a:lstStyle/>
          <a:p>
            <a:pPr indent="0" marL="0">
              <a:buNone/>
            </a:pPr>
            <a:r>
              <a:rPr lang="en-US" sz="3200" b="1" dirty="0">
                <a:solidFill>
                  <a:srgbClr val="1E2761"/>
                </a:solidFill>
                <a:latin typeface="Calibri" pitchFamily="34" charset="0"/>
                <a:ea typeface="Calibri" pitchFamily="34" charset="-122"/>
                <a:cs typeface="Calibri" pitchFamily="34" charset="-120"/>
              </a:rPr>
              <a:t>Background  ·  Why BatchNorm Breaks DP-SGD</a:t>
            </a:r>
            <a:endParaRPr lang="en-US" sz="3200" dirty="0"/>
          </a:p>
        </p:txBody>
      </p:sp>
      <p:sp>
        <p:nvSpPr>
          <p:cNvPr id="3" name="Shape 1"/>
          <p:cNvSpPr/>
          <p:nvPr/>
        </p:nvSpPr>
        <p:spPr>
          <a:xfrm>
            <a:off x="548640" y="1188720"/>
            <a:ext cx="1097280" cy="54864"/>
          </a:xfrm>
          <a:prstGeom prst="rect">
            <a:avLst/>
          </a:prstGeom>
          <a:solidFill>
            <a:srgbClr val="065A82"/>
          </a:solidFill>
          <a:ln w="12700">
            <a:solidFill>
              <a:srgbClr val="065A82"/>
            </a:solidFill>
            <a:prstDash val="solid"/>
          </a:ln>
        </p:spPr>
      </p:sp>
      <p:sp>
        <p:nvSpPr>
          <p:cNvPr id="4" name="Text 2"/>
          <p:cNvSpPr/>
          <p:nvPr/>
        </p:nvSpPr>
        <p:spPr>
          <a:xfrm>
            <a:off x="640080" y="1645920"/>
            <a:ext cx="6400800" cy="4572000"/>
          </a:xfrm>
          <a:prstGeom prst="rect">
            <a:avLst/>
          </a:prstGeom>
          <a:noFill/>
          <a:ln/>
        </p:spPr>
        <p:txBody>
          <a:bodyPr wrap="square" lIns="0" tIns="0" rIns="0" bIns="0" rtlCol="0" anchor="ctr"/>
          <a:lstStyle/>
          <a:p>
            <a:pPr indent="0" marL="0">
              <a:spcAft>
                <a:spcPts val="400"/>
              </a:spcAft>
              <a:buNone/>
            </a:pPr>
            <a:r>
              <a:rPr lang="en-US" sz="1600" b="1" dirty="0">
                <a:solidFill>
                  <a:srgbClr val="1E2761"/>
                </a:solidFill>
                <a:latin typeface="Calibri" pitchFamily="34" charset="0"/>
                <a:ea typeface="Calibri" pitchFamily="34" charset="-122"/>
                <a:cs typeface="Calibri" pitchFamily="34" charset="-120"/>
              </a:rPr>
              <a:t>DP-SGD requires per-sample gradients</a:t>
            </a:r>
            <a:endParaRPr lang="en-US" sz="1600" dirty="0"/>
          </a:p>
          <a:p>
            <a:pPr indent="0" marL="0">
              <a:spcAft>
                <a:spcPts val="400"/>
              </a:spcAft>
              <a:buNone/>
            </a:pPr>
            <a:r>
              <a:rPr lang="en-US" sz="1300" dirty="0">
                <a:solidFill>
                  <a:srgbClr val="1A1F36"/>
                </a:solidFill>
                <a:latin typeface="Calibri" pitchFamily="34" charset="0"/>
                <a:ea typeface="Calibri" pitchFamily="34" charset="-122"/>
                <a:cs typeface="Calibri" pitchFamily="34" charset="-120"/>
              </a:rPr>
              <a:t>Each training sample's gradient is clipped individually before noise is added, providing record-level (ε, δ)-DP.</a:t>
            </a:r>
            <a:endParaRPr lang="en-US" sz="1600" dirty="0"/>
          </a:p>
          <a:p>
            <a:pPr indent="0" marL="0">
              <a:spcAft>
                <a:spcPts val="400"/>
              </a:spcAft>
              <a:buNone/>
            </a:pPr>
            <a:endParaRPr lang="en-US" sz="1600" dirty="0"/>
          </a:p>
          <a:p>
            <a:pPr indent="0" marL="0">
              <a:spcAft>
                <a:spcPts val="400"/>
              </a:spcAft>
              <a:buNone/>
            </a:pPr>
            <a:r>
              <a:rPr lang="en-US" sz="1600" b="1" dirty="0">
                <a:solidFill>
                  <a:srgbClr val="1E2761"/>
                </a:solidFill>
                <a:latin typeface="Calibri" pitchFamily="34" charset="0"/>
                <a:ea typeface="Calibri" pitchFamily="34" charset="-122"/>
                <a:cs typeface="Calibri" pitchFamily="34" charset="-120"/>
              </a:rPr>
              <a:t>BatchNorm gradients are not well-defined per sample</a:t>
            </a:r>
            <a:endParaRPr lang="en-US" sz="1600" dirty="0"/>
          </a:p>
          <a:p>
            <a:pPr indent="0" marL="0">
              <a:spcAft>
                <a:spcPts val="400"/>
              </a:spcAft>
              <a:buNone/>
            </a:pPr>
            <a:r>
              <a:rPr lang="en-US" sz="1300" dirty="0">
                <a:solidFill>
                  <a:srgbClr val="1A1F36"/>
                </a:solidFill>
                <a:latin typeface="Calibri" pitchFamily="34" charset="0"/>
                <a:ea typeface="Calibri" pitchFamily="34" charset="-122"/>
                <a:cs typeface="Calibri" pitchFamily="34" charset="-120"/>
              </a:rPr>
              <a:t>BN normalizes each sample using the batch's mean and variance — i.e., each sample's output depends on the other samples in the batch.</a:t>
            </a:r>
            <a:endParaRPr lang="en-US" sz="1600" dirty="0"/>
          </a:p>
          <a:p>
            <a:pPr indent="0" marL="0">
              <a:spcAft>
                <a:spcPts val="400"/>
              </a:spcAft>
              <a:buNone/>
            </a:pPr>
            <a:endParaRPr lang="en-US" sz="1600" dirty="0"/>
          </a:p>
          <a:p>
            <a:pPr indent="0" marL="0">
              <a:spcAft>
                <a:spcPts val="400"/>
              </a:spcAft>
              <a:buNone/>
            </a:pPr>
            <a:r>
              <a:rPr lang="en-US" sz="1600" b="1" dirty="0">
                <a:solidFill>
                  <a:srgbClr val="1E2761"/>
                </a:solidFill>
                <a:latin typeface="Calibri" pitchFamily="34" charset="0"/>
                <a:ea typeface="Calibri" pitchFamily="34" charset="-122"/>
                <a:cs typeface="Calibri" pitchFamily="34" charset="-120"/>
              </a:rPr>
              <a:t>Opacus enforces this constraint</a:t>
            </a:r>
            <a:endParaRPr lang="en-US" sz="1600" dirty="0"/>
          </a:p>
          <a:p>
            <a:pPr indent="0" marL="0">
              <a:spcAft>
                <a:spcPts val="400"/>
              </a:spcAft>
              <a:buNone/>
            </a:pPr>
            <a:r>
              <a:rPr lang="en-US" sz="1300" dirty="0">
                <a:solidFill>
                  <a:srgbClr val="1A1F36"/>
                </a:solidFill>
                <a:latin typeface="Calibri" pitchFamily="34" charset="0"/>
                <a:ea typeface="Calibri" pitchFamily="34" charset="-122"/>
                <a:cs typeface="Calibri" pitchFamily="34" charset="-120"/>
              </a:rPr>
              <a:t>The library's ModuleValidator throws UnsupportedModuleError on any BatchNormNd layer at initialization, halting the privacy engine setup.</a:t>
            </a:r>
            <a:endParaRPr lang="en-US" sz="1600" dirty="0"/>
          </a:p>
        </p:txBody>
      </p:sp>
      <p:sp>
        <p:nvSpPr>
          <p:cNvPr id="5" name="Shape 3"/>
          <p:cNvSpPr/>
          <p:nvPr/>
        </p:nvSpPr>
        <p:spPr>
          <a:xfrm>
            <a:off x="7315200" y="1737360"/>
            <a:ext cx="4297680" cy="4297680"/>
          </a:xfrm>
          <a:prstGeom prst="rect">
            <a:avLst/>
          </a:prstGeom>
          <a:solidFill>
            <a:srgbClr val="0F172A"/>
          </a:solidFill>
          <a:ln w="12700">
            <a:solidFill>
              <a:srgbClr val="333333"/>
            </a:solidFill>
            <a:prstDash val="solid"/>
          </a:ln>
        </p:spPr>
      </p:sp>
      <p:sp>
        <p:nvSpPr>
          <p:cNvPr id="6" name="Shape 4"/>
          <p:cNvSpPr/>
          <p:nvPr/>
        </p:nvSpPr>
        <p:spPr>
          <a:xfrm>
            <a:off x="7315200" y="1737360"/>
            <a:ext cx="4297680" cy="365760"/>
          </a:xfrm>
          <a:prstGeom prst="rect">
            <a:avLst/>
          </a:prstGeom>
          <a:solidFill>
            <a:srgbClr val="1E293B"/>
          </a:solidFill>
          <a:ln w="12700">
            <a:solidFill>
              <a:srgbClr val="333333"/>
            </a:solidFill>
            <a:prstDash val="solid"/>
          </a:ln>
        </p:spPr>
      </p:sp>
      <p:sp>
        <p:nvSpPr>
          <p:cNvPr id="7" name="Text 5"/>
          <p:cNvSpPr/>
          <p:nvPr/>
        </p:nvSpPr>
        <p:spPr>
          <a:xfrm>
            <a:off x="7498080" y="1737360"/>
            <a:ext cx="4114800" cy="365760"/>
          </a:xfrm>
          <a:prstGeom prst="rect">
            <a:avLst/>
          </a:prstGeom>
          <a:noFill/>
          <a:ln/>
        </p:spPr>
        <p:txBody>
          <a:bodyPr wrap="square" lIns="0" tIns="0" rIns="0" bIns="0" rtlCol="0" anchor="ctr"/>
          <a:lstStyle/>
          <a:p>
            <a:pPr indent="0" marL="0">
              <a:buNone/>
            </a:pPr>
            <a:r>
              <a:rPr lang="en-US" sz="1000" dirty="0">
                <a:solidFill>
                  <a:srgbClr val="94A3B8"/>
                </a:solidFill>
                <a:latin typeface="Consolas" pitchFamily="34" charset="0"/>
                <a:ea typeface="Consolas" pitchFamily="34" charset="-122"/>
                <a:cs typeface="Consolas" pitchFamily="34" charset="-120"/>
              </a:rPr>
              <a:t>opacus_error.py</a:t>
            </a:r>
            <a:endParaRPr lang="en-US" sz="1000" dirty="0"/>
          </a:p>
        </p:txBody>
      </p:sp>
      <p:sp>
        <p:nvSpPr>
          <p:cNvPr id="8" name="Text 6"/>
          <p:cNvSpPr/>
          <p:nvPr/>
        </p:nvSpPr>
        <p:spPr>
          <a:xfrm>
            <a:off x="7543800" y="2240280"/>
            <a:ext cx="4023360" cy="3749040"/>
          </a:xfrm>
          <a:prstGeom prst="rect">
            <a:avLst/>
          </a:prstGeom>
          <a:noFill/>
          <a:ln/>
        </p:spPr>
        <p:txBody>
          <a:bodyPr wrap="square" lIns="0" tIns="0" rIns="0" bIns="0" rtlCol="0" anchor="ctr"/>
          <a:lstStyle/>
          <a:p>
            <a:pPr indent="0" marL="0">
              <a:buNone/>
            </a:pPr>
            <a:r>
              <a:rPr lang="en-US" sz="1100" dirty="0">
                <a:solidFill>
                  <a:srgbClr val="F472B6"/>
                </a:solidFill>
                <a:latin typeface="Consolas" pitchFamily="34" charset="0"/>
                <a:ea typeface="Consolas" pitchFamily="34" charset="-122"/>
                <a:cs typeface="Consolas" pitchFamily="34" charset="-120"/>
              </a:rPr>
              <a:t>from</a:t>
            </a:r>
            <a:pPr indent="0" marL="0">
              <a:buNone/>
            </a:pPr>
            <a:r>
              <a:rPr lang="en-US" sz="1100" dirty="0">
                <a:solidFill>
                  <a:srgbClr val="E2E8F0"/>
                </a:solidFill>
                <a:latin typeface="Consolas" pitchFamily="34" charset="0"/>
                <a:ea typeface="Consolas" pitchFamily="34" charset="-122"/>
                <a:cs typeface="Consolas" pitchFamily="34" charset="-120"/>
              </a:rPr>
              <a:t> opacus </a:t>
            </a:r>
            <a:pPr indent="0" marL="0">
              <a:buNone/>
            </a:pPr>
            <a:r>
              <a:rPr lang="en-US" sz="1100" dirty="0">
                <a:solidFill>
                  <a:srgbClr val="F472B6"/>
                </a:solidFill>
                <a:latin typeface="Consolas" pitchFamily="34" charset="0"/>
                <a:ea typeface="Consolas" pitchFamily="34" charset="-122"/>
                <a:cs typeface="Consolas" pitchFamily="34" charset="-120"/>
              </a:rPr>
              <a:t>import</a:t>
            </a:r>
            <a:pPr indent="0" marL="0">
              <a:buNone/>
            </a:pPr>
            <a:r>
              <a:rPr lang="en-US" sz="1100" dirty="0">
                <a:solidFill>
                  <a:srgbClr val="E2E8F0"/>
                </a:solidFill>
                <a:latin typeface="Consolas" pitchFamily="34" charset="0"/>
                <a:ea typeface="Consolas" pitchFamily="34" charset="-122"/>
                <a:cs typeface="Consolas" pitchFamily="34" charset="-120"/>
              </a:rPr>
              <a:t> PrivacyEngine</a:t>
            </a:r>
            <a:endParaRPr lang="en-US" sz="1100" dirty="0"/>
          </a:p>
          <a:p>
            <a:pPr indent="0" marL="0">
              <a:buNone/>
            </a:pPr>
            <a:endParaRPr lang="en-US" sz="1100" dirty="0"/>
          </a:p>
          <a:p>
            <a:pPr indent="0" marL="0">
              <a:buNone/>
            </a:pPr>
            <a:r>
              <a:rPr lang="en-US" sz="1100" dirty="0">
                <a:solidFill>
                  <a:srgbClr val="E2E8F0"/>
                </a:solidFill>
                <a:latin typeface="Consolas" pitchFamily="34" charset="0"/>
                <a:ea typeface="Consolas" pitchFamily="34" charset="-122"/>
                <a:cs typeface="Consolas" pitchFamily="34" charset="-120"/>
              </a:rPr>
              <a:t>model = CNN1D()  </a:t>
            </a:r>
            <a:pPr indent="0" marL="0">
              <a:buNone/>
            </a:pPr>
            <a:r>
              <a:rPr lang="en-US" sz="1100" dirty="0">
                <a:solidFill>
                  <a:srgbClr val="64748B"/>
                </a:solidFill>
                <a:latin typeface="Consolas" pitchFamily="34" charset="0"/>
                <a:ea typeface="Consolas" pitchFamily="34" charset="-122"/>
                <a:cs typeface="Consolas" pitchFamily="34" charset="-120"/>
              </a:rPr>
              <a:t># has BatchNorm1d layers</a:t>
            </a:r>
            <a:endParaRPr lang="en-US" sz="1100" dirty="0"/>
          </a:p>
          <a:p>
            <a:pPr indent="0" marL="0">
              <a:buNone/>
            </a:pPr>
            <a:r>
              <a:rPr lang="en-US" sz="1100" dirty="0">
                <a:solidFill>
                  <a:srgbClr val="E2E8F0"/>
                </a:solidFill>
                <a:latin typeface="Consolas" pitchFamily="34" charset="0"/>
                <a:ea typeface="Consolas" pitchFamily="34" charset="-122"/>
                <a:cs typeface="Consolas" pitchFamily="34" charset="-120"/>
              </a:rPr>
              <a:t>engine = PrivacyEngine()</a:t>
            </a:r>
            <a:endParaRPr lang="en-US" sz="1100" dirty="0"/>
          </a:p>
          <a:p>
            <a:pPr indent="0" marL="0">
              <a:buNone/>
            </a:pPr>
            <a:r>
              <a:rPr lang="en-US" sz="1100" dirty="0">
                <a:solidFill>
                  <a:srgbClr val="E2E8F0"/>
                </a:solidFill>
                <a:latin typeface="Consolas" pitchFamily="34" charset="0"/>
                <a:ea typeface="Consolas" pitchFamily="34" charset="-122"/>
                <a:cs typeface="Consolas" pitchFamily="34" charset="-120"/>
              </a:rPr>
              <a:t>model, opt, dl = engine.make_private(...)</a:t>
            </a:r>
            <a:endParaRPr lang="en-US" sz="1100" dirty="0"/>
          </a:p>
          <a:p>
            <a:pPr indent="0" marL="0">
              <a:buNone/>
            </a:pPr>
            <a:endParaRPr lang="en-US" sz="1100" dirty="0"/>
          </a:p>
          <a:p>
            <a:pPr indent="0" marL="0">
              <a:buNone/>
            </a:pPr>
            <a:r>
              <a:rPr lang="en-US" sz="1100" b="1" dirty="0">
                <a:solidFill>
                  <a:srgbClr val="F87171"/>
                </a:solidFill>
                <a:latin typeface="Consolas" pitchFamily="34" charset="0"/>
                <a:ea typeface="Consolas" pitchFamily="34" charset="-122"/>
                <a:cs typeface="Consolas" pitchFamily="34" charset="-120"/>
              </a:rPr>
              <a:t>UnsupportedModuleError:</a:t>
            </a:r>
            <a:endParaRPr lang="en-US" sz="1100" dirty="0"/>
          </a:p>
          <a:p>
            <a:pPr indent="0" marL="0">
              <a:buNone/>
            </a:pPr>
            <a:r>
              <a:rPr lang="en-US" sz="1100" dirty="0">
                <a:solidFill>
                  <a:srgbClr val="FCA5A5"/>
                </a:solidFill>
                <a:latin typeface="Consolas" pitchFamily="34" charset="0"/>
                <a:ea typeface="Consolas" pitchFamily="34" charset="-122"/>
                <a:cs typeface="Consolas" pitchFamily="34" charset="-120"/>
              </a:rPr>
              <a:t>Model contains BatchNormNd layer</a:t>
            </a:r>
            <a:endParaRPr lang="en-US" sz="1100" dirty="0"/>
          </a:p>
          <a:p>
            <a:pPr indent="0" marL="0">
              <a:buNone/>
            </a:pPr>
            <a:r>
              <a:rPr lang="en-US" sz="1100" dirty="0">
                <a:solidFill>
                  <a:srgbClr val="FCA5A5"/>
                </a:solidFill>
                <a:latin typeface="Consolas" pitchFamily="34" charset="0"/>
                <a:ea typeface="Consolas" pitchFamily="34" charset="-122"/>
                <a:cs typeface="Consolas" pitchFamily="34" charset="-120"/>
              </a:rPr>
              <a:t>which is not supported.</a:t>
            </a:r>
            <a:endParaRPr lang="en-US" sz="1100" dirty="0"/>
          </a:p>
          <a:p>
            <a:pPr indent="0" marL="0">
              <a:buNone/>
            </a:pPr>
            <a:endParaRPr lang="en-US" sz="1100" dirty="0"/>
          </a:p>
          <a:p>
            <a:pPr indent="0" marL="0">
              <a:buNone/>
            </a:pPr>
            <a:r>
              <a:rPr lang="en-US" sz="1100" dirty="0">
                <a:solidFill>
                  <a:srgbClr val="64748B"/>
                </a:solidFill>
                <a:latin typeface="Consolas" pitchFamily="34" charset="0"/>
                <a:ea typeface="Consolas" pitchFamily="34" charset="-122"/>
                <a:cs typeface="Consolas" pitchFamily="34" charset="-120"/>
              </a:rPr>
              <a:t># Standard workaround: replace BN</a:t>
            </a:r>
            <a:endParaRPr lang="en-US" sz="1100" dirty="0"/>
          </a:p>
          <a:p>
            <a:pPr indent="0" marL="0">
              <a:buNone/>
            </a:pPr>
            <a:r>
              <a:rPr lang="en-US" sz="1100" dirty="0">
                <a:solidFill>
                  <a:srgbClr val="64748B"/>
                </a:solidFill>
                <a:latin typeface="Consolas" pitchFamily="34" charset="0"/>
                <a:ea typeface="Consolas" pitchFamily="34" charset="-122"/>
                <a:cs typeface="Consolas" pitchFamily="34" charset="-120"/>
              </a:rPr>
              <a:t># with GroupNorm — but that breaks</a:t>
            </a:r>
            <a:endParaRPr lang="en-US" sz="1100" dirty="0"/>
          </a:p>
          <a:p>
            <a:pPr indent="0" marL="0">
              <a:buNone/>
            </a:pPr>
            <a:r>
              <a:rPr lang="en-US" sz="1100" dirty="0">
                <a:solidFill>
                  <a:srgbClr val="64748B"/>
                </a:solidFill>
                <a:latin typeface="Consolas" pitchFamily="34" charset="0"/>
                <a:ea typeface="Consolas" pitchFamily="34" charset="-122"/>
                <a:cs typeface="Consolas" pitchFamily="34" charset="-120"/>
              </a:rPr>
              <a:t># FedBN's personalization mechanism.</a:t>
            </a:r>
            <a:endParaRPr lang="en-US" sz="1100" dirty="0"/>
          </a:p>
        </p:txBody>
      </p:sp>
      <p:sp>
        <p:nvSpPr>
          <p:cNvPr id="9" name="Text 7"/>
          <p:cNvSpPr/>
          <p:nvPr/>
        </p:nvSpPr>
        <p:spPr>
          <a:xfrm>
            <a:off x="457200" y="6492240"/>
            <a:ext cx="8229600" cy="274320"/>
          </a:xfrm>
          <a:prstGeom prst="rect">
            <a:avLst/>
          </a:prstGeom>
          <a:noFill/>
          <a:ln/>
        </p:spPr>
        <p:txBody>
          <a:bodyPr wrap="square" lIns="0" tIns="0" rIns="0" bIns="0" rtlCol="0" anchor="ctr"/>
          <a:lstStyle/>
          <a:p>
            <a:pPr indent="0" marL="0">
              <a:buNone/>
            </a:pPr>
            <a:r>
              <a:rPr lang="en-US" sz="900" dirty="0">
                <a:solidFill>
                  <a:srgbClr val="94A3B8"/>
                </a:solidFill>
                <a:latin typeface="Calibri" pitchFamily="34" charset="0"/>
                <a:ea typeface="Calibri" pitchFamily="34" charset="-122"/>
                <a:cs typeface="Calibri" pitchFamily="34" charset="-120"/>
              </a:rPr>
              <a:t>Efe Deniz Bağlar  ·  Undergraduate Thesis  ·  Ege University · Computer Engineering</a:t>
            </a:r>
            <a:endParaRPr lang="en-US" sz="900" dirty="0"/>
          </a:p>
        </p:txBody>
      </p:sp>
      <p:sp>
        <p:nvSpPr>
          <p:cNvPr id="10" name="Text 8"/>
          <p:cNvSpPr/>
          <p:nvPr/>
        </p:nvSpPr>
        <p:spPr>
          <a:xfrm>
            <a:off x="10820095" y="6492240"/>
            <a:ext cx="914400" cy="274320"/>
          </a:xfrm>
          <a:prstGeom prst="rect">
            <a:avLst/>
          </a:prstGeom>
          <a:noFill/>
          <a:ln/>
        </p:spPr>
        <p:txBody>
          <a:bodyPr wrap="square" lIns="0" tIns="0" rIns="0" bIns="0" rtlCol="0" anchor="ctr"/>
          <a:lstStyle/>
          <a:p>
            <a:pPr algn="r" indent="0" marL="0">
              <a:buNone/>
            </a:pPr>
            <a:r>
              <a:rPr lang="en-US" sz="900" dirty="0">
                <a:solidFill>
                  <a:srgbClr val="94A3B8"/>
                </a:solidFill>
                <a:latin typeface="Calibri" pitchFamily="34" charset="0"/>
                <a:ea typeface="Calibri" pitchFamily="34" charset="-122"/>
                <a:cs typeface="Calibri" pitchFamily="34" charset="-120"/>
              </a:rPr>
              <a:t>3 / 11</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65760"/>
            <a:ext cx="11094415" cy="822960"/>
          </a:xfrm>
          <a:prstGeom prst="rect">
            <a:avLst/>
          </a:prstGeom>
          <a:noFill/>
          <a:ln/>
        </p:spPr>
        <p:txBody>
          <a:bodyPr wrap="square" lIns="0" tIns="0" rIns="0" bIns="0" rtlCol="0" anchor="ctr"/>
          <a:lstStyle/>
          <a:p>
            <a:pPr indent="0" marL="0">
              <a:buNone/>
            </a:pPr>
            <a:r>
              <a:rPr lang="en-US" sz="3200" b="1" dirty="0">
                <a:solidFill>
                  <a:srgbClr val="1E2761"/>
                </a:solidFill>
                <a:latin typeface="Calibri" pitchFamily="34" charset="0"/>
                <a:ea typeface="Calibri" pitchFamily="34" charset="-122"/>
                <a:cs typeface="Calibri" pitchFamily="34" charset="-120"/>
              </a:rPr>
              <a:t>Our Construction  ·  DP-FedBN Dual-Optimizer</a:t>
            </a:r>
            <a:endParaRPr lang="en-US" sz="3200" dirty="0"/>
          </a:p>
        </p:txBody>
      </p:sp>
      <p:sp>
        <p:nvSpPr>
          <p:cNvPr id="3" name="Shape 1"/>
          <p:cNvSpPr/>
          <p:nvPr/>
        </p:nvSpPr>
        <p:spPr>
          <a:xfrm>
            <a:off x="548640" y="1188720"/>
            <a:ext cx="1097280" cy="54864"/>
          </a:xfrm>
          <a:prstGeom prst="rect">
            <a:avLst/>
          </a:prstGeom>
          <a:solidFill>
            <a:srgbClr val="065A82"/>
          </a:solidFill>
          <a:ln w="12700">
            <a:solidFill>
              <a:srgbClr val="065A82"/>
            </a:solidFill>
            <a:prstDash val="solid"/>
          </a:ln>
        </p:spPr>
      </p:sp>
      <p:sp>
        <p:nvSpPr>
          <p:cNvPr id="4" name="Text 2"/>
          <p:cNvSpPr/>
          <p:nvPr/>
        </p:nvSpPr>
        <p:spPr>
          <a:xfrm>
            <a:off x="640080" y="1645920"/>
            <a:ext cx="5943600" cy="4572000"/>
          </a:xfrm>
          <a:prstGeom prst="rect">
            <a:avLst/>
          </a:prstGeom>
          <a:noFill/>
          <a:ln/>
        </p:spPr>
        <p:txBody>
          <a:bodyPr wrap="square" lIns="0" tIns="0" rIns="0" bIns="0" rtlCol="0" anchor="ctr"/>
          <a:lstStyle/>
          <a:p>
            <a:pPr indent="0" marL="0">
              <a:spcAft>
                <a:spcPts val="400"/>
              </a:spcAft>
              <a:buNone/>
            </a:pPr>
            <a:r>
              <a:rPr lang="en-US" sz="1500" b="1" dirty="0">
                <a:solidFill>
                  <a:srgbClr val="065A82"/>
                </a:solidFill>
                <a:latin typeface="Calibri" pitchFamily="34" charset="0"/>
                <a:ea typeface="Calibri" pitchFamily="34" charset="-122"/>
                <a:cs typeface="Calibri" pitchFamily="34" charset="-120"/>
              </a:rPr>
              <a:t>Key observation:</a:t>
            </a:r>
            <a:endParaRPr lang="en-US" sz="1500" dirty="0"/>
          </a:p>
          <a:p>
            <a:pPr indent="0" marL="0">
              <a:spcAft>
                <a:spcPts val="400"/>
              </a:spcAft>
              <a:buNone/>
            </a:pPr>
            <a:r>
              <a:rPr lang="en-US" sz="1300" dirty="0">
                <a:solidFill>
                  <a:srgbClr val="1A1F36"/>
                </a:solidFill>
                <a:latin typeface="Calibri" pitchFamily="34" charset="0"/>
                <a:ea typeface="Calibri" pitchFamily="34" charset="-122"/>
                <a:cs typeface="Calibri" pitchFamily="34" charset="-120"/>
              </a:rPr>
              <a:t>Under the FedBN protocol, BN parameters never cross the federation boundary — so they need no DP protection in this threat model.</a:t>
            </a:r>
            <a:endParaRPr lang="en-US" sz="1500" dirty="0"/>
          </a:p>
          <a:p>
            <a:pPr indent="0" marL="0">
              <a:spcAft>
                <a:spcPts val="400"/>
              </a:spcAft>
              <a:buNone/>
            </a:pPr>
            <a:endParaRPr lang="en-US" sz="1500" dirty="0"/>
          </a:p>
          <a:p>
            <a:pPr indent="0" marL="0">
              <a:spcAft>
                <a:spcPts val="400"/>
              </a:spcAft>
              <a:buNone/>
            </a:pPr>
            <a:r>
              <a:rPr lang="en-US" sz="1400" b="1" dirty="0">
                <a:solidFill>
                  <a:srgbClr val="1E2761"/>
                </a:solidFill>
                <a:latin typeface="Calibri" pitchFamily="34" charset="0"/>
                <a:ea typeface="Calibri" pitchFamily="34" charset="-122"/>
                <a:cs typeface="Calibri" pitchFamily="34" charset="-120"/>
              </a:rPr>
              <a:t>Construction (four steps):</a:t>
            </a:r>
            <a:endParaRPr lang="en-US" sz="1500" dirty="0"/>
          </a:p>
          <a:p>
            <a:pPr indent="0" marL="0">
              <a:spcAft>
                <a:spcPts val="400"/>
              </a:spcAft>
              <a:buNone/>
            </a:pPr>
            <a:r>
              <a:rPr lang="en-US" sz="1300" dirty="0">
                <a:solidFill>
                  <a:srgbClr val="1A1F36"/>
                </a:solidFill>
                <a:latin typeface="Calibri" pitchFamily="34" charset="0"/>
                <a:ea typeface="Calibri" pitchFamily="34" charset="-122"/>
                <a:cs typeface="Calibri" pitchFamily="34" charset="-120"/>
              </a:rPr>
              <a:t>1.  Freeze BN parameters before privacy-engine wrap</a:t>
            </a:r>
            <a:endParaRPr lang="en-US" sz="1500" dirty="0"/>
          </a:p>
          <a:p>
            <a:pPr indent="0" marL="0">
              <a:spcAft>
                <a:spcPts val="400"/>
              </a:spcAft>
              <a:buNone/>
            </a:pPr>
            <a:r>
              <a:rPr lang="en-US" sz="1300" dirty="0">
                <a:solidFill>
                  <a:srgbClr val="1A1F36"/>
                </a:solidFill>
                <a:latin typeface="Calibri" pitchFamily="34" charset="0"/>
                <a:ea typeface="Calibri" pitchFamily="34" charset="-122"/>
                <a:cs typeface="Calibri" pitchFamily="34" charset="-120"/>
              </a:rPr>
              <a:t>2.  Opacus's ModuleValidator now accepts the model (BN params have no grad)</a:t>
            </a:r>
            <a:endParaRPr lang="en-US" sz="1500" dirty="0"/>
          </a:p>
          <a:p>
            <a:pPr indent="0" marL="0">
              <a:spcAft>
                <a:spcPts val="400"/>
              </a:spcAft>
              <a:buNone/>
            </a:pPr>
            <a:r>
              <a:rPr lang="en-US" sz="1300" dirty="0">
                <a:solidFill>
                  <a:srgbClr val="1A1F36"/>
                </a:solidFill>
                <a:latin typeface="Calibri" pitchFamily="34" charset="0"/>
                <a:ea typeface="Calibri" pitchFamily="34" charset="-122"/>
                <a:cs typeface="Calibri" pitchFamily="34" charset="-120"/>
              </a:rPr>
              <a:t>3.  Unfreeze BN; create two separate optimizers — DP-SGD for non-BN, plain SGD for BN</a:t>
            </a:r>
            <a:endParaRPr lang="en-US" sz="1500" dirty="0"/>
          </a:p>
          <a:p>
            <a:pPr indent="0" marL="0">
              <a:spcAft>
                <a:spcPts val="400"/>
              </a:spcAft>
              <a:buNone/>
            </a:pPr>
            <a:r>
              <a:rPr lang="en-US" sz="1300" dirty="0">
                <a:solidFill>
                  <a:srgbClr val="1A1F36"/>
                </a:solidFill>
                <a:latin typeface="Calibri" pitchFamily="34" charset="0"/>
                <a:ea typeface="Calibri" pitchFamily="34" charset="-122"/>
                <a:cs typeface="Calibri" pitchFamily="34" charset="-120"/>
              </a:rPr>
              <a:t>4.  Run FedBN protocol: BN parameters stay local; only non-BN parameters enter aggregation</a:t>
            </a:r>
            <a:endParaRPr lang="en-US" sz="1500" dirty="0"/>
          </a:p>
          <a:p>
            <a:pPr indent="0" marL="0">
              <a:spcAft>
                <a:spcPts val="400"/>
              </a:spcAft>
              <a:buNone/>
            </a:pPr>
            <a:endParaRPr lang="en-US" sz="1500" dirty="0"/>
          </a:p>
          <a:p>
            <a:pPr indent="0" marL="0">
              <a:spcAft>
                <a:spcPts val="400"/>
              </a:spcAft>
              <a:buNone/>
            </a:pPr>
            <a:r>
              <a:rPr lang="en-US" sz="1400" b="1" dirty="0">
                <a:solidFill>
                  <a:srgbClr val="0E9594"/>
                </a:solidFill>
                <a:latin typeface="Calibri" pitchFamily="34" charset="0"/>
                <a:ea typeface="Calibri" pitchFamily="34" charset="-122"/>
                <a:cs typeface="Calibri" pitchFamily="34" charset="-120"/>
              </a:rPr>
              <a:t>Result:</a:t>
            </a:r>
            <a:endParaRPr lang="en-US" sz="1500" dirty="0"/>
          </a:p>
          <a:p>
            <a:pPr indent="0" marL="0">
              <a:spcAft>
                <a:spcPts val="400"/>
              </a:spcAft>
              <a:buNone/>
            </a:pPr>
            <a:r>
              <a:rPr lang="en-US" sz="1300" dirty="0">
                <a:solidFill>
                  <a:srgbClr val="1A1F36"/>
                </a:solidFill>
                <a:latin typeface="Calibri" pitchFamily="34" charset="0"/>
                <a:ea typeface="Calibri" pitchFamily="34" charset="-122"/>
                <a:cs typeface="Calibri" pitchFamily="34" charset="-120"/>
              </a:rPr>
              <a:t>Off-the-shelf Opacus 1.5 + record-level DP-SGD + preserved FedBN personalization, all in one model.</a:t>
            </a:r>
            <a:endParaRPr lang="en-US" sz="1500" dirty="0"/>
          </a:p>
        </p:txBody>
      </p:sp>
      <p:sp>
        <p:nvSpPr>
          <p:cNvPr id="5" name="Text 3"/>
          <p:cNvSpPr/>
          <p:nvPr/>
        </p:nvSpPr>
        <p:spPr>
          <a:xfrm>
            <a:off x="6949440" y="1783080"/>
            <a:ext cx="4754880" cy="365760"/>
          </a:xfrm>
          <a:prstGeom prst="rect">
            <a:avLst/>
          </a:prstGeom>
          <a:noFill/>
          <a:ln/>
        </p:spPr>
        <p:txBody>
          <a:bodyPr wrap="square" lIns="0" tIns="0" rIns="0" bIns="0" rtlCol="0" anchor="ctr"/>
          <a:lstStyle/>
          <a:p>
            <a:pPr algn="ctr" indent="0" marL="0">
              <a:buNone/>
            </a:pPr>
            <a:r>
              <a:rPr lang="en-US" sz="1300" b="1" dirty="0">
                <a:solidFill>
                  <a:srgbClr val="1E2761"/>
                </a:solidFill>
                <a:latin typeface="Calibri" pitchFamily="34" charset="0"/>
                <a:ea typeface="Calibri" pitchFamily="34" charset="-122"/>
                <a:cs typeface="Calibri" pitchFamily="34" charset="-120"/>
              </a:rPr>
              <a:t>Model Parameter Flow</a:t>
            </a:r>
            <a:endParaRPr lang="en-US" sz="1300" dirty="0"/>
          </a:p>
        </p:txBody>
      </p:sp>
      <p:sp>
        <p:nvSpPr>
          <p:cNvPr id="6" name="Shape 4"/>
          <p:cNvSpPr/>
          <p:nvPr/>
        </p:nvSpPr>
        <p:spPr>
          <a:xfrm>
            <a:off x="8138160" y="2331720"/>
            <a:ext cx="2377440" cy="640080"/>
          </a:xfrm>
          <a:prstGeom prst="rect">
            <a:avLst/>
          </a:prstGeom>
          <a:solidFill>
            <a:srgbClr val="F8FAFC"/>
          </a:solidFill>
          <a:ln w="19050">
            <a:solidFill>
              <a:srgbClr val="1E2761"/>
            </a:solidFill>
            <a:prstDash val="solid"/>
          </a:ln>
        </p:spPr>
      </p:sp>
      <p:sp>
        <p:nvSpPr>
          <p:cNvPr id="7" name="Text 5"/>
          <p:cNvSpPr/>
          <p:nvPr/>
        </p:nvSpPr>
        <p:spPr>
          <a:xfrm>
            <a:off x="8138160" y="2331720"/>
            <a:ext cx="2377440" cy="640080"/>
          </a:xfrm>
          <a:prstGeom prst="rect">
            <a:avLst/>
          </a:prstGeom>
          <a:noFill/>
          <a:ln/>
        </p:spPr>
        <p:txBody>
          <a:bodyPr wrap="square" lIns="0" tIns="0" rIns="0" bIns="0" rtlCol="0" anchor="ctr"/>
          <a:lstStyle/>
          <a:p>
            <a:pPr algn="ctr" indent="0" marL="0">
              <a:buNone/>
            </a:pPr>
            <a:r>
              <a:rPr lang="en-US" sz="1300" b="1" dirty="0">
                <a:solidFill>
                  <a:srgbClr val="1E2761"/>
                </a:solidFill>
                <a:latin typeface="Calibri" pitchFamily="34" charset="0"/>
                <a:ea typeface="Calibri" pitchFamily="34" charset="-122"/>
                <a:cs typeface="Calibri" pitchFamily="34" charset="-120"/>
              </a:rPr>
              <a:t>CNN1D Model</a:t>
            </a:r>
            <a:endParaRPr lang="en-US" sz="1300" dirty="0"/>
          </a:p>
        </p:txBody>
      </p:sp>
      <p:sp>
        <p:nvSpPr>
          <p:cNvPr id="8" name="Shape 6"/>
          <p:cNvSpPr/>
          <p:nvPr/>
        </p:nvSpPr>
        <p:spPr>
          <a:xfrm>
            <a:off x="7132320" y="3337560"/>
            <a:ext cx="2194560" cy="502920"/>
          </a:xfrm>
          <a:prstGeom prst="rect">
            <a:avLst/>
          </a:prstGeom>
          <a:solidFill>
            <a:srgbClr val="1C7293"/>
          </a:solidFill>
          <a:ln w="12700">
            <a:solidFill>
              <a:srgbClr val="333333"/>
            </a:solidFill>
            <a:prstDash val="solid"/>
          </a:ln>
        </p:spPr>
      </p:sp>
      <p:sp>
        <p:nvSpPr>
          <p:cNvPr id="9" name="Text 7"/>
          <p:cNvSpPr/>
          <p:nvPr/>
        </p:nvSpPr>
        <p:spPr>
          <a:xfrm>
            <a:off x="7132320" y="3337560"/>
            <a:ext cx="2194560" cy="5029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BN parameters</a:t>
            </a:r>
            <a:endParaRPr lang="en-US" sz="1100" dirty="0"/>
          </a:p>
        </p:txBody>
      </p:sp>
      <p:sp>
        <p:nvSpPr>
          <p:cNvPr id="10" name="Shape 8"/>
          <p:cNvSpPr/>
          <p:nvPr/>
        </p:nvSpPr>
        <p:spPr>
          <a:xfrm>
            <a:off x="8229600" y="3886200"/>
            <a:ext cx="0" cy="274320"/>
          </a:xfrm>
          <a:prstGeom prst="line">
            <a:avLst/>
          </a:prstGeom>
          <a:noFill/>
          <a:ln w="25400">
            <a:solidFill>
              <a:srgbClr val="1C7293"/>
            </a:solidFill>
            <a:prstDash val="solid"/>
          </a:ln>
        </p:spPr>
      </p:sp>
      <p:sp>
        <p:nvSpPr>
          <p:cNvPr id="11" name="Shape 9"/>
          <p:cNvSpPr/>
          <p:nvPr/>
        </p:nvSpPr>
        <p:spPr>
          <a:xfrm>
            <a:off x="7132320" y="4206240"/>
            <a:ext cx="2194560" cy="457200"/>
          </a:xfrm>
          <a:prstGeom prst="rect">
            <a:avLst/>
          </a:prstGeom>
          <a:solidFill>
            <a:srgbClr val="FFFFFF"/>
          </a:solidFill>
          <a:ln w="19050">
            <a:solidFill>
              <a:srgbClr val="1C7293"/>
            </a:solidFill>
            <a:prstDash val="solid"/>
          </a:ln>
        </p:spPr>
      </p:sp>
      <p:sp>
        <p:nvSpPr>
          <p:cNvPr id="12" name="Text 10"/>
          <p:cNvSpPr/>
          <p:nvPr/>
        </p:nvSpPr>
        <p:spPr>
          <a:xfrm>
            <a:off x="7132320" y="4206240"/>
            <a:ext cx="2194560" cy="457200"/>
          </a:xfrm>
          <a:prstGeom prst="rect">
            <a:avLst/>
          </a:prstGeom>
          <a:noFill/>
          <a:ln/>
        </p:spPr>
        <p:txBody>
          <a:bodyPr wrap="square" lIns="0" tIns="0" rIns="0" bIns="0" rtlCol="0" anchor="ctr"/>
          <a:lstStyle/>
          <a:p>
            <a:pPr algn="ctr" indent="0" marL="0">
              <a:buNone/>
            </a:pPr>
            <a:r>
              <a:rPr lang="en-US" sz="1000" i="1" dirty="0">
                <a:solidFill>
                  <a:srgbClr val="1C7293"/>
                </a:solidFill>
                <a:latin typeface="Calibri" pitchFamily="34" charset="0"/>
                <a:ea typeface="Calibri" pitchFamily="34" charset="-122"/>
                <a:cs typeface="Calibri" pitchFamily="34" charset="-120"/>
              </a:rPr>
              <a:t>plain SGD (no noise)</a:t>
            </a:r>
            <a:endParaRPr lang="en-US" sz="1000" dirty="0"/>
          </a:p>
        </p:txBody>
      </p:sp>
      <p:sp>
        <p:nvSpPr>
          <p:cNvPr id="13" name="Shape 11"/>
          <p:cNvSpPr/>
          <p:nvPr/>
        </p:nvSpPr>
        <p:spPr>
          <a:xfrm>
            <a:off x="8229600" y="4709160"/>
            <a:ext cx="0" cy="274320"/>
          </a:xfrm>
          <a:prstGeom prst="line">
            <a:avLst/>
          </a:prstGeom>
          <a:noFill/>
          <a:ln w="25400">
            <a:solidFill>
              <a:srgbClr val="1C7293"/>
            </a:solidFill>
            <a:prstDash val="solid"/>
          </a:ln>
        </p:spPr>
      </p:sp>
      <p:sp>
        <p:nvSpPr>
          <p:cNvPr id="14" name="Shape 12"/>
          <p:cNvSpPr/>
          <p:nvPr/>
        </p:nvSpPr>
        <p:spPr>
          <a:xfrm>
            <a:off x="7132320" y="5029200"/>
            <a:ext cx="2194560" cy="502920"/>
          </a:xfrm>
          <a:prstGeom prst="rect">
            <a:avLst/>
          </a:prstGeom>
          <a:solidFill>
            <a:srgbClr val="FFFFFF"/>
          </a:solidFill>
          <a:ln w="19050">
            <a:solidFill>
              <a:srgbClr val="1C7293"/>
            </a:solidFill>
            <a:prstDash val="dash"/>
          </a:ln>
        </p:spPr>
      </p:sp>
      <p:sp>
        <p:nvSpPr>
          <p:cNvPr id="15" name="Text 13"/>
          <p:cNvSpPr/>
          <p:nvPr/>
        </p:nvSpPr>
        <p:spPr>
          <a:xfrm>
            <a:off x="7132320" y="5029200"/>
            <a:ext cx="2194560" cy="502920"/>
          </a:xfrm>
          <a:prstGeom prst="rect">
            <a:avLst/>
          </a:prstGeom>
          <a:noFill/>
          <a:ln/>
        </p:spPr>
        <p:txBody>
          <a:bodyPr wrap="square" lIns="0" tIns="0" rIns="0" bIns="0" rtlCol="0" anchor="ctr"/>
          <a:lstStyle/>
          <a:p>
            <a:pPr algn="ctr" indent="0" marL="0">
              <a:buNone/>
            </a:pPr>
            <a:r>
              <a:rPr lang="en-US" sz="1100" b="1" dirty="0">
                <a:solidFill>
                  <a:srgbClr val="1C7293"/>
                </a:solidFill>
                <a:latin typeface="Calibri" pitchFamily="34" charset="0"/>
                <a:ea typeface="Calibri" pitchFamily="34" charset="-122"/>
                <a:cs typeface="Calibri" pitchFamily="34" charset="-120"/>
              </a:rPr>
              <a:t>Stays local</a:t>
            </a:r>
            <a:endParaRPr lang="en-US" sz="1100" dirty="0"/>
          </a:p>
        </p:txBody>
      </p:sp>
      <p:sp>
        <p:nvSpPr>
          <p:cNvPr id="16" name="Shape 14"/>
          <p:cNvSpPr/>
          <p:nvPr/>
        </p:nvSpPr>
        <p:spPr>
          <a:xfrm>
            <a:off x="9509760" y="3337560"/>
            <a:ext cx="2194560" cy="502920"/>
          </a:xfrm>
          <a:prstGeom prst="rect">
            <a:avLst/>
          </a:prstGeom>
          <a:solidFill>
            <a:srgbClr val="065A82"/>
          </a:solidFill>
          <a:ln w="12700">
            <a:solidFill>
              <a:srgbClr val="333333"/>
            </a:solidFill>
            <a:prstDash val="solid"/>
          </a:ln>
        </p:spPr>
      </p:sp>
      <p:sp>
        <p:nvSpPr>
          <p:cNvPr id="17" name="Text 15"/>
          <p:cNvSpPr/>
          <p:nvPr/>
        </p:nvSpPr>
        <p:spPr>
          <a:xfrm>
            <a:off x="9509760" y="3337560"/>
            <a:ext cx="2194560" cy="5029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non-BN parameters</a:t>
            </a:r>
            <a:endParaRPr lang="en-US" sz="1100" dirty="0"/>
          </a:p>
        </p:txBody>
      </p:sp>
      <p:sp>
        <p:nvSpPr>
          <p:cNvPr id="18" name="Shape 16"/>
          <p:cNvSpPr/>
          <p:nvPr/>
        </p:nvSpPr>
        <p:spPr>
          <a:xfrm>
            <a:off x="10607040" y="3886200"/>
            <a:ext cx="0" cy="274320"/>
          </a:xfrm>
          <a:prstGeom prst="line">
            <a:avLst/>
          </a:prstGeom>
          <a:noFill/>
          <a:ln w="25400">
            <a:solidFill>
              <a:srgbClr val="065A82"/>
            </a:solidFill>
            <a:prstDash val="solid"/>
          </a:ln>
        </p:spPr>
      </p:sp>
      <p:sp>
        <p:nvSpPr>
          <p:cNvPr id="19" name="Shape 17"/>
          <p:cNvSpPr/>
          <p:nvPr/>
        </p:nvSpPr>
        <p:spPr>
          <a:xfrm>
            <a:off x="9509760" y="4206240"/>
            <a:ext cx="2194560" cy="457200"/>
          </a:xfrm>
          <a:prstGeom prst="rect">
            <a:avLst/>
          </a:prstGeom>
          <a:solidFill>
            <a:srgbClr val="FFFFFF"/>
          </a:solidFill>
          <a:ln w="19050">
            <a:solidFill>
              <a:srgbClr val="065A82"/>
            </a:solidFill>
            <a:prstDash val="solid"/>
          </a:ln>
        </p:spPr>
      </p:sp>
      <p:sp>
        <p:nvSpPr>
          <p:cNvPr id="20" name="Text 18"/>
          <p:cNvSpPr/>
          <p:nvPr/>
        </p:nvSpPr>
        <p:spPr>
          <a:xfrm>
            <a:off x="9509760" y="4206240"/>
            <a:ext cx="2194560" cy="457200"/>
          </a:xfrm>
          <a:prstGeom prst="rect">
            <a:avLst/>
          </a:prstGeom>
          <a:noFill/>
          <a:ln/>
        </p:spPr>
        <p:txBody>
          <a:bodyPr wrap="square" lIns="0" tIns="0" rIns="0" bIns="0" rtlCol="0" anchor="ctr"/>
          <a:lstStyle/>
          <a:p>
            <a:pPr algn="ctr" indent="0" marL="0">
              <a:buNone/>
            </a:pPr>
            <a:r>
              <a:rPr lang="en-US" sz="1000" i="1" dirty="0">
                <a:solidFill>
                  <a:srgbClr val="065A82"/>
                </a:solidFill>
                <a:latin typeface="Calibri" pitchFamily="34" charset="0"/>
                <a:ea typeface="Calibri" pitchFamily="34" charset="-122"/>
                <a:cs typeface="Calibri" pitchFamily="34" charset="-120"/>
              </a:rPr>
              <a:t>DP-SGD (record-level)</a:t>
            </a:r>
            <a:endParaRPr lang="en-US" sz="1000" dirty="0"/>
          </a:p>
        </p:txBody>
      </p:sp>
      <p:sp>
        <p:nvSpPr>
          <p:cNvPr id="21" name="Shape 19"/>
          <p:cNvSpPr/>
          <p:nvPr/>
        </p:nvSpPr>
        <p:spPr>
          <a:xfrm>
            <a:off x="10607040" y="4709160"/>
            <a:ext cx="0" cy="274320"/>
          </a:xfrm>
          <a:prstGeom prst="line">
            <a:avLst/>
          </a:prstGeom>
          <a:noFill/>
          <a:ln w="25400">
            <a:solidFill>
              <a:srgbClr val="065A82"/>
            </a:solidFill>
            <a:prstDash val="solid"/>
          </a:ln>
        </p:spPr>
      </p:sp>
      <p:sp>
        <p:nvSpPr>
          <p:cNvPr id="22" name="Shape 20"/>
          <p:cNvSpPr/>
          <p:nvPr/>
        </p:nvSpPr>
        <p:spPr>
          <a:xfrm>
            <a:off x="9509760" y="5029200"/>
            <a:ext cx="2194560" cy="502920"/>
          </a:xfrm>
          <a:prstGeom prst="rect">
            <a:avLst/>
          </a:prstGeom>
          <a:solidFill>
            <a:srgbClr val="FFFFFF"/>
          </a:solidFill>
          <a:ln w="19050">
            <a:solidFill>
              <a:srgbClr val="065A82"/>
            </a:solidFill>
            <a:prstDash val="dash"/>
          </a:ln>
        </p:spPr>
      </p:sp>
      <p:sp>
        <p:nvSpPr>
          <p:cNvPr id="23" name="Text 21"/>
          <p:cNvSpPr/>
          <p:nvPr/>
        </p:nvSpPr>
        <p:spPr>
          <a:xfrm>
            <a:off x="9509760" y="5029200"/>
            <a:ext cx="2194560" cy="502920"/>
          </a:xfrm>
          <a:prstGeom prst="rect">
            <a:avLst/>
          </a:prstGeom>
          <a:noFill/>
          <a:ln/>
        </p:spPr>
        <p:txBody>
          <a:bodyPr wrap="square" lIns="0" tIns="0" rIns="0" bIns="0" rtlCol="0" anchor="ctr"/>
          <a:lstStyle/>
          <a:p>
            <a:pPr algn="ctr" indent="0" marL="0">
              <a:buNone/>
            </a:pPr>
            <a:r>
              <a:rPr lang="en-US" sz="1100" b="1" dirty="0">
                <a:solidFill>
                  <a:srgbClr val="065A82"/>
                </a:solidFill>
                <a:latin typeface="Calibri" pitchFamily="34" charset="0"/>
                <a:ea typeface="Calibri" pitchFamily="34" charset="-122"/>
                <a:cs typeface="Calibri" pitchFamily="34" charset="-120"/>
              </a:rPr>
              <a:t>Sent to server</a:t>
            </a:r>
            <a:endParaRPr lang="en-US" sz="1100" dirty="0"/>
          </a:p>
        </p:txBody>
      </p:sp>
      <p:sp>
        <p:nvSpPr>
          <p:cNvPr id="24" name="Text 22"/>
          <p:cNvSpPr/>
          <p:nvPr/>
        </p:nvSpPr>
        <p:spPr>
          <a:xfrm>
            <a:off x="457200" y="6492240"/>
            <a:ext cx="8229600" cy="274320"/>
          </a:xfrm>
          <a:prstGeom prst="rect">
            <a:avLst/>
          </a:prstGeom>
          <a:noFill/>
          <a:ln/>
        </p:spPr>
        <p:txBody>
          <a:bodyPr wrap="square" lIns="0" tIns="0" rIns="0" bIns="0" rtlCol="0" anchor="ctr"/>
          <a:lstStyle/>
          <a:p>
            <a:pPr indent="0" marL="0">
              <a:buNone/>
            </a:pPr>
            <a:r>
              <a:rPr lang="en-US" sz="900" dirty="0">
                <a:solidFill>
                  <a:srgbClr val="94A3B8"/>
                </a:solidFill>
                <a:latin typeface="Calibri" pitchFamily="34" charset="0"/>
                <a:ea typeface="Calibri" pitchFamily="34" charset="-122"/>
                <a:cs typeface="Calibri" pitchFamily="34" charset="-120"/>
              </a:rPr>
              <a:t>Efe Deniz Bağlar  ·  Undergraduate Thesis  ·  Ege University · Computer Engineering</a:t>
            </a:r>
            <a:endParaRPr lang="en-US" sz="900" dirty="0"/>
          </a:p>
        </p:txBody>
      </p:sp>
      <p:sp>
        <p:nvSpPr>
          <p:cNvPr id="25" name="Text 23"/>
          <p:cNvSpPr/>
          <p:nvPr/>
        </p:nvSpPr>
        <p:spPr>
          <a:xfrm>
            <a:off x="10820095" y="6492240"/>
            <a:ext cx="914400" cy="274320"/>
          </a:xfrm>
          <a:prstGeom prst="rect">
            <a:avLst/>
          </a:prstGeom>
          <a:noFill/>
          <a:ln/>
        </p:spPr>
        <p:txBody>
          <a:bodyPr wrap="square" lIns="0" tIns="0" rIns="0" bIns="0" rtlCol="0" anchor="ctr"/>
          <a:lstStyle/>
          <a:p>
            <a:pPr algn="r" indent="0" marL="0">
              <a:buNone/>
            </a:pPr>
            <a:r>
              <a:rPr lang="en-US" sz="900" dirty="0">
                <a:solidFill>
                  <a:srgbClr val="94A3B8"/>
                </a:solidFill>
                <a:latin typeface="Calibri" pitchFamily="34" charset="0"/>
                <a:ea typeface="Calibri" pitchFamily="34" charset="-122"/>
                <a:cs typeface="Calibri" pitchFamily="34" charset="-120"/>
              </a:rPr>
              <a:t>4 / 11</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65760"/>
            <a:ext cx="11094415" cy="822960"/>
          </a:xfrm>
          <a:prstGeom prst="rect">
            <a:avLst/>
          </a:prstGeom>
          <a:noFill/>
          <a:ln/>
        </p:spPr>
        <p:txBody>
          <a:bodyPr wrap="square" lIns="0" tIns="0" rIns="0" bIns="0" rtlCol="0" anchor="ctr"/>
          <a:lstStyle/>
          <a:p>
            <a:pPr indent="0" marL="0">
              <a:buNone/>
            </a:pPr>
            <a:r>
              <a:rPr lang="en-US" sz="3200" b="1" dirty="0">
                <a:solidFill>
                  <a:srgbClr val="1E2761"/>
                </a:solidFill>
                <a:latin typeface="Calibri" pitchFamily="34" charset="0"/>
                <a:ea typeface="Calibri" pitchFamily="34" charset="-122"/>
                <a:cs typeface="Calibri" pitchFamily="34" charset="-120"/>
              </a:rPr>
              <a:t>Contributions</a:t>
            </a:r>
            <a:endParaRPr lang="en-US" sz="3200" dirty="0"/>
          </a:p>
        </p:txBody>
      </p:sp>
      <p:sp>
        <p:nvSpPr>
          <p:cNvPr id="3" name="Shape 1"/>
          <p:cNvSpPr/>
          <p:nvPr/>
        </p:nvSpPr>
        <p:spPr>
          <a:xfrm>
            <a:off x="548640" y="1188720"/>
            <a:ext cx="1097280" cy="54864"/>
          </a:xfrm>
          <a:prstGeom prst="rect">
            <a:avLst/>
          </a:prstGeom>
          <a:solidFill>
            <a:srgbClr val="065A82"/>
          </a:solidFill>
          <a:ln w="12700">
            <a:solidFill>
              <a:srgbClr val="065A82"/>
            </a:solidFill>
            <a:prstDash val="solid"/>
          </a:ln>
        </p:spPr>
      </p:sp>
      <p:sp>
        <p:nvSpPr>
          <p:cNvPr id="4" name="Shape 2"/>
          <p:cNvSpPr/>
          <p:nvPr/>
        </p:nvSpPr>
        <p:spPr>
          <a:xfrm>
            <a:off x="380848" y="1600200"/>
            <a:ext cx="3657600" cy="4114800"/>
          </a:xfrm>
          <a:prstGeom prst="rect">
            <a:avLst/>
          </a:prstGeom>
          <a:solidFill>
            <a:srgbClr val="F8FAFC"/>
          </a:solidFill>
          <a:ln w="6350">
            <a:solidFill>
              <a:srgbClr val="E2E8F0"/>
            </a:solidFill>
            <a:prstDash val="solid"/>
          </a:ln>
        </p:spPr>
      </p:sp>
      <p:sp>
        <p:nvSpPr>
          <p:cNvPr id="5" name="Shape 3"/>
          <p:cNvSpPr/>
          <p:nvPr/>
        </p:nvSpPr>
        <p:spPr>
          <a:xfrm>
            <a:off x="380848" y="1600200"/>
            <a:ext cx="73152" cy="4114800"/>
          </a:xfrm>
          <a:prstGeom prst="rect">
            <a:avLst/>
          </a:prstGeom>
          <a:solidFill>
            <a:srgbClr val="065A82"/>
          </a:solidFill>
          <a:ln w="12700">
            <a:solidFill>
              <a:srgbClr val="333333"/>
            </a:solidFill>
            <a:prstDash val="solid"/>
          </a:ln>
        </p:spPr>
      </p:sp>
      <p:sp>
        <p:nvSpPr>
          <p:cNvPr id="6" name="Shape 4"/>
          <p:cNvSpPr/>
          <p:nvPr/>
        </p:nvSpPr>
        <p:spPr>
          <a:xfrm>
            <a:off x="655168" y="1874520"/>
            <a:ext cx="548640" cy="548640"/>
          </a:xfrm>
          <a:prstGeom prst="ellipse">
            <a:avLst/>
          </a:prstGeom>
          <a:solidFill>
            <a:srgbClr val="1E2761"/>
          </a:solidFill>
          <a:ln w="12700">
            <a:solidFill>
              <a:srgbClr val="333333"/>
            </a:solidFill>
            <a:prstDash val="solid"/>
          </a:ln>
        </p:spPr>
      </p:sp>
      <p:sp>
        <p:nvSpPr>
          <p:cNvPr id="7" name="Text 5"/>
          <p:cNvSpPr/>
          <p:nvPr/>
        </p:nvSpPr>
        <p:spPr>
          <a:xfrm>
            <a:off x="655168" y="1874520"/>
            <a:ext cx="548640" cy="54864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8" name="Text 6"/>
          <p:cNvSpPr/>
          <p:nvPr/>
        </p:nvSpPr>
        <p:spPr>
          <a:xfrm>
            <a:off x="1295248" y="1874520"/>
            <a:ext cx="2560320" cy="365760"/>
          </a:xfrm>
          <a:prstGeom prst="rect">
            <a:avLst/>
          </a:prstGeom>
          <a:noFill/>
          <a:ln/>
        </p:spPr>
        <p:txBody>
          <a:bodyPr wrap="square" lIns="0" tIns="0" rIns="0" bIns="0" rtlCol="0" anchor="ctr"/>
          <a:lstStyle/>
          <a:p>
            <a:pPr indent="0" marL="0">
              <a:buNone/>
            </a:pPr>
            <a:r>
              <a:rPr lang="en-US" sz="1200" b="1" spc="300" kern="0" dirty="0">
                <a:solidFill>
                  <a:srgbClr val="1C7293"/>
                </a:solidFill>
                <a:latin typeface="Calibri" pitchFamily="34" charset="0"/>
                <a:ea typeface="Calibri" pitchFamily="34" charset="-122"/>
                <a:cs typeface="Calibri" pitchFamily="34" charset="-120"/>
              </a:rPr>
              <a:t>Methodological</a:t>
            </a:r>
            <a:endParaRPr lang="en-US" sz="1200" dirty="0"/>
          </a:p>
        </p:txBody>
      </p:sp>
      <p:sp>
        <p:nvSpPr>
          <p:cNvPr id="9" name="Text 7"/>
          <p:cNvSpPr/>
          <p:nvPr/>
        </p:nvSpPr>
        <p:spPr>
          <a:xfrm>
            <a:off x="1295248" y="2194560"/>
            <a:ext cx="2560320" cy="502920"/>
          </a:xfrm>
          <a:prstGeom prst="rect">
            <a:avLst/>
          </a:prstGeom>
          <a:noFill/>
          <a:ln/>
        </p:spPr>
        <p:txBody>
          <a:bodyPr wrap="square" lIns="0" tIns="0" rIns="0" bIns="0" rtlCol="0" anchor="ctr"/>
          <a:lstStyle/>
          <a:p>
            <a:pPr indent="0" marL="0">
              <a:buNone/>
            </a:pPr>
            <a:r>
              <a:rPr lang="en-US" sz="1600" b="1" dirty="0">
                <a:solidFill>
                  <a:srgbClr val="1E2761"/>
                </a:solidFill>
                <a:latin typeface="Calibri" pitchFamily="34" charset="0"/>
                <a:ea typeface="Calibri" pitchFamily="34" charset="-122"/>
                <a:cs typeface="Calibri" pitchFamily="34" charset="-120"/>
              </a:rPr>
              <a:t>DP-FedBN dual-optimizer</a:t>
            </a:r>
            <a:endParaRPr lang="en-US" sz="1600" dirty="0"/>
          </a:p>
        </p:txBody>
      </p:sp>
      <p:sp>
        <p:nvSpPr>
          <p:cNvPr id="10" name="Text 8"/>
          <p:cNvSpPr/>
          <p:nvPr/>
        </p:nvSpPr>
        <p:spPr>
          <a:xfrm>
            <a:off x="655168" y="2971800"/>
            <a:ext cx="3200400" cy="2560320"/>
          </a:xfrm>
          <a:prstGeom prst="rect">
            <a:avLst/>
          </a:prstGeom>
          <a:noFill/>
          <a:ln/>
        </p:spPr>
        <p:txBody>
          <a:bodyPr wrap="square" lIns="0" tIns="0" rIns="0" bIns="0" rtlCol="0" anchor="ctr"/>
          <a:lstStyle/>
          <a:p>
            <a:pPr indent="0" marL="0">
              <a:buNone/>
            </a:pPr>
            <a:r>
              <a:rPr lang="en-US" sz="1200" dirty="0">
                <a:solidFill>
                  <a:srgbClr val="1A1F36"/>
                </a:solidFill>
                <a:latin typeface="Calibri" pitchFamily="34" charset="0"/>
                <a:ea typeface="Calibri" pitchFamily="34" charset="-122"/>
                <a:cs typeface="Calibri" pitchFamily="34" charset="-120"/>
              </a:rPr>
              <a:t>Off-the-shelf Opacus pipeline via freeze-then-unfreeze; record-level DP-SGD composed with FedBN's BN-locality. The term 'DP-FedBN' appears in ADCOL/ICML 2023 as a one-paragraph party-level Laplace baseline — we give the first record-level construction.</a:t>
            </a:r>
            <a:endParaRPr lang="en-US" sz="1200" dirty="0"/>
          </a:p>
        </p:txBody>
      </p:sp>
      <p:sp>
        <p:nvSpPr>
          <p:cNvPr id="11" name="Shape 9"/>
          <p:cNvSpPr/>
          <p:nvPr/>
        </p:nvSpPr>
        <p:spPr>
          <a:xfrm>
            <a:off x="4267048" y="1600200"/>
            <a:ext cx="3657600" cy="4114800"/>
          </a:xfrm>
          <a:prstGeom prst="rect">
            <a:avLst/>
          </a:prstGeom>
          <a:solidFill>
            <a:srgbClr val="F8FAFC"/>
          </a:solidFill>
          <a:ln w="6350">
            <a:solidFill>
              <a:srgbClr val="E2E8F0"/>
            </a:solidFill>
            <a:prstDash val="solid"/>
          </a:ln>
        </p:spPr>
      </p:sp>
      <p:sp>
        <p:nvSpPr>
          <p:cNvPr id="12" name="Shape 10"/>
          <p:cNvSpPr/>
          <p:nvPr/>
        </p:nvSpPr>
        <p:spPr>
          <a:xfrm>
            <a:off x="4267048" y="1600200"/>
            <a:ext cx="73152" cy="4114800"/>
          </a:xfrm>
          <a:prstGeom prst="rect">
            <a:avLst/>
          </a:prstGeom>
          <a:solidFill>
            <a:srgbClr val="065A82"/>
          </a:solidFill>
          <a:ln w="12700">
            <a:solidFill>
              <a:srgbClr val="333333"/>
            </a:solidFill>
            <a:prstDash val="solid"/>
          </a:ln>
        </p:spPr>
      </p:sp>
      <p:sp>
        <p:nvSpPr>
          <p:cNvPr id="13" name="Shape 11"/>
          <p:cNvSpPr/>
          <p:nvPr/>
        </p:nvSpPr>
        <p:spPr>
          <a:xfrm>
            <a:off x="4541368" y="1874520"/>
            <a:ext cx="548640" cy="548640"/>
          </a:xfrm>
          <a:prstGeom prst="ellipse">
            <a:avLst/>
          </a:prstGeom>
          <a:solidFill>
            <a:srgbClr val="1E2761"/>
          </a:solidFill>
          <a:ln w="12700">
            <a:solidFill>
              <a:srgbClr val="333333"/>
            </a:solidFill>
            <a:prstDash val="solid"/>
          </a:ln>
        </p:spPr>
      </p:sp>
      <p:sp>
        <p:nvSpPr>
          <p:cNvPr id="14" name="Text 12"/>
          <p:cNvSpPr/>
          <p:nvPr/>
        </p:nvSpPr>
        <p:spPr>
          <a:xfrm>
            <a:off x="4541368" y="1874520"/>
            <a:ext cx="548640" cy="54864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15" name="Text 13"/>
          <p:cNvSpPr/>
          <p:nvPr/>
        </p:nvSpPr>
        <p:spPr>
          <a:xfrm>
            <a:off x="5181448" y="1874520"/>
            <a:ext cx="2560320" cy="365760"/>
          </a:xfrm>
          <a:prstGeom prst="rect">
            <a:avLst/>
          </a:prstGeom>
          <a:noFill/>
          <a:ln/>
        </p:spPr>
        <p:txBody>
          <a:bodyPr wrap="square" lIns="0" tIns="0" rIns="0" bIns="0" rtlCol="0" anchor="ctr"/>
          <a:lstStyle/>
          <a:p>
            <a:pPr indent="0" marL="0">
              <a:buNone/>
            </a:pPr>
            <a:r>
              <a:rPr lang="en-US" sz="1200" b="1" spc="300" kern="0" dirty="0">
                <a:solidFill>
                  <a:srgbClr val="1C7293"/>
                </a:solidFill>
                <a:latin typeface="Calibri" pitchFamily="34" charset="0"/>
                <a:ea typeface="Calibri" pitchFamily="34" charset="-122"/>
                <a:cs typeface="Calibri" pitchFamily="34" charset="-120"/>
              </a:rPr>
              <a:t>Empirical Finding #1</a:t>
            </a:r>
            <a:endParaRPr lang="en-US" sz="1200" dirty="0"/>
          </a:p>
        </p:txBody>
      </p:sp>
      <p:sp>
        <p:nvSpPr>
          <p:cNvPr id="16" name="Text 14"/>
          <p:cNvSpPr/>
          <p:nvPr/>
        </p:nvSpPr>
        <p:spPr>
          <a:xfrm>
            <a:off x="5181448" y="2194560"/>
            <a:ext cx="2560320" cy="502920"/>
          </a:xfrm>
          <a:prstGeom prst="rect">
            <a:avLst/>
          </a:prstGeom>
          <a:noFill/>
          <a:ln/>
        </p:spPr>
        <p:txBody>
          <a:bodyPr wrap="square" lIns="0" tIns="0" rIns="0" bIns="0" rtlCol="0" anchor="ctr"/>
          <a:lstStyle/>
          <a:p>
            <a:pPr indent="0" marL="0">
              <a:buNone/>
            </a:pPr>
            <a:r>
              <a:rPr lang="en-US" sz="1600" b="1" dirty="0">
                <a:solidFill>
                  <a:srgbClr val="1E2761"/>
                </a:solidFill>
                <a:latin typeface="Calibri" pitchFamily="34" charset="0"/>
                <a:ea typeface="Calibri" pitchFamily="34" charset="-122"/>
                <a:cs typeface="Calibri" pitchFamily="34" charset="-120"/>
              </a:rPr>
              <a:t>Eval-regime flip</a:t>
            </a:r>
            <a:endParaRPr lang="en-US" sz="1600" dirty="0"/>
          </a:p>
        </p:txBody>
      </p:sp>
      <p:sp>
        <p:nvSpPr>
          <p:cNvPr id="17" name="Text 15"/>
          <p:cNvSpPr/>
          <p:nvPr/>
        </p:nvSpPr>
        <p:spPr>
          <a:xfrm>
            <a:off x="4541368" y="2971800"/>
            <a:ext cx="3200400" cy="2560320"/>
          </a:xfrm>
          <a:prstGeom prst="rect">
            <a:avLst/>
          </a:prstGeom>
          <a:noFill/>
          <a:ln/>
        </p:spPr>
        <p:txBody>
          <a:bodyPr wrap="square" lIns="0" tIns="0" rIns="0" bIns="0" rtlCol="0" anchor="ctr"/>
          <a:lstStyle/>
          <a:p>
            <a:pPr indent="0" marL="0">
              <a:buNone/>
            </a:pPr>
            <a:r>
              <a:rPr lang="en-US" sz="1200" dirty="0">
                <a:solidFill>
                  <a:srgbClr val="1A1F36"/>
                </a:solidFill>
                <a:latin typeface="Calibri" pitchFamily="34" charset="0"/>
                <a:ea typeface="Calibri" pitchFamily="34" charset="-122"/>
                <a:cs typeface="Calibri" pitchFamily="34" charset="-120"/>
              </a:rPr>
              <a:t>FedBN's ranking inverts systematically between pooled-central and per-client local evaluation regimes (+0.72 F1 swing on MIT-BIH label-skew). Confirmed on both medical tasks (MIT-BIH + PTB-XL). Task-agnostic.</a:t>
            </a:r>
            <a:endParaRPr lang="en-US" sz="1200" dirty="0"/>
          </a:p>
        </p:txBody>
      </p:sp>
      <p:sp>
        <p:nvSpPr>
          <p:cNvPr id="18" name="Shape 16"/>
          <p:cNvSpPr/>
          <p:nvPr/>
        </p:nvSpPr>
        <p:spPr>
          <a:xfrm>
            <a:off x="8153248" y="1600200"/>
            <a:ext cx="3657600" cy="4114800"/>
          </a:xfrm>
          <a:prstGeom prst="rect">
            <a:avLst/>
          </a:prstGeom>
          <a:solidFill>
            <a:srgbClr val="F8FAFC"/>
          </a:solidFill>
          <a:ln w="6350">
            <a:solidFill>
              <a:srgbClr val="E2E8F0"/>
            </a:solidFill>
            <a:prstDash val="solid"/>
          </a:ln>
        </p:spPr>
      </p:sp>
      <p:sp>
        <p:nvSpPr>
          <p:cNvPr id="19" name="Shape 17"/>
          <p:cNvSpPr/>
          <p:nvPr/>
        </p:nvSpPr>
        <p:spPr>
          <a:xfrm>
            <a:off x="8153248" y="1600200"/>
            <a:ext cx="73152" cy="4114800"/>
          </a:xfrm>
          <a:prstGeom prst="rect">
            <a:avLst/>
          </a:prstGeom>
          <a:solidFill>
            <a:srgbClr val="065A82"/>
          </a:solidFill>
          <a:ln w="12700">
            <a:solidFill>
              <a:srgbClr val="333333"/>
            </a:solidFill>
            <a:prstDash val="solid"/>
          </a:ln>
        </p:spPr>
      </p:sp>
      <p:sp>
        <p:nvSpPr>
          <p:cNvPr id="20" name="Shape 18"/>
          <p:cNvSpPr/>
          <p:nvPr/>
        </p:nvSpPr>
        <p:spPr>
          <a:xfrm>
            <a:off x="8427568" y="1874520"/>
            <a:ext cx="548640" cy="548640"/>
          </a:xfrm>
          <a:prstGeom prst="ellipse">
            <a:avLst/>
          </a:prstGeom>
          <a:solidFill>
            <a:srgbClr val="1E2761"/>
          </a:solidFill>
          <a:ln w="12700">
            <a:solidFill>
              <a:srgbClr val="333333"/>
            </a:solidFill>
            <a:prstDash val="solid"/>
          </a:ln>
        </p:spPr>
      </p:sp>
      <p:sp>
        <p:nvSpPr>
          <p:cNvPr id="21" name="Text 19"/>
          <p:cNvSpPr/>
          <p:nvPr/>
        </p:nvSpPr>
        <p:spPr>
          <a:xfrm>
            <a:off x="8427568" y="1874520"/>
            <a:ext cx="548640" cy="54864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22" name="Text 20"/>
          <p:cNvSpPr/>
          <p:nvPr/>
        </p:nvSpPr>
        <p:spPr>
          <a:xfrm>
            <a:off x="9067648" y="1874520"/>
            <a:ext cx="2560320" cy="365760"/>
          </a:xfrm>
          <a:prstGeom prst="rect">
            <a:avLst/>
          </a:prstGeom>
          <a:noFill/>
          <a:ln/>
        </p:spPr>
        <p:txBody>
          <a:bodyPr wrap="square" lIns="0" tIns="0" rIns="0" bIns="0" rtlCol="0" anchor="ctr"/>
          <a:lstStyle/>
          <a:p>
            <a:pPr indent="0" marL="0">
              <a:buNone/>
            </a:pPr>
            <a:r>
              <a:rPr lang="en-US" sz="1200" b="1" spc="300" kern="0" dirty="0">
                <a:solidFill>
                  <a:srgbClr val="1C7293"/>
                </a:solidFill>
                <a:latin typeface="Calibri" pitchFamily="34" charset="0"/>
                <a:ea typeface="Calibri" pitchFamily="34" charset="-122"/>
                <a:cs typeface="Calibri" pitchFamily="34" charset="-120"/>
              </a:rPr>
              <a:t>Empirical Finding #2</a:t>
            </a:r>
            <a:endParaRPr lang="en-US" sz="1200" dirty="0"/>
          </a:p>
        </p:txBody>
      </p:sp>
      <p:sp>
        <p:nvSpPr>
          <p:cNvPr id="23" name="Text 21"/>
          <p:cNvSpPr/>
          <p:nvPr/>
        </p:nvSpPr>
        <p:spPr>
          <a:xfrm>
            <a:off x="9067648" y="2194560"/>
            <a:ext cx="2560320" cy="502920"/>
          </a:xfrm>
          <a:prstGeom prst="rect">
            <a:avLst/>
          </a:prstGeom>
          <a:noFill/>
          <a:ln/>
        </p:spPr>
        <p:txBody>
          <a:bodyPr wrap="square" lIns="0" tIns="0" rIns="0" bIns="0" rtlCol="0" anchor="ctr"/>
          <a:lstStyle/>
          <a:p>
            <a:pPr indent="0" marL="0">
              <a:buNone/>
            </a:pPr>
            <a:r>
              <a:rPr lang="en-US" sz="1600" b="1" dirty="0">
                <a:solidFill>
                  <a:srgbClr val="1E2761"/>
                </a:solidFill>
                <a:latin typeface="Calibri" pitchFamily="34" charset="0"/>
                <a:ea typeface="Calibri" pitchFamily="34" charset="-122"/>
                <a:cs typeface="Calibri" pitchFamily="34" charset="-120"/>
              </a:rPr>
              <a:t>Partition-dependent advantage</a:t>
            </a:r>
            <a:endParaRPr lang="en-US" sz="1600" dirty="0"/>
          </a:p>
        </p:txBody>
      </p:sp>
      <p:sp>
        <p:nvSpPr>
          <p:cNvPr id="24" name="Text 22"/>
          <p:cNvSpPr/>
          <p:nvPr/>
        </p:nvSpPr>
        <p:spPr>
          <a:xfrm>
            <a:off x="8427568" y="2971800"/>
            <a:ext cx="3200400" cy="2560320"/>
          </a:xfrm>
          <a:prstGeom prst="rect">
            <a:avLst/>
          </a:prstGeom>
          <a:noFill/>
          <a:ln/>
        </p:spPr>
        <p:txBody>
          <a:bodyPr wrap="square" lIns="0" tIns="0" rIns="0" bIns="0" rtlCol="0" anchor="ctr"/>
          <a:lstStyle/>
          <a:p>
            <a:pPr indent="0" marL="0">
              <a:buNone/>
            </a:pPr>
            <a:r>
              <a:rPr lang="en-US" sz="1200" dirty="0">
                <a:solidFill>
                  <a:srgbClr val="1A1F36"/>
                </a:solidFill>
                <a:latin typeface="Calibri" pitchFamily="34" charset="0"/>
                <a:ea typeface="Calibri" pitchFamily="34" charset="-122"/>
                <a:cs typeface="Calibri" pitchFamily="34" charset="-120"/>
              </a:rPr>
              <a:t>DP-FedBN's local advantage hinges on partition type: under label-skew it gains +0.17 F1 (ε=3) over the GroupNorm fallback; under Dirichlet skew the advantage flips to negative. Yields a heterogeneity-typed decision rubric for practitioners.</a:t>
            </a:r>
            <a:endParaRPr lang="en-US" sz="1200" dirty="0"/>
          </a:p>
        </p:txBody>
      </p:sp>
      <p:sp>
        <p:nvSpPr>
          <p:cNvPr id="25" name="Text 23"/>
          <p:cNvSpPr/>
          <p:nvPr/>
        </p:nvSpPr>
        <p:spPr>
          <a:xfrm>
            <a:off x="457200" y="6492240"/>
            <a:ext cx="8229600" cy="274320"/>
          </a:xfrm>
          <a:prstGeom prst="rect">
            <a:avLst/>
          </a:prstGeom>
          <a:noFill/>
          <a:ln/>
        </p:spPr>
        <p:txBody>
          <a:bodyPr wrap="square" lIns="0" tIns="0" rIns="0" bIns="0" rtlCol="0" anchor="ctr"/>
          <a:lstStyle/>
          <a:p>
            <a:pPr indent="0" marL="0">
              <a:buNone/>
            </a:pPr>
            <a:r>
              <a:rPr lang="en-US" sz="900" dirty="0">
                <a:solidFill>
                  <a:srgbClr val="94A3B8"/>
                </a:solidFill>
                <a:latin typeface="Calibri" pitchFamily="34" charset="0"/>
                <a:ea typeface="Calibri" pitchFamily="34" charset="-122"/>
                <a:cs typeface="Calibri" pitchFamily="34" charset="-120"/>
              </a:rPr>
              <a:t>Efe Deniz Bağlar  ·  Undergraduate Thesis  ·  Ege University · Computer Engineering</a:t>
            </a:r>
            <a:endParaRPr lang="en-US" sz="900" dirty="0"/>
          </a:p>
        </p:txBody>
      </p:sp>
      <p:sp>
        <p:nvSpPr>
          <p:cNvPr id="26" name="Text 24"/>
          <p:cNvSpPr/>
          <p:nvPr/>
        </p:nvSpPr>
        <p:spPr>
          <a:xfrm>
            <a:off x="10820095" y="6492240"/>
            <a:ext cx="914400" cy="274320"/>
          </a:xfrm>
          <a:prstGeom prst="rect">
            <a:avLst/>
          </a:prstGeom>
          <a:noFill/>
          <a:ln/>
        </p:spPr>
        <p:txBody>
          <a:bodyPr wrap="square" lIns="0" tIns="0" rIns="0" bIns="0" rtlCol="0" anchor="ctr"/>
          <a:lstStyle/>
          <a:p>
            <a:pPr algn="r" indent="0" marL="0">
              <a:buNone/>
            </a:pPr>
            <a:r>
              <a:rPr lang="en-US" sz="900" dirty="0">
                <a:solidFill>
                  <a:srgbClr val="94A3B8"/>
                </a:solidFill>
                <a:latin typeface="Calibri" pitchFamily="34" charset="0"/>
                <a:ea typeface="Calibri" pitchFamily="34" charset="-122"/>
                <a:cs typeface="Calibri" pitchFamily="34" charset="-120"/>
              </a:rPr>
              <a:t>5 / 11</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65760"/>
            <a:ext cx="11094415" cy="822960"/>
          </a:xfrm>
          <a:prstGeom prst="rect">
            <a:avLst/>
          </a:prstGeom>
          <a:noFill/>
          <a:ln/>
        </p:spPr>
        <p:txBody>
          <a:bodyPr wrap="square" lIns="0" tIns="0" rIns="0" bIns="0" rtlCol="0" anchor="ctr"/>
          <a:lstStyle/>
          <a:p>
            <a:pPr indent="0" marL="0">
              <a:buNone/>
            </a:pPr>
            <a:r>
              <a:rPr lang="en-US" sz="3200" b="1" dirty="0">
                <a:solidFill>
                  <a:srgbClr val="1E2761"/>
                </a:solidFill>
                <a:latin typeface="Calibri" pitchFamily="34" charset="0"/>
                <a:ea typeface="Calibri" pitchFamily="34" charset="-122"/>
                <a:cs typeface="Calibri" pitchFamily="34" charset="-120"/>
              </a:rPr>
              <a:t>Broader Impact</a:t>
            </a:r>
            <a:endParaRPr lang="en-US" sz="3200" dirty="0"/>
          </a:p>
        </p:txBody>
      </p:sp>
      <p:sp>
        <p:nvSpPr>
          <p:cNvPr id="3" name="Shape 1"/>
          <p:cNvSpPr/>
          <p:nvPr/>
        </p:nvSpPr>
        <p:spPr>
          <a:xfrm>
            <a:off x="548640" y="1188720"/>
            <a:ext cx="1097280" cy="54864"/>
          </a:xfrm>
          <a:prstGeom prst="rect">
            <a:avLst/>
          </a:prstGeom>
          <a:solidFill>
            <a:srgbClr val="065A82"/>
          </a:solidFill>
          <a:ln w="12700">
            <a:solidFill>
              <a:srgbClr val="065A82"/>
            </a:solidFill>
            <a:prstDash val="solid"/>
          </a:ln>
        </p:spPr>
      </p:sp>
      <p:sp>
        <p:nvSpPr>
          <p:cNvPr id="4" name="Text 2"/>
          <p:cNvSpPr/>
          <p:nvPr/>
        </p:nvSpPr>
        <p:spPr>
          <a:xfrm>
            <a:off x="640080" y="1691640"/>
            <a:ext cx="2103120" cy="365760"/>
          </a:xfrm>
          <a:prstGeom prst="rect">
            <a:avLst/>
          </a:prstGeom>
          <a:noFill/>
          <a:ln/>
        </p:spPr>
        <p:txBody>
          <a:bodyPr wrap="square" lIns="0" tIns="0" rIns="0" bIns="0" rtlCol="0" anchor="ctr"/>
          <a:lstStyle/>
          <a:p>
            <a:pPr indent="0" marL="0">
              <a:buNone/>
            </a:pPr>
            <a:r>
              <a:rPr lang="en-US" sz="1800" b="1" dirty="0">
                <a:solidFill>
                  <a:srgbClr val="1E2761"/>
                </a:solidFill>
                <a:latin typeface="Calibri" pitchFamily="34" charset="0"/>
                <a:ea typeface="Calibri" pitchFamily="34" charset="-122"/>
                <a:cs typeface="Calibri" pitchFamily="34" charset="-120"/>
              </a:rPr>
              <a:t>Academic</a:t>
            </a:r>
            <a:endParaRPr lang="en-US" sz="1800" dirty="0"/>
          </a:p>
        </p:txBody>
      </p:sp>
      <p:sp>
        <p:nvSpPr>
          <p:cNvPr id="5" name="Shape 3"/>
          <p:cNvSpPr/>
          <p:nvPr/>
        </p:nvSpPr>
        <p:spPr>
          <a:xfrm>
            <a:off x="640080" y="2148840"/>
            <a:ext cx="731520" cy="36576"/>
          </a:xfrm>
          <a:prstGeom prst="rect">
            <a:avLst/>
          </a:prstGeom>
          <a:solidFill>
            <a:srgbClr val="065A82"/>
          </a:solidFill>
          <a:ln w="12700">
            <a:solidFill>
              <a:srgbClr val="333333"/>
            </a:solidFill>
            <a:prstDash val="solid"/>
          </a:ln>
        </p:spPr>
      </p:sp>
      <p:sp>
        <p:nvSpPr>
          <p:cNvPr id="6" name="Text 4"/>
          <p:cNvSpPr/>
          <p:nvPr/>
        </p:nvSpPr>
        <p:spPr>
          <a:xfrm>
            <a:off x="3017520" y="1691640"/>
            <a:ext cx="5943600" cy="1371600"/>
          </a:xfrm>
          <a:prstGeom prst="rect">
            <a:avLst/>
          </a:prstGeom>
          <a:noFill/>
          <a:ln/>
        </p:spPr>
        <p:txBody>
          <a:bodyPr wrap="square" lIns="0" tIns="0" rIns="0" bIns="0" rtlCol="0" anchor="ctr"/>
          <a:lstStyle/>
          <a:p>
            <a:pPr indent="0" marL="0">
              <a:buNone/>
            </a:pPr>
            <a:r>
              <a:rPr lang="en-US" sz="1300" dirty="0">
                <a:solidFill>
                  <a:srgbClr val="1A1F36"/>
                </a:solidFill>
                <a:latin typeface="Calibri" pitchFamily="34" charset="0"/>
                <a:ea typeface="Calibri" pitchFamily="34" charset="-122"/>
                <a:cs typeface="Calibri" pitchFamily="34" charset="-120"/>
              </a:rPr>
              <a:t>Targeted submission to IEEE Journal of Biomedical and Health Informatics (JBHI), September 2026. First systematic characterization of the FedBN + DP composition in the medical-FL literature.</a:t>
            </a:r>
            <a:endParaRPr lang="en-US" sz="1300" dirty="0"/>
          </a:p>
        </p:txBody>
      </p:sp>
      <p:sp>
        <p:nvSpPr>
          <p:cNvPr id="7" name="Text 5"/>
          <p:cNvSpPr/>
          <p:nvPr/>
        </p:nvSpPr>
        <p:spPr>
          <a:xfrm>
            <a:off x="9418320" y="1600200"/>
            <a:ext cx="2468880" cy="640080"/>
          </a:xfrm>
          <a:prstGeom prst="rect">
            <a:avLst/>
          </a:prstGeom>
          <a:noFill/>
          <a:ln/>
        </p:spPr>
        <p:txBody>
          <a:bodyPr wrap="square" lIns="0" tIns="0" rIns="0" bIns="0" rtlCol="0" anchor="ctr"/>
          <a:lstStyle/>
          <a:p>
            <a:pPr algn="l" indent="0" marL="0">
              <a:buNone/>
            </a:pPr>
            <a:r>
              <a:rPr lang="en-US" sz="2800" b="1" dirty="0">
                <a:solidFill>
                  <a:srgbClr val="1C7293"/>
                </a:solidFill>
                <a:latin typeface="Calibri" pitchFamily="34" charset="0"/>
                <a:ea typeface="Calibri" pitchFamily="34" charset="-122"/>
                <a:cs typeface="Calibri" pitchFamily="34" charset="-120"/>
              </a:rPr>
              <a:t>~40</a:t>
            </a:r>
            <a:endParaRPr lang="en-US" sz="2800" dirty="0"/>
          </a:p>
        </p:txBody>
      </p:sp>
      <p:sp>
        <p:nvSpPr>
          <p:cNvPr id="8" name="Text 6"/>
          <p:cNvSpPr/>
          <p:nvPr/>
        </p:nvSpPr>
        <p:spPr>
          <a:xfrm>
            <a:off x="9418320" y="2240280"/>
            <a:ext cx="2468880" cy="365760"/>
          </a:xfrm>
          <a:prstGeom prst="rect">
            <a:avLst/>
          </a:prstGeom>
          <a:noFill/>
          <a:ln/>
        </p:spPr>
        <p:txBody>
          <a:bodyPr wrap="square" lIns="0" tIns="0" rIns="0" bIns="0" rtlCol="0" anchor="ctr"/>
          <a:lstStyle/>
          <a:p>
            <a:pPr algn="l" indent="0" marL="0">
              <a:buNone/>
            </a:pPr>
            <a:r>
              <a:rPr lang="en-US" sz="1000" dirty="0">
                <a:solidFill>
                  <a:srgbClr val="475569"/>
                </a:solidFill>
                <a:latin typeface="Calibri" pitchFamily="34" charset="0"/>
                <a:ea typeface="Calibri" pitchFamily="34" charset="-122"/>
                <a:cs typeface="Calibri" pitchFamily="34" charset="-120"/>
              </a:rPr>
              <a:t>experimental configs</a:t>
            </a:r>
            <a:endParaRPr lang="en-US" sz="1000" dirty="0"/>
          </a:p>
        </p:txBody>
      </p:sp>
      <p:sp>
        <p:nvSpPr>
          <p:cNvPr id="9" name="Text 7"/>
          <p:cNvSpPr/>
          <p:nvPr/>
        </p:nvSpPr>
        <p:spPr>
          <a:xfrm>
            <a:off x="640080" y="3246120"/>
            <a:ext cx="2103120" cy="365760"/>
          </a:xfrm>
          <a:prstGeom prst="rect">
            <a:avLst/>
          </a:prstGeom>
          <a:noFill/>
          <a:ln/>
        </p:spPr>
        <p:txBody>
          <a:bodyPr wrap="square" lIns="0" tIns="0" rIns="0" bIns="0" rtlCol="0" anchor="ctr"/>
          <a:lstStyle/>
          <a:p>
            <a:pPr indent="0" marL="0">
              <a:buNone/>
            </a:pPr>
            <a:r>
              <a:rPr lang="en-US" sz="1800" b="1" dirty="0">
                <a:solidFill>
                  <a:srgbClr val="1E2761"/>
                </a:solidFill>
                <a:latin typeface="Calibri" pitchFamily="34" charset="0"/>
                <a:ea typeface="Calibri" pitchFamily="34" charset="-122"/>
                <a:cs typeface="Calibri" pitchFamily="34" charset="-120"/>
              </a:rPr>
              <a:t>Practitioners</a:t>
            </a:r>
            <a:endParaRPr lang="en-US" sz="1800" dirty="0"/>
          </a:p>
        </p:txBody>
      </p:sp>
      <p:sp>
        <p:nvSpPr>
          <p:cNvPr id="10" name="Shape 8"/>
          <p:cNvSpPr/>
          <p:nvPr/>
        </p:nvSpPr>
        <p:spPr>
          <a:xfrm>
            <a:off x="640080" y="3703320"/>
            <a:ext cx="731520" cy="36576"/>
          </a:xfrm>
          <a:prstGeom prst="rect">
            <a:avLst/>
          </a:prstGeom>
          <a:solidFill>
            <a:srgbClr val="065A82"/>
          </a:solidFill>
          <a:ln w="12700">
            <a:solidFill>
              <a:srgbClr val="333333"/>
            </a:solidFill>
            <a:prstDash val="solid"/>
          </a:ln>
        </p:spPr>
      </p:sp>
      <p:sp>
        <p:nvSpPr>
          <p:cNvPr id="11" name="Text 9"/>
          <p:cNvSpPr/>
          <p:nvPr/>
        </p:nvSpPr>
        <p:spPr>
          <a:xfrm>
            <a:off x="3017520" y="3246120"/>
            <a:ext cx="5943600" cy="1371600"/>
          </a:xfrm>
          <a:prstGeom prst="rect">
            <a:avLst/>
          </a:prstGeom>
          <a:noFill/>
          <a:ln/>
        </p:spPr>
        <p:txBody>
          <a:bodyPr wrap="square" lIns="0" tIns="0" rIns="0" bIns="0" rtlCol="0" anchor="ctr"/>
          <a:lstStyle/>
          <a:p>
            <a:pPr indent="0" marL="0">
              <a:buNone/>
            </a:pPr>
            <a:r>
              <a:rPr lang="en-US" sz="1300" dirty="0">
                <a:solidFill>
                  <a:srgbClr val="1A1F36"/>
                </a:solidFill>
                <a:latin typeface="Calibri" pitchFamily="34" charset="0"/>
                <a:ea typeface="Calibri" pitchFamily="34" charset="-122"/>
                <a:cs typeface="Calibri" pitchFamily="34" charset="-120"/>
              </a:rPr>
              <a:t>Directly actionable decision rubric for medical-FL practitioners: when to choose DP-FedBN versus the GroupNorm fallback, conditional on partition heterogeneity and privacy budget.</a:t>
            </a:r>
            <a:endParaRPr lang="en-US" sz="1300" dirty="0"/>
          </a:p>
        </p:txBody>
      </p:sp>
      <p:sp>
        <p:nvSpPr>
          <p:cNvPr id="12" name="Text 10"/>
          <p:cNvSpPr/>
          <p:nvPr/>
        </p:nvSpPr>
        <p:spPr>
          <a:xfrm>
            <a:off x="9418320" y="3154680"/>
            <a:ext cx="2468880" cy="640080"/>
          </a:xfrm>
          <a:prstGeom prst="rect">
            <a:avLst/>
          </a:prstGeom>
          <a:noFill/>
          <a:ln/>
        </p:spPr>
        <p:txBody>
          <a:bodyPr wrap="square" lIns="0" tIns="0" rIns="0" bIns="0" rtlCol="0" anchor="ctr"/>
          <a:lstStyle/>
          <a:p>
            <a:pPr algn="l" indent="0" marL="0">
              <a:buNone/>
            </a:pPr>
            <a:r>
              <a:rPr lang="en-US" sz="2800" b="1" dirty="0">
                <a:solidFill>
                  <a:srgbClr val="1C7293"/>
                </a:solidFill>
                <a:latin typeface="Calibri" pitchFamily="34" charset="0"/>
                <a:ea typeface="Calibri" pitchFamily="34" charset="-122"/>
                <a:cs typeface="Calibri" pitchFamily="34" charset="-120"/>
              </a:rPr>
              <a:t>2</a:t>
            </a:r>
            <a:endParaRPr lang="en-US" sz="2800" dirty="0"/>
          </a:p>
        </p:txBody>
      </p:sp>
      <p:sp>
        <p:nvSpPr>
          <p:cNvPr id="13" name="Text 11"/>
          <p:cNvSpPr/>
          <p:nvPr/>
        </p:nvSpPr>
        <p:spPr>
          <a:xfrm>
            <a:off x="9418320" y="3794760"/>
            <a:ext cx="2468880" cy="365760"/>
          </a:xfrm>
          <a:prstGeom prst="rect">
            <a:avLst/>
          </a:prstGeom>
          <a:noFill/>
          <a:ln/>
        </p:spPr>
        <p:txBody>
          <a:bodyPr wrap="square" lIns="0" tIns="0" rIns="0" bIns="0" rtlCol="0" anchor="ctr"/>
          <a:lstStyle/>
          <a:p>
            <a:pPr algn="l" indent="0" marL="0">
              <a:buNone/>
            </a:pPr>
            <a:r>
              <a:rPr lang="en-US" sz="1000" dirty="0">
                <a:solidFill>
                  <a:srgbClr val="475569"/>
                </a:solidFill>
                <a:latin typeface="Calibri" pitchFamily="34" charset="0"/>
                <a:ea typeface="Calibri" pitchFamily="34" charset="-122"/>
                <a:cs typeface="Calibri" pitchFamily="34" charset="-120"/>
              </a:rPr>
              <a:t>medical tasks (MIT-BIH + PTB-XL)</a:t>
            </a:r>
            <a:endParaRPr lang="en-US" sz="1000" dirty="0"/>
          </a:p>
        </p:txBody>
      </p:sp>
      <p:sp>
        <p:nvSpPr>
          <p:cNvPr id="14" name="Text 12"/>
          <p:cNvSpPr/>
          <p:nvPr/>
        </p:nvSpPr>
        <p:spPr>
          <a:xfrm>
            <a:off x="640080" y="4800600"/>
            <a:ext cx="2103120" cy="365760"/>
          </a:xfrm>
          <a:prstGeom prst="rect">
            <a:avLst/>
          </a:prstGeom>
          <a:noFill/>
          <a:ln/>
        </p:spPr>
        <p:txBody>
          <a:bodyPr wrap="square" lIns="0" tIns="0" rIns="0" bIns="0" rtlCol="0" anchor="ctr"/>
          <a:lstStyle/>
          <a:p>
            <a:pPr indent="0" marL="0">
              <a:buNone/>
            </a:pPr>
            <a:r>
              <a:rPr lang="en-US" sz="1800" b="1" dirty="0">
                <a:solidFill>
                  <a:srgbClr val="1E2761"/>
                </a:solidFill>
                <a:latin typeface="Calibri" pitchFamily="34" charset="0"/>
                <a:ea typeface="Calibri" pitchFamily="34" charset="-122"/>
                <a:cs typeface="Calibri" pitchFamily="34" charset="-120"/>
              </a:rPr>
              <a:t>Engineering</a:t>
            </a:r>
            <a:endParaRPr lang="en-US" sz="1800" dirty="0"/>
          </a:p>
        </p:txBody>
      </p:sp>
      <p:sp>
        <p:nvSpPr>
          <p:cNvPr id="15" name="Shape 13"/>
          <p:cNvSpPr/>
          <p:nvPr/>
        </p:nvSpPr>
        <p:spPr>
          <a:xfrm>
            <a:off x="640080" y="5257800"/>
            <a:ext cx="731520" cy="36576"/>
          </a:xfrm>
          <a:prstGeom prst="rect">
            <a:avLst/>
          </a:prstGeom>
          <a:solidFill>
            <a:srgbClr val="065A82"/>
          </a:solidFill>
          <a:ln w="12700">
            <a:solidFill>
              <a:srgbClr val="333333"/>
            </a:solidFill>
            <a:prstDash val="solid"/>
          </a:ln>
        </p:spPr>
      </p:sp>
      <p:sp>
        <p:nvSpPr>
          <p:cNvPr id="16" name="Text 14"/>
          <p:cNvSpPr/>
          <p:nvPr/>
        </p:nvSpPr>
        <p:spPr>
          <a:xfrm>
            <a:off x="3017520" y="4800600"/>
            <a:ext cx="5943600" cy="1371600"/>
          </a:xfrm>
          <a:prstGeom prst="rect">
            <a:avLst/>
          </a:prstGeom>
          <a:noFill/>
          <a:ln/>
        </p:spPr>
        <p:txBody>
          <a:bodyPr wrap="square" lIns="0" tIns="0" rIns="0" bIns="0" rtlCol="0" anchor="ctr"/>
          <a:lstStyle/>
          <a:p>
            <a:pPr indent="0" marL="0">
              <a:buNone/>
            </a:pPr>
            <a:r>
              <a:rPr lang="en-US" sz="1300" dirty="0">
                <a:solidFill>
                  <a:srgbClr val="1A1F36"/>
                </a:solidFill>
                <a:latin typeface="Calibri" pitchFamily="34" charset="0"/>
                <a:ea typeface="Calibri" pitchFamily="34" charset="-122"/>
                <a:cs typeface="Calibri" pitchFamily="34" charset="-120"/>
              </a:rPr>
              <a:t>Reproducible, Opacus 1.5-compatible reference implementation. Concrete resolution for the two-year-old engineering bottleneck documented in Opacus GitHub Issue #472.</a:t>
            </a:r>
            <a:endParaRPr lang="en-US" sz="1300" dirty="0"/>
          </a:p>
        </p:txBody>
      </p:sp>
      <p:sp>
        <p:nvSpPr>
          <p:cNvPr id="17" name="Text 15"/>
          <p:cNvSpPr/>
          <p:nvPr/>
        </p:nvSpPr>
        <p:spPr>
          <a:xfrm>
            <a:off x="9418320" y="4709160"/>
            <a:ext cx="2468880" cy="640080"/>
          </a:xfrm>
          <a:prstGeom prst="rect">
            <a:avLst/>
          </a:prstGeom>
          <a:noFill/>
          <a:ln/>
        </p:spPr>
        <p:txBody>
          <a:bodyPr wrap="square" lIns="0" tIns="0" rIns="0" bIns="0" rtlCol="0" anchor="ctr"/>
          <a:lstStyle/>
          <a:p>
            <a:pPr algn="l" indent="0" marL="0">
              <a:buNone/>
            </a:pPr>
            <a:r>
              <a:rPr lang="en-US" sz="2800" b="1" dirty="0">
                <a:solidFill>
                  <a:srgbClr val="1C7293"/>
                </a:solidFill>
                <a:latin typeface="Calibri" pitchFamily="34" charset="0"/>
                <a:ea typeface="Calibri" pitchFamily="34" charset="-122"/>
                <a:cs typeface="Calibri" pitchFamily="34" charset="-120"/>
              </a:rPr>
              <a:t>Open source</a:t>
            </a:r>
            <a:endParaRPr lang="en-US" sz="2800" dirty="0"/>
          </a:p>
        </p:txBody>
      </p:sp>
      <p:sp>
        <p:nvSpPr>
          <p:cNvPr id="18" name="Text 16"/>
          <p:cNvSpPr/>
          <p:nvPr/>
        </p:nvSpPr>
        <p:spPr>
          <a:xfrm>
            <a:off x="9418320" y="5349240"/>
            <a:ext cx="2468880" cy="365760"/>
          </a:xfrm>
          <a:prstGeom prst="rect">
            <a:avLst/>
          </a:prstGeom>
          <a:noFill/>
          <a:ln/>
        </p:spPr>
        <p:txBody>
          <a:bodyPr wrap="square" lIns="0" tIns="0" rIns="0" bIns="0" rtlCol="0" anchor="ctr"/>
          <a:lstStyle/>
          <a:p>
            <a:pPr algn="l" indent="0" marL="0">
              <a:buNone/>
            </a:pPr>
            <a:r>
              <a:rPr lang="en-US" sz="1000" dirty="0">
                <a:solidFill>
                  <a:srgbClr val="475569"/>
                </a:solidFill>
                <a:latin typeface="Calibri" pitchFamily="34" charset="0"/>
                <a:ea typeface="Calibri" pitchFamily="34" charset="-122"/>
                <a:cs typeface="Calibri" pitchFamily="34" charset="-120"/>
              </a:rPr>
              <a:t>(upon acceptance)</a:t>
            </a:r>
            <a:endParaRPr lang="en-US" sz="1000" dirty="0"/>
          </a:p>
        </p:txBody>
      </p:sp>
      <p:sp>
        <p:nvSpPr>
          <p:cNvPr id="19" name="Text 17"/>
          <p:cNvSpPr/>
          <p:nvPr/>
        </p:nvSpPr>
        <p:spPr>
          <a:xfrm>
            <a:off x="457200" y="6492240"/>
            <a:ext cx="8229600" cy="274320"/>
          </a:xfrm>
          <a:prstGeom prst="rect">
            <a:avLst/>
          </a:prstGeom>
          <a:noFill/>
          <a:ln/>
        </p:spPr>
        <p:txBody>
          <a:bodyPr wrap="square" lIns="0" tIns="0" rIns="0" bIns="0" rtlCol="0" anchor="ctr"/>
          <a:lstStyle/>
          <a:p>
            <a:pPr indent="0" marL="0">
              <a:buNone/>
            </a:pPr>
            <a:r>
              <a:rPr lang="en-US" sz="900" dirty="0">
                <a:solidFill>
                  <a:srgbClr val="94A3B8"/>
                </a:solidFill>
                <a:latin typeface="Calibri" pitchFamily="34" charset="0"/>
                <a:ea typeface="Calibri" pitchFamily="34" charset="-122"/>
                <a:cs typeface="Calibri" pitchFamily="34" charset="-120"/>
              </a:rPr>
              <a:t>Efe Deniz Bağlar  ·  Undergraduate Thesis  ·  Ege University · Computer Engineering</a:t>
            </a:r>
            <a:endParaRPr lang="en-US" sz="900" dirty="0"/>
          </a:p>
        </p:txBody>
      </p:sp>
      <p:sp>
        <p:nvSpPr>
          <p:cNvPr id="20" name="Text 18"/>
          <p:cNvSpPr/>
          <p:nvPr/>
        </p:nvSpPr>
        <p:spPr>
          <a:xfrm>
            <a:off x="10820095" y="6492240"/>
            <a:ext cx="914400" cy="274320"/>
          </a:xfrm>
          <a:prstGeom prst="rect">
            <a:avLst/>
          </a:prstGeom>
          <a:noFill/>
          <a:ln/>
        </p:spPr>
        <p:txBody>
          <a:bodyPr wrap="square" lIns="0" tIns="0" rIns="0" bIns="0" rtlCol="0" anchor="ctr"/>
          <a:lstStyle/>
          <a:p>
            <a:pPr algn="r" indent="0" marL="0">
              <a:buNone/>
            </a:pPr>
            <a:r>
              <a:rPr lang="en-US" sz="900" dirty="0">
                <a:solidFill>
                  <a:srgbClr val="94A3B8"/>
                </a:solidFill>
                <a:latin typeface="Calibri" pitchFamily="34" charset="0"/>
                <a:ea typeface="Calibri" pitchFamily="34" charset="-122"/>
                <a:cs typeface="Calibri" pitchFamily="34" charset="-120"/>
              </a:rPr>
              <a:t>6 / 11</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65760"/>
            <a:ext cx="11094415" cy="822960"/>
          </a:xfrm>
          <a:prstGeom prst="rect">
            <a:avLst/>
          </a:prstGeom>
          <a:noFill/>
          <a:ln/>
        </p:spPr>
        <p:txBody>
          <a:bodyPr wrap="square" lIns="0" tIns="0" rIns="0" bIns="0" rtlCol="0" anchor="ctr"/>
          <a:lstStyle/>
          <a:p>
            <a:pPr indent="0" marL="0">
              <a:buNone/>
            </a:pPr>
            <a:r>
              <a:rPr lang="en-US" sz="3200" b="1" dirty="0">
                <a:solidFill>
                  <a:srgbClr val="1E2761"/>
                </a:solidFill>
                <a:latin typeface="Calibri" pitchFamily="34" charset="0"/>
                <a:ea typeface="Calibri" pitchFamily="34" charset="-122"/>
                <a:cs typeface="Calibri" pitchFamily="34" charset="-120"/>
              </a:rPr>
              <a:t>Feasibility</a:t>
            </a:r>
            <a:endParaRPr lang="en-US" sz="3200" dirty="0"/>
          </a:p>
        </p:txBody>
      </p:sp>
      <p:sp>
        <p:nvSpPr>
          <p:cNvPr id="3" name="Shape 1"/>
          <p:cNvSpPr/>
          <p:nvPr/>
        </p:nvSpPr>
        <p:spPr>
          <a:xfrm>
            <a:off x="548640" y="1188720"/>
            <a:ext cx="1097280" cy="54864"/>
          </a:xfrm>
          <a:prstGeom prst="rect">
            <a:avLst/>
          </a:prstGeom>
          <a:solidFill>
            <a:srgbClr val="065A82"/>
          </a:solidFill>
          <a:ln w="12700">
            <a:solidFill>
              <a:srgbClr val="065A82"/>
            </a:solidFill>
            <a:prstDash val="solid"/>
          </a:ln>
        </p:spPr>
      </p:sp>
      <p:sp>
        <p:nvSpPr>
          <p:cNvPr id="4" name="Text 2"/>
          <p:cNvSpPr/>
          <p:nvPr/>
        </p:nvSpPr>
        <p:spPr>
          <a:xfrm>
            <a:off x="640080" y="1645920"/>
            <a:ext cx="6858000" cy="4846320"/>
          </a:xfrm>
          <a:prstGeom prst="rect">
            <a:avLst/>
          </a:prstGeom>
          <a:noFill/>
          <a:ln/>
        </p:spPr>
        <p:txBody>
          <a:bodyPr wrap="square" lIns="0" tIns="0" rIns="0" bIns="0" rtlCol="0" anchor="ctr"/>
          <a:lstStyle/>
          <a:p>
            <a:pPr indent="0" marL="0">
              <a:spcAft>
                <a:spcPts val="400"/>
              </a:spcAft>
              <a:buNone/>
            </a:pPr>
            <a:r>
              <a:rPr lang="en-US" sz="1600" b="1" dirty="0">
                <a:solidFill>
                  <a:srgbClr val="1E2761"/>
                </a:solidFill>
                <a:latin typeface="Calibri" pitchFamily="34" charset="0"/>
                <a:ea typeface="Calibri" pitchFamily="34" charset="-122"/>
                <a:cs typeface="Calibri" pitchFamily="34" charset="-120"/>
              </a:rPr>
              <a:t>Compatible with off-the-shelf tooling</a:t>
            </a:r>
            <a:endParaRPr lang="en-US" sz="1600" dirty="0"/>
          </a:p>
          <a:p>
            <a:pPr indent="0" marL="0">
              <a:spcAft>
                <a:spcPts val="400"/>
              </a:spcAft>
              <a:buNone/>
            </a:pPr>
            <a:r>
              <a:rPr lang="en-US" sz="1300" dirty="0">
                <a:solidFill>
                  <a:srgbClr val="1A1F36"/>
                </a:solidFill>
                <a:latin typeface="Calibri" pitchFamily="34" charset="0"/>
                <a:ea typeface="Calibri" pitchFamily="34" charset="-122"/>
                <a:cs typeface="Calibri" pitchFamily="34" charset="-120"/>
              </a:rPr>
              <a:t>Opacus 1.5 + PyTorch 2.4 + custom FL simulator — no forks, no patches; suitable for production deployment.</a:t>
            </a:r>
            <a:endParaRPr lang="en-US" sz="1600" dirty="0"/>
          </a:p>
          <a:p>
            <a:pPr indent="0" marL="0">
              <a:spcAft>
                <a:spcPts val="400"/>
              </a:spcAft>
              <a:buNone/>
            </a:pPr>
            <a:endParaRPr lang="en-US" sz="1600" dirty="0"/>
          </a:p>
          <a:p>
            <a:pPr indent="0" marL="0">
              <a:spcAft>
                <a:spcPts val="400"/>
              </a:spcAft>
              <a:buNone/>
            </a:pPr>
            <a:r>
              <a:rPr lang="en-US" sz="1600" b="1" dirty="0">
                <a:solidFill>
                  <a:srgbClr val="1E2761"/>
                </a:solidFill>
                <a:latin typeface="Calibri" pitchFamily="34" charset="0"/>
                <a:ea typeface="Calibri" pitchFamily="34" charset="-122"/>
                <a:cs typeface="Calibri" pitchFamily="34" charset="-120"/>
              </a:rPr>
              <a:t>Bit-exact reproducibility</a:t>
            </a:r>
            <a:endParaRPr lang="en-US" sz="1600" dirty="0"/>
          </a:p>
          <a:p>
            <a:pPr indent="0" marL="0">
              <a:spcAft>
                <a:spcPts val="400"/>
              </a:spcAft>
              <a:buNone/>
            </a:pPr>
            <a:r>
              <a:rPr lang="en-US" sz="1300" dirty="0">
                <a:solidFill>
                  <a:srgbClr val="1A1F36"/>
                </a:solidFill>
                <a:latin typeface="Calibri" pitchFamily="34" charset="0"/>
                <a:ea typeface="Calibri" pitchFamily="34" charset="-122"/>
                <a:cs typeface="Calibri" pitchFamily="34" charset="-120"/>
              </a:rPr>
              <a:t>All configurations, logs, and seed (=42) preserved; cuDNN deterministic mode for run-to-run reproducibility.</a:t>
            </a:r>
            <a:endParaRPr lang="en-US" sz="1600" dirty="0"/>
          </a:p>
          <a:p>
            <a:pPr indent="0" marL="0">
              <a:spcAft>
                <a:spcPts val="400"/>
              </a:spcAft>
              <a:buNone/>
            </a:pPr>
            <a:endParaRPr lang="en-US" sz="1600" dirty="0"/>
          </a:p>
          <a:p>
            <a:pPr indent="0" marL="0">
              <a:spcAft>
                <a:spcPts val="400"/>
              </a:spcAft>
              <a:buNone/>
            </a:pPr>
            <a:r>
              <a:rPr lang="en-US" sz="1600" b="1" dirty="0">
                <a:solidFill>
                  <a:srgbClr val="1E2761"/>
                </a:solidFill>
                <a:latin typeface="Calibri" pitchFamily="34" charset="0"/>
                <a:ea typeface="Calibri" pitchFamily="34" charset="-122"/>
                <a:cs typeface="Calibri" pitchFamily="34" charset="-120"/>
              </a:rPr>
              <a:t>Clinically appropriate data handling</a:t>
            </a:r>
            <a:endParaRPr lang="en-US" sz="1600" dirty="0"/>
          </a:p>
          <a:p>
            <a:pPr indent="0" marL="0">
              <a:spcAft>
                <a:spcPts val="400"/>
              </a:spcAft>
              <a:buNone/>
            </a:pPr>
            <a:r>
              <a:rPr lang="en-US" sz="1300" dirty="0">
                <a:solidFill>
                  <a:srgbClr val="1A1F36"/>
                </a:solidFill>
                <a:latin typeface="Calibri" pitchFamily="34" charset="0"/>
                <a:ea typeface="Calibri" pitchFamily="34" charset="-122"/>
                <a:cs typeface="Calibri" pitchFamily="34" charset="-120"/>
              </a:rPr>
              <a:t>AAMI EC57:2012-compliant labeling; patient-stratified partitioning reflecting real non-IID hospital cohorts.</a:t>
            </a:r>
            <a:endParaRPr lang="en-US" sz="1600" dirty="0"/>
          </a:p>
          <a:p>
            <a:pPr indent="0" marL="0">
              <a:spcAft>
                <a:spcPts val="400"/>
              </a:spcAft>
              <a:buNone/>
            </a:pPr>
            <a:endParaRPr lang="en-US" sz="1600" dirty="0"/>
          </a:p>
          <a:p>
            <a:pPr indent="0" marL="0">
              <a:spcAft>
                <a:spcPts val="400"/>
              </a:spcAft>
              <a:buNone/>
            </a:pPr>
            <a:r>
              <a:rPr lang="en-US" sz="1600" b="1" dirty="0">
                <a:solidFill>
                  <a:srgbClr val="1E2761"/>
                </a:solidFill>
                <a:latin typeface="Calibri" pitchFamily="34" charset="0"/>
                <a:ea typeface="Calibri" pitchFamily="34" charset="-122"/>
                <a:cs typeface="Calibri" pitchFamily="34" charset="-120"/>
              </a:rPr>
              <a:t>Modest hardware requirements</a:t>
            </a:r>
            <a:endParaRPr lang="en-US" sz="1600" dirty="0"/>
          </a:p>
          <a:p>
            <a:pPr indent="0" marL="0">
              <a:spcAft>
                <a:spcPts val="400"/>
              </a:spcAft>
              <a:buNone/>
            </a:pPr>
            <a:r>
              <a:rPr lang="en-US" sz="1300" dirty="0">
                <a:solidFill>
                  <a:srgbClr val="1A1F36"/>
                </a:solidFill>
                <a:latin typeface="Calibri" pitchFamily="34" charset="0"/>
                <a:ea typeface="Calibri" pitchFamily="34" charset="-122"/>
                <a:cs typeface="Calibri" pitchFamily="34" charset="-120"/>
              </a:rPr>
              <a:t>Full sweep (~40 configs) runs in ~24 hours on a single GTX 1660 Super GPU; portable to higher-end hardware.</a:t>
            </a:r>
            <a:endParaRPr lang="en-US" sz="1600" dirty="0"/>
          </a:p>
        </p:txBody>
      </p:sp>
      <p:sp>
        <p:nvSpPr>
          <p:cNvPr id="5" name="Shape 3"/>
          <p:cNvSpPr/>
          <p:nvPr/>
        </p:nvSpPr>
        <p:spPr>
          <a:xfrm>
            <a:off x="7863840" y="1691640"/>
            <a:ext cx="3749040" cy="4114800"/>
          </a:xfrm>
          <a:prstGeom prst="rect">
            <a:avLst/>
          </a:prstGeom>
          <a:solidFill>
            <a:srgbClr val="F8FAFC"/>
          </a:solidFill>
          <a:ln w="6350">
            <a:solidFill>
              <a:srgbClr val="E2E8F0"/>
            </a:solidFill>
            <a:prstDash val="solid"/>
          </a:ln>
        </p:spPr>
      </p:sp>
      <p:sp>
        <p:nvSpPr>
          <p:cNvPr id="6" name="Shape 4"/>
          <p:cNvSpPr/>
          <p:nvPr/>
        </p:nvSpPr>
        <p:spPr>
          <a:xfrm>
            <a:off x="7863840" y="1691640"/>
            <a:ext cx="73152" cy="4114800"/>
          </a:xfrm>
          <a:prstGeom prst="rect">
            <a:avLst/>
          </a:prstGeom>
          <a:solidFill>
            <a:srgbClr val="065A82"/>
          </a:solidFill>
          <a:ln w="12700">
            <a:solidFill>
              <a:srgbClr val="333333"/>
            </a:solidFill>
            <a:prstDash val="solid"/>
          </a:ln>
        </p:spPr>
      </p:sp>
      <p:sp>
        <p:nvSpPr>
          <p:cNvPr id="7" name="Text 5"/>
          <p:cNvSpPr/>
          <p:nvPr/>
        </p:nvSpPr>
        <p:spPr>
          <a:xfrm>
            <a:off x="8138160" y="1920240"/>
            <a:ext cx="3383280" cy="365760"/>
          </a:xfrm>
          <a:prstGeom prst="rect">
            <a:avLst/>
          </a:prstGeom>
          <a:noFill/>
          <a:ln/>
        </p:spPr>
        <p:txBody>
          <a:bodyPr wrap="square" lIns="0" tIns="0" rIns="0" bIns="0" rtlCol="0" anchor="ctr"/>
          <a:lstStyle/>
          <a:p>
            <a:pPr indent="0" marL="0">
              <a:buNone/>
            </a:pPr>
            <a:r>
              <a:rPr lang="en-US" sz="1100" b="1" spc="400" kern="0" dirty="0">
                <a:solidFill>
                  <a:srgbClr val="065A82"/>
                </a:solidFill>
                <a:latin typeface="Calibri" pitchFamily="34" charset="0"/>
                <a:ea typeface="Calibri" pitchFamily="34" charset="-122"/>
                <a:cs typeface="Calibri" pitchFamily="34" charset="-120"/>
              </a:rPr>
              <a:t>TECHNOLOGY STACK</a:t>
            </a:r>
            <a:endParaRPr lang="en-US" sz="1100" dirty="0"/>
          </a:p>
        </p:txBody>
      </p:sp>
      <p:sp>
        <p:nvSpPr>
          <p:cNvPr id="8" name="Text 6"/>
          <p:cNvSpPr/>
          <p:nvPr/>
        </p:nvSpPr>
        <p:spPr>
          <a:xfrm>
            <a:off x="8138160" y="2468880"/>
            <a:ext cx="1371600" cy="320040"/>
          </a:xfrm>
          <a:prstGeom prst="rect">
            <a:avLst/>
          </a:prstGeom>
          <a:noFill/>
          <a:ln/>
        </p:spPr>
        <p:txBody>
          <a:bodyPr wrap="square" lIns="0" tIns="0" rIns="0" bIns="0" rtlCol="0" anchor="ctr"/>
          <a:lstStyle/>
          <a:p>
            <a:pPr indent="0" marL="0">
              <a:buNone/>
            </a:pPr>
            <a:r>
              <a:rPr lang="en-US" sz="1100" b="1" dirty="0">
                <a:solidFill>
                  <a:srgbClr val="475569"/>
                </a:solidFill>
                <a:latin typeface="Calibri" pitchFamily="34" charset="0"/>
                <a:ea typeface="Calibri" pitchFamily="34" charset="-122"/>
                <a:cs typeface="Calibri" pitchFamily="34" charset="-120"/>
              </a:rPr>
              <a:t>Language</a:t>
            </a:r>
            <a:endParaRPr lang="en-US" sz="1100" dirty="0"/>
          </a:p>
        </p:txBody>
      </p:sp>
      <p:sp>
        <p:nvSpPr>
          <p:cNvPr id="9" name="Text 7"/>
          <p:cNvSpPr/>
          <p:nvPr/>
        </p:nvSpPr>
        <p:spPr>
          <a:xfrm>
            <a:off x="9509760" y="2468880"/>
            <a:ext cx="2011680" cy="320040"/>
          </a:xfrm>
          <a:prstGeom prst="rect">
            <a:avLst/>
          </a:prstGeom>
          <a:noFill/>
          <a:ln/>
        </p:spPr>
        <p:txBody>
          <a:bodyPr wrap="square" lIns="0" tIns="0" rIns="0" bIns="0" rtlCol="0" anchor="ctr"/>
          <a:lstStyle/>
          <a:p>
            <a:pPr indent="0" marL="0">
              <a:buNone/>
            </a:pPr>
            <a:r>
              <a:rPr lang="en-US" sz="1100" dirty="0">
                <a:solidFill>
                  <a:srgbClr val="1A1F36"/>
                </a:solidFill>
                <a:latin typeface="Consolas" pitchFamily="34" charset="0"/>
                <a:ea typeface="Consolas" pitchFamily="34" charset="-122"/>
                <a:cs typeface="Consolas" pitchFamily="34" charset="-120"/>
              </a:rPr>
              <a:t>Python 3.11</a:t>
            </a:r>
            <a:endParaRPr lang="en-US" sz="1100" dirty="0"/>
          </a:p>
        </p:txBody>
      </p:sp>
      <p:sp>
        <p:nvSpPr>
          <p:cNvPr id="10" name="Text 8"/>
          <p:cNvSpPr/>
          <p:nvPr/>
        </p:nvSpPr>
        <p:spPr>
          <a:xfrm>
            <a:off x="8138160" y="2852928"/>
            <a:ext cx="1371600" cy="320040"/>
          </a:xfrm>
          <a:prstGeom prst="rect">
            <a:avLst/>
          </a:prstGeom>
          <a:noFill/>
          <a:ln/>
        </p:spPr>
        <p:txBody>
          <a:bodyPr wrap="square" lIns="0" tIns="0" rIns="0" bIns="0" rtlCol="0" anchor="ctr"/>
          <a:lstStyle/>
          <a:p>
            <a:pPr indent="0" marL="0">
              <a:buNone/>
            </a:pPr>
            <a:r>
              <a:rPr lang="en-US" sz="1100" b="1" dirty="0">
                <a:solidFill>
                  <a:srgbClr val="475569"/>
                </a:solidFill>
                <a:latin typeface="Calibri" pitchFamily="34" charset="0"/>
                <a:ea typeface="Calibri" pitchFamily="34" charset="-122"/>
                <a:cs typeface="Calibri" pitchFamily="34" charset="-120"/>
              </a:rPr>
              <a:t>Deep learning</a:t>
            </a:r>
            <a:endParaRPr lang="en-US" sz="1100" dirty="0"/>
          </a:p>
        </p:txBody>
      </p:sp>
      <p:sp>
        <p:nvSpPr>
          <p:cNvPr id="11" name="Text 9"/>
          <p:cNvSpPr/>
          <p:nvPr/>
        </p:nvSpPr>
        <p:spPr>
          <a:xfrm>
            <a:off x="9509760" y="2852928"/>
            <a:ext cx="2011680" cy="320040"/>
          </a:xfrm>
          <a:prstGeom prst="rect">
            <a:avLst/>
          </a:prstGeom>
          <a:noFill/>
          <a:ln/>
        </p:spPr>
        <p:txBody>
          <a:bodyPr wrap="square" lIns="0" tIns="0" rIns="0" bIns="0" rtlCol="0" anchor="ctr"/>
          <a:lstStyle/>
          <a:p>
            <a:pPr indent="0" marL="0">
              <a:buNone/>
            </a:pPr>
            <a:r>
              <a:rPr lang="en-US" sz="1100" dirty="0">
                <a:solidFill>
                  <a:srgbClr val="1A1F36"/>
                </a:solidFill>
                <a:latin typeface="Consolas" pitchFamily="34" charset="0"/>
                <a:ea typeface="Consolas" pitchFamily="34" charset="-122"/>
                <a:cs typeface="Consolas" pitchFamily="34" charset="-120"/>
              </a:rPr>
              <a:t>PyTorch 2.4 + CUDA</a:t>
            </a:r>
            <a:endParaRPr lang="en-US" sz="1100" dirty="0"/>
          </a:p>
        </p:txBody>
      </p:sp>
      <p:sp>
        <p:nvSpPr>
          <p:cNvPr id="12" name="Text 10"/>
          <p:cNvSpPr/>
          <p:nvPr/>
        </p:nvSpPr>
        <p:spPr>
          <a:xfrm>
            <a:off x="8138160" y="3236976"/>
            <a:ext cx="1371600" cy="320040"/>
          </a:xfrm>
          <a:prstGeom prst="rect">
            <a:avLst/>
          </a:prstGeom>
          <a:noFill/>
          <a:ln/>
        </p:spPr>
        <p:txBody>
          <a:bodyPr wrap="square" lIns="0" tIns="0" rIns="0" bIns="0" rtlCol="0" anchor="ctr"/>
          <a:lstStyle/>
          <a:p>
            <a:pPr indent="0" marL="0">
              <a:buNone/>
            </a:pPr>
            <a:r>
              <a:rPr lang="en-US" sz="1100" b="1" dirty="0">
                <a:solidFill>
                  <a:srgbClr val="475569"/>
                </a:solidFill>
                <a:latin typeface="Calibri" pitchFamily="34" charset="0"/>
                <a:ea typeface="Calibri" pitchFamily="34" charset="-122"/>
                <a:cs typeface="Calibri" pitchFamily="34" charset="-120"/>
              </a:rPr>
              <a:t>Privacy</a:t>
            </a:r>
            <a:endParaRPr lang="en-US" sz="1100" dirty="0"/>
          </a:p>
        </p:txBody>
      </p:sp>
      <p:sp>
        <p:nvSpPr>
          <p:cNvPr id="13" name="Text 11"/>
          <p:cNvSpPr/>
          <p:nvPr/>
        </p:nvSpPr>
        <p:spPr>
          <a:xfrm>
            <a:off x="9509760" y="3236976"/>
            <a:ext cx="2011680" cy="320040"/>
          </a:xfrm>
          <a:prstGeom prst="rect">
            <a:avLst/>
          </a:prstGeom>
          <a:noFill/>
          <a:ln/>
        </p:spPr>
        <p:txBody>
          <a:bodyPr wrap="square" lIns="0" tIns="0" rIns="0" bIns="0" rtlCol="0" anchor="ctr"/>
          <a:lstStyle/>
          <a:p>
            <a:pPr indent="0" marL="0">
              <a:buNone/>
            </a:pPr>
            <a:r>
              <a:rPr lang="en-US" sz="1100" dirty="0">
                <a:solidFill>
                  <a:srgbClr val="1A1F36"/>
                </a:solidFill>
                <a:latin typeface="Consolas" pitchFamily="34" charset="0"/>
                <a:ea typeface="Consolas" pitchFamily="34" charset="-122"/>
                <a:cs typeface="Consolas" pitchFamily="34" charset="-120"/>
              </a:rPr>
              <a:t>Opacus 1.5</a:t>
            </a:r>
            <a:endParaRPr lang="en-US" sz="1100" dirty="0"/>
          </a:p>
        </p:txBody>
      </p:sp>
      <p:sp>
        <p:nvSpPr>
          <p:cNvPr id="14" name="Text 12"/>
          <p:cNvSpPr/>
          <p:nvPr/>
        </p:nvSpPr>
        <p:spPr>
          <a:xfrm>
            <a:off x="8138160" y="3621024"/>
            <a:ext cx="1371600" cy="320040"/>
          </a:xfrm>
          <a:prstGeom prst="rect">
            <a:avLst/>
          </a:prstGeom>
          <a:noFill/>
          <a:ln/>
        </p:spPr>
        <p:txBody>
          <a:bodyPr wrap="square" lIns="0" tIns="0" rIns="0" bIns="0" rtlCol="0" anchor="ctr"/>
          <a:lstStyle/>
          <a:p>
            <a:pPr indent="0" marL="0">
              <a:buNone/>
            </a:pPr>
            <a:r>
              <a:rPr lang="en-US" sz="1100" b="1" dirty="0">
                <a:solidFill>
                  <a:srgbClr val="475569"/>
                </a:solidFill>
                <a:latin typeface="Calibri" pitchFamily="34" charset="0"/>
                <a:ea typeface="Calibri" pitchFamily="34" charset="-122"/>
                <a:cs typeface="Calibri" pitchFamily="34" charset="-120"/>
              </a:rPr>
              <a:t>FL engine</a:t>
            </a:r>
            <a:endParaRPr lang="en-US" sz="1100" dirty="0"/>
          </a:p>
        </p:txBody>
      </p:sp>
      <p:sp>
        <p:nvSpPr>
          <p:cNvPr id="15" name="Text 13"/>
          <p:cNvSpPr/>
          <p:nvPr/>
        </p:nvSpPr>
        <p:spPr>
          <a:xfrm>
            <a:off x="9509760" y="3621024"/>
            <a:ext cx="2011680" cy="320040"/>
          </a:xfrm>
          <a:prstGeom prst="rect">
            <a:avLst/>
          </a:prstGeom>
          <a:noFill/>
          <a:ln/>
        </p:spPr>
        <p:txBody>
          <a:bodyPr wrap="square" lIns="0" tIns="0" rIns="0" bIns="0" rtlCol="0" anchor="ctr"/>
          <a:lstStyle/>
          <a:p>
            <a:pPr indent="0" marL="0">
              <a:buNone/>
            </a:pPr>
            <a:r>
              <a:rPr lang="en-US" sz="1100" dirty="0">
                <a:solidFill>
                  <a:srgbClr val="1A1F36"/>
                </a:solidFill>
                <a:latin typeface="Consolas" pitchFamily="34" charset="0"/>
                <a:ea typeface="Consolas" pitchFamily="34" charset="-122"/>
                <a:cs typeface="Consolas" pitchFamily="34" charset="-120"/>
              </a:rPr>
              <a:t>Custom sequential sim</a:t>
            </a:r>
            <a:endParaRPr lang="en-US" sz="1100" dirty="0"/>
          </a:p>
        </p:txBody>
      </p:sp>
      <p:sp>
        <p:nvSpPr>
          <p:cNvPr id="16" name="Text 14"/>
          <p:cNvSpPr/>
          <p:nvPr/>
        </p:nvSpPr>
        <p:spPr>
          <a:xfrm>
            <a:off x="8138160" y="4005072"/>
            <a:ext cx="1371600" cy="320040"/>
          </a:xfrm>
          <a:prstGeom prst="rect">
            <a:avLst/>
          </a:prstGeom>
          <a:noFill/>
          <a:ln/>
        </p:spPr>
        <p:txBody>
          <a:bodyPr wrap="square" lIns="0" tIns="0" rIns="0" bIns="0" rtlCol="0" anchor="ctr"/>
          <a:lstStyle/>
          <a:p>
            <a:pPr indent="0" marL="0">
              <a:buNone/>
            </a:pPr>
            <a:r>
              <a:rPr lang="en-US" sz="1100" b="1" dirty="0">
                <a:solidFill>
                  <a:srgbClr val="475569"/>
                </a:solidFill>
                <a:latin typeface="Calibri" pitchFamily="34" charset="0"/>
                <a:ea typeface="Calibri" pitchFamily="34" charset="-122"/>
                <a:cs typeface="Calibri" pitchFamily="34" charset="-120"/>
              </a:rPr>
              <a:t>Data</a:t>
            </a:r>
            <a:endParaRPr lang="en-US" sz="1100" dirty="0"/>
          </a:p>
        </p:txBody>
      </p:sp>
      <p:sp>
        <p:nvSpPr>
          <p:cNvPr id="17" name="Text 15"/>
          <p:cNvSpPr/>
          <p:nvPr/>
        </p:nvSpPr>
        <p:spPr>
          <a:xfrm>
            <a:off x="9509760" y="4005072"/>
            <a:ext cx="2011680" cy="320040"/>
          </a:xfrm>
          <a:prstGeom prst="rect">
            <a:avLst/>
          </a:prstGeom>
          <a:noFill/>
          <a:ln/>
        </p:spPr>
        <p:txBody>
          <a:bodyPr wrap="square" lIns="0" tIns="0" rIns="0" bIns="0" rtlCol="0" anchor="ctr"/>
          <a:lstStyle/>
          <a:p>
            <a:pPr indent="0" marL="0">
              <a:buNone/>
            </a:pPr>
            <a:r>
              <a:rPr lang="en-US" sz="1100" dirty="0">
                <a:solidFill>
                  <a:srgbClr val="1A1F36"/>
                </a:solidFill>
                <a:latin typeface="Consolas" pitchFamily="34" charset="0"/>
                <a:ea typeface="Consolas" pitchFamily="34" charset="-122"/>
                <a:cs typeface="Consolas" pitchFamily="34" charset="-120"/>
              </a:rPr>
              <a:t>MIT-BIH, PTB-XL</a:t>
            </a:r>
            <a:endParaRPr lang="en-US" sz="1100" dirty="0"/>
          </a:p>
        </p:txBody>
      </p:sp>
      <p:sp>
        <p:nvSpPr>
          <p:cNvPr id="18" name="Text 16"/>
          <p:cNvSpPr/>
          <p:nvPr/>
        </p:nvSpPr>
        <p:spPr>
          <a:xfrm>
            <a:off x="8138160" y="4389120"/>
            <a:ext cx="1371600" cy="320040"/>
          </a:xfrm>
          <a:prstGeom prst="rect">
            <a:avLst/>
          </a:prstGeom>
          <a:noFill/>
          <a:ln/>
        </p:spPr>
        <p:txBody>
          <a:bodyPr wrap="square" lIns="0" tIns="0" rIns="0" bIns="0" rtlCol="0" anchor="ctr"/>
          <a:lstStyle/>
          <a:p>
            <a:pPr indent="0" marL="0">
              <a:buNone/>
            </a:pPr>
            <a:r>
              <a:rPr lang="en-US" sz="1100" b="1" dirty="0">
                <a:solidFill>
                  <a:srgbClr val="475569"/>
                </a:solidFill>
                <a:latin typeface="Calibri" pitchFamily="34" charset="0"/>
                <a:ea typeface="Calibri" pitchFamily="34" charset="-122"/>
                <a:cs typeface="Calibri" pitchFamily="34" charset="-120"/>
              </a:rPr>
              <a:t>Analysis</a:t>
            </a:r>
            <a:endParaRPr lang="en-US" sz="1100" dirty="0"/>
          </a:p>
        </p:txBody>
      </p:sp>
      <p:sp>
        <p:nvSpPr>
          <p:cNvPr id="19" name="Text 17"/>
          <p:cNvSpPr/>
          <p:nvPr/>
        </p:nvSpPr>
        <p:spPr>
          <a:xfrm>
            <a:off x="9509760" y="4389120"/>
            <a:ext cx="2011680" cy="320040"/>
          </a:xfrm>
          <a:prstGeom prst="rect">
            <a:avLst/>
          </a:prstGeom>
          <a:noFill/>
          <a:ln/>
        </p:spPr>
        <p:txBody>
          <a:bodyPr wrap="square" lIns="0" tIns="0" rIns="0" bIns="0" rtlCol="0" anchor="ctr"/>
          <a:lstStyle/>
          <a:p>
            <a:pPr indent="0" marL="0">
              <a:buNone/>
            </a:pPr>
            <a:r>
              <a:rPr lang="en-US" sz="1100" dirty="0">
                <a:solidFill>
                  <a:srgbClr val="1A1F36"/>
                </a:solidFill>
                <a:latin typeface="Consolas" pitchFamily="34" charset="0"/>
                <a:ea typeface="Consolas" pitchFamily="34" charset="-122"/>
                <a:cs typeface="Consolas" pitchFamily="34" charset="-120"/>
              </a:rPr>
              <a:t>pandas, NumPy, SciPy</a:t>
            </a:r>
            <a:endParaRPr lang="en-US" sz="1100" dirty="0"/>
          </a:p>
        </p:txBody>
      </p:sp>
      <p:sp>
        <p:nvSpPr>
          <p:cNvPr id="20" name="Text 18"/>
          <p:cNvSpPr/>
          <p:nvPr/>
        </p:nvSpPr>
        <p:spPr>
          <a:xfrm>
            <a:off x="8138160" y="4773168"/>
            <a:ext cx="1371600" cy="320040"/>
          </a:xfrm>
          <a:prstGeom prst="rect">
            <a:avLst/>
          </a:prstGeom>
          <a:noFill/>
          <a:ln/>
        </p:spPr>
        <p:txBody>
          <a:bodyPr wrap="square" lIns="0" tIns="0" rIns="0" bIns="0" rtlCol="0" anchor="ctr"/>
          <a:lstStyle/>
          <a:p>
            <a:pPr indent="0" marL="0">
              <a:buNone/>
            </a:pPr>
            <a:r>
              <a:rPr lang="en-US" sz="1100" b="1" dirty="0">
                <a:solidFill>
                  <a:srgbClr val="475569"/>
                </a:solidFill>
                <a:latin typeface="Calibri" pitchFamily="34" charset="0"/>
                <a:ea typeface="Calibri" pitchFamily="34" charset="-122"/>
                <a:cs typeface="Calibri" pitchFamily="34" charset="-120"/>
              </a:rPr>
              <a:t>Plots</a:t>
            </a:r>
            <a:endParaRPr lang="en-US" sz="1100" dirty="0"/>
          </a:p>
        </p:txBody>
      </p:sp>
      <p:sp>
        <p:nvSpPr>
          <p:cNvPr id="21" name="Text 19"/>
          <p:cNvSpPr/>
          <p:nvPr/>
        </p:nvSpPr>
        <p:spPr>
          <a:xfrm>
            <a:off x="9509760" y="4773168"/>
            <a:ext cx="2011680" cy="320040"/>
          </a:xfrm>
          <a:prstGeom prst="rect">
            <a:avLst/>
          </a:prstGeom>
          <a:noFill/>
          <a:ln/>
        </p:spPr>
        <p:txBody>
          <a:bodyPr wrap="square" lIns="0" tIns="0" rIns="0" bIns="0" rtlCol="0" anchor="ctr"/>
          <a:lstStyle/>
          <a:p>
            <a:pPr indent="0" marL="0">
              <a:buNone/>
            </a:pPr>
            <a:r>
              <a:rPr lang="en-US" sz="1100" dirty="0">
                <a:solidFill>
                  <a:srgbClr val="1A1F36"/>
                </a:solidFill>
                <a:latin typeface="Consolas" pitchFamily="34" charset="0"/>
                <a:ea typeface="Consolas" pitchFamily="34" charset="-122"/>
                <a:cs typeface="Consolas" pitchFamily="34" charset="-120"/>
              </a:rPr>
              <a:t>Matplotlib + LaTeX</a:t>
            </a:r>
            <a:endParaRPr lang="en-US" sz="1100" dirty="0"/>
          </a:p>
        </p:txBody>
      </p:sp>
      <p:sp>
        <p:nvSpPr>
          <p:cNvPr id="22" name="Text 20"/>
          <p:cNvSpPr/>
          <p:nvPr/>
        </p:nvSpPr>
        <p:spPr>
          <a:xfrm>
            <a:off x="8138160" y="5157216"/>
            <a:ext cx="1371600" cy="320040"/>
          </a:xfrm>
          <a:prstGeom prst="rect">
            <a:avLst/>
          </a:prstGeom>
          <a:noFill/>
          <a:ln/>
        </p:spPr>
        <p:txBody>
          <a:bodyPr wrap="square" lIns="0" tIns="0" rIns="0" bIns="0" rtlCol="0" anchor="ctr"/>
          <a:lstStyle/>
          <a:p>
            <a:pPr indent="0" marL="0">
              <a:buNone/>
            </a:pPr>
            <a:r>
              <a:rPr lang="en-US" sz="1100" b="1" dirty="0">
                <a:solidFill>
                  <a:srgbClr val="475569"/>
                </a:solidFill>
                <a:latin typeface="Calibri" pitchFamily="34" charset="0"/>
                <a:ea typeface="Calibri" pitchFamily="34" charset="-122"/>
                <a:cs typeface="Calibri" pitchFamily="34" charset="-120"/>
              </a:rPr>
              <a:t>Versioning</a:t>
            </a:r>
            <a:endParaRPr lang="en-US" sz="1100" dirty="0"/>
          </a:p>
        </p:txBody>
      </p:sp>
      <p:sp>
        <p:nvSpPr>
          <p:cNvPr id="23" name="Text 21"/>
          <p:cNvSpPr/>
          <p:nvPr/>
        </p:nvSpPr>
        <p:spPr>
          <a:xfrm>
            <a:off x="9509760" y="5157216"/>
            <a:ext cx="2011680" cy="320040"/>
          </a:xfrm>
          <a:prstGeom prst="rect">
            <a:avLst/>
          </a:prstGeom>
          <a:noFill/>
          <a:ln/>
        </p:spPr>
        <p:txBody>
          <a:bodyPr wrap="square" lIns="0" tIns="0" rIns="0" bIns="0" rtlCol="0" anchor="ctr"/>
          <a:lstStyle/>
          <a:p>
            <a:pPr indent="0" marL="0">
              <a:buNone/>
            </a:pPr>
            <a:r>
              <a:rPr lang="en-US" sz="1100" dirty="0">
                <a:solidFill>
                  <a:srgbClr val="1A1F36"/>
                </a:solidFill>
                <a:latin typeface="Consolas" pitchFamily="34" charset="0"/>
                <a:ea typeface="Consolas" pitchFamily="34" charset="-122"/>
                <a:cs typeface="Consolas" pitchFamily="34" charset="-120"/>
              </a:rPr>
              <a:t>Git + GitHub</a:t>
            </a:r>
            <a:endParaRPr lang="en-US" sz="1100" dirty="0"/>
          </a:p>
        </p:txBody>
      </p:sp>
      <p:sp>
        <p:nvSpPr>
          <p:cNvPr id="24" name="Text 22"/>
          <p:cNvSpPr/>
          <p:nvPr/>
        </p:nvSpPr>
        <p:spPr>
          <a:xfrm>
            <a:off x="457200" y="6492240"/>
            <a:ext cx="8229600" cy="274320"/>
          </a:xfrm>
          <a:prstGeom prst="rect">
            <a:avLst/>
          </a:prstGeom>
          <a:noFill/>
          <a:ln/>
        </p:spPr>
        <p:txBody>
          <a:bodyPr wrap="square" lIns="0" tIns="0" rIns="0" bIns="0" rtlCol="0" anchor="ctr"/>
          <a:lstStyle/>
          <a:p>
            <a:pPr indent="0" marL="0">
              <a:buNone/>
            </a:pPr>
            <a:r>
              <a:rPr lang="en-US" sz="900" dirty="0">
                <a:solidFill>
                  <a:srgbClr val="94A3B8"/>
                </a:solidFill>
                <a:latin typeface="Calibri" pitchFamily="34" charset="0"/>
                <a:ea typeface="Calibri" pitchFamily="34" charset="-122"/>
                <a:cs typeface="Calibri" pitchFamily="34" charset="-120"/>
              </a:rPr>
              <a:t>Efe Deniz Bağlar  ·  Undergraduate Thesis  ·  Ege University · Computer Engineering</a:t>
            </a:r>
            <a:endParaRPr lang="en-US" sz="900" dirty="0"/>
          </a:p>
        </p:txBody>
      </p:sp>
      <p:sp>
        <p:nvSpPr>
          <p:cNvPr id="25" name="Text 23"/>
          <p:cNvSpPr/>
          <p:nvPr/>
        </p:nvSpPr>
        <p:spPr>
          <a:xfrm>
            <a:off x="10820095" y="6492240"/>
            <a:ext cx="914400" cy="274320"/>
          </a:xfrm>
          <a:prstGeom prst="rect">
            <a:avLst/>
          </a:prstGeom>
          <a:noFill/>
          <a:ln/>
        </p:spPr>
        <p:txBody>
          <a:bodyPr wrap="square" lIns="0" tIns="0" rIns="0" bIns="0" rtlCol="0" anchor="ctr"/>
          <a:lstStyle/>
          <a:p>
            <a:pPr algn="r" indent="0" marL="0">
              <a:buNone/>
            </a:pPr>
            <a:r>
              <a:rPr lang="en-US" sz="900" dirty="0">
                <a:solidFill>
                  <a:srgbClr val="94A3B8"/>
                </a:solidFill>
                <a:latin typeface="Calibri" pitchFamily="34" charset="0"/>
                <a:ea typeface="Calibri" pitchFamily="34" charset="-122"/>
                <a:cs typeface="Calibri" pitchFamily="34" charset="-120"/>
              </a:rPr>
              <a:t>7 / 11</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65760"/>
            <a:ext cx="11094415" cy="822960"/>
          </a:xfrm>
          <a:prstGeom prst="rect">
            <a:avLst/>
          </a:prstGeom>
          <a:noFill/>
          <a:ln/>
        </p:spPr>
        <p:txBody>
          <a:bodyPr wrap="square" lIns="0" tIns="0" rIns="0" bIns="0" rtlCol="0" anchor="ctr"/>
          <a:lstStyle/>
          <a:p>
            <a:pPr indent="0" marL="0">
              <a:buNone/>
            </a:pPr>
            <a:r>
              <a:rPr lang="en-US" sz="3200" b="1" dirty="0">
                <a:solidFill>
                  <a:srgbClr val="1E2761"/>
                </a:solidFill>
                <a:latin typeface="Calibri" pitchFamily="34" charset="0"/>
                <a:ea typeface="Calibri" pitchFamily="34" charset="-122"/>
                <a:cs typeface="Calibri" pitchFamily="34" charset="-120"/>
              </a:rPr>
              <a:t>Methodology  ·  Data and Experimental Setup</a:t>
            </a:r>
            <a:endParaRPr lang="en-US" sz="3200" dirty="0"/>
          </a:p>
        </p:txBody>
      </p:sp>
      <p:sp>
        <p:nvSpPr>
          <p:cNvPr id="3" name="Shape 1"/>
          <p:cNvSpPr/>
          <p:nvPr/>
        </p:nvSpPr>
        <p:spPr>
          <a:xfrm>
            <a:off x="548640" y="1188720"/>
            <a:ext cx="1097280" cy="54864"/>
          </a:xfrm>
          <a:prstGeom prst="rect">
            <a:avLst/>
          </a:prstGeom>
          <a:solidFill>
            <a:srgbClr val="065A82"/>
          </a:solidFill>
          <a:ln w="12700">
            <a:solidFill>
              <a:srgbClr val="065A82"/>
            </a:solidFill>
            <a:prstDash val="solid"/>
          </a:ln>
        </p:spPr>
      </p:sp>
      <p:sp>
        <p:nvSpPr>
          <p:cNvPr id="4" name="Shape 2"/>
          <p:cNvSpPr/>
          <p:nvPr/>
        </p:nvSpPr>
        <p:spPr>
          <a:xfrm>
            <a:off x="640080" y="1691640"/>
            <a:ext cx="3931920" cy="2926080"/>
          </a:xfrm>
          <a:prstGeom prst="rect">
            <a:avLst/>
          </a:prstGeom>
          <a:solidFill>
            <a:srgbClr val="F8FAFC"/>
          </a:solidFill>
          <a:ln w="6350">
            <a:solidFill>
              <a:srgbClr val="E2E8F0"/>
            </a:solidFill>
            <a:prstDash val="solid"/>
          </a:ln>
        </p:spPr>
      </p:sp>
      <p:sp>
        <p:nvSpPr>
          <p:cNvPr id="5" name="Shape 3"/>
          <p:cNvSpPr/>
          <p:nvPr/>
        </p:nvSpPr>
        <p:spPr>
          <a:xfrm>
            <a:off x="640080" y="1691640"/>
            <a:ext cx="73152" cy="2926080"/>
          </a:xfrm>
          <a:prstGeom prst="rect">
            <a:avLst/>
          </a:prstGeom>
          <a:solidFill>
            <a:srgbClr val="1C7293"/>
          </a:solidFill>
          <a:ln w="12700">
            <a:solidFill>
              <a:srgbClr val="333333"/>
            </a:solidFill>
            <a:prstDash val="solid"/>
          </a:ln>
        </p:spPr>
      </p:sp>
      <p:sp>
        <p:nvSpPr>
          <p:cNvPr id="6" name="Text 4"/>
          <p:cNvSpPr/>
          <p:nvPr/>
        </p:nvSpPr>
        <p:spPr>
          <a:xfrm>
            <a:off x="868680" y="1874520"/>
            <a:ext cx="3657600" cy="457200"/>
          </a:xfrm>
          <a:prstGeom prst="rect">
            <a:avLst/>
          </a:prstGeom>
          <a:noFill/>
          <a:ln/>
        </p:spPr>
        <p:txBody>
          <a:bodyPr wrap="square" lIns="0" tIns="0" rIns="0" bIns="0" rtlCol="0" anchor="ctr"/>
          <a:lstStyle/>
          <a:p>
            <a:pPr indent="0" marL="0">
              <a:buNone/>
            </a:pPr>
            <a:r>
              <a:rPr lang="en-US" sz="1700" b="1" dirty="0">
                <a:solidFill>
                  <a:srgbClr val="1E2761"/>
                </a:solidFill>
                <a:latin typeface="Calibri" pitchFamily="34" charset="0"/>
                <a:ea typeface="Calibri" pitchFamily="34" charset="-122"/>
                <a:cs typeface="Calibri" pitchFamily="34" charset="-120"/>
              </a:rPr>
              <a:t>MIT-BIH Arrhythmia</a:t>
            </a:r>
            <a:endParaRPr lang="en-US" sz="1700" dirty="0"/>
          </a:p>
        </p:txBody>
      </p:sp>
      <p:sp>
        <p:nvSpPr>
          <p:cNvPr id="7" name="Text 5"/>
          <p:cNvSpPr/>
          <p:nvPr/>
        </p:nvSpPr>
        <p:spPr>
          <a:xfrm>
            <a:off x="914400" y="2468880"/>
            <a:ext cx="1463040" cy="365760"/>
          </a:xfrm>
          <a:prstGeom prst="rect">
            <a:avLst/>
          </a:prstGeom>
          <a:noFill/>
          <a:ln/>
        </p:spPr>
        <p:txBody>
          <a:bodyPr wrap="square" lIns="0" tIns="0" rIns="0" bIns="0" rtlCol="0" anchor="ctr"/>
          <a:lstStyle/>
          <a:p>
            <a:pPr indent="0" marL="0">
              <a:buNone/>
            </a:pPr>
            <a:r>
              <a:rPr lang="en-US" sz="1200" dirty="0">
                <a:solidFill>
                  <a:srgbClr val="475569"/>
                </a:solidFill>
                <a:latin typeface="Calibri" pitchFamily="34" charset="0"/>
                <a:ea typeface="Calibri" pitchFamily="34" charset="-122"/>
                <a:cs typeface="Calibri" pitchFamily="34" charset="-120"/>
              </a:rPr>
              <a:t>Records</a:t>
            </a:r>
            <a:endParaRPr lang="en-US" sz="1200" dirty="0"/>
          </a:p>
        </p:txBody>
      </p:sp>
      <p:sp>
        <p:nvSpPr>
          <p:cNvPr id="8" name="Text 6"/>
          <p:cNvSpPr/>
          <p:nvPr/>
        </p:nvSpPr>
        <p:spPr>
          <a:xfrm>
            <a:off x="2377440" y="2468880"/>
            <a:ext cx="2103120" cy="365760"/>
          </a:xfrm>
          <a:prstGeom prst="rect">
            <a:avLst/>
          </a:prstGeom>
          <a:noFill/>
          <a:ln/>
        </p:spPr>
        <p:txBody>
          <a:bodyPr wrap="square" lIns="0" tIns="0" rIns="0" bIns="0" rtlCol="0" anchor="ctr"/>
          <a:lstStyle/>
          <a:p>
            <a:pPr indent="0" marL="0">
              <a:buNone/>
            </a:pPr>
            <a:r>
              <a:rPr lang="en-US" sz="1300" b="1" dirty="0">
                <a:solidFill>
                  <a:srgbClr val="1A1F36"/>
                </a:solidFill>
                <a:latin typeface="Calibri" pitchFamily="34" charset="0"/>
                <a:ea typeface="Calibri" pitchFamily="34" charset="-122"/>
                <a:cs typeface="Calibri" pitchFamily="34" charset="-120"/>
              </a:rPr>
              <a:t>48 patients</a:t>
            </a:r>
            <a:endParaRPr lang="en-US" sz="1300" dirty="0"/>
          </a:p>
        </p:txBody>
      </p:sp>
      <p:sp>
        <p:nvSpPr>
          <p:cNvPr id="9" name="Text 7"/>
          <p:cNvSpPr/>
          <p:nvPr/>
        </p:nvSpPr>
        <p:spPr>
          <a:xfrm>
            <a:off x="914400" y="2926080"/>
            <a:ext cx="1463040" cy="365760"/>
          </a:xfrm>
          <a:prstGeom prst="rect">
            <a:avLst/>
          </a:prstGeom>
          <a:noFill/>
          <a:ln/>
        </p:spPr>
        <p:txBody>
          <a:bodyPr wrap="square" lIns="0" tIns="0" rIns="0" bIns="0" rtlCol="0" anchor="ctr"/>
          <a:lstStyle/>
          <a:p>
            <a:pPr indent="0" marL="0">
              <a:buNone/>
            </a:pPr>
            <a:r>
              <a:rPr lang="en-US" sz="1200" dirty="0">
                <a:solidFill>
                  <a:srgbClr val="475569"/>
                </a:solidFill>
                <a:latin typeface="Calibri" pitchFamily="34" charset="0"/>
                <a:ea typeface="Calibri" pitchFamily="34" charset="-122"/>
                <a:cs typeface="Calibri" pitchFamily="34" charset="-120"/>
              </a:rPr>
              <a:t>Beats</a:t>
            </a:r>
            <a:endParaRPr lang="en-US" sz="1200" dirty="0"/>
          </a:p>
        </p:txBody>
      </p:sp>
      <p:sp>
        <p:nvSpPr>
          <p:cNvPr id="10" name="Text 8"/>
          <p:cNvSpPr/>
          <p:nvPr/>
        </p:nvSpPr>
        <p:spPr>
          <a:xfrm>
            <a:off x="2377440" y="2926080"/>
            <a:ext cx="2103120" cy="365760"/>
          </a:xfrm>
          <a:prstGeom prst="rect">
            <a:avLst/>
          </a:prstGeom>
          <a:noFill/>
          <a:ln/>
        </p:spPr>
        <p:txBody>
          <a:bodyPr wrap="square" lIns="0" tIns="0" rIns="0" bIns="0" rtlCol="0" anchor="ctr"/>
          <a:lstStyle/>
          <a:p>
            <a:pPr indent="0" marL="0">
              <a:buNone/>
            </a:pPr>
            <a:r>
              <a:rPr lang="en-US" sz="1300" b="1" dirty="0">
                <a:solidFill>
                  <a:srgbClr val="1A1F36"/>
                </a:solidFill>
                <a:latin typeface="Calibri" pitchFamily="34" charset="0"/>
                <a:ea typeface="Calibri" pitchFamily="34" charset="-122"/>
                <a:cs typeface="Calibri" pitchFamily="34" charset="-120"/>
              </a:rPr>
              <a:t>~109,453</a:t>
            </a:r>
            <a:endParaRPr lang="en-US" sz="1300" dirty="0"/>
          </a:p>
        </p:txBody>
      </p:sp>
      <p:sp>
        <p:nvSpPr>
          <p:cNvPr id="11" name="Text 9"/>
          <p:cNvSpPr/>
          <p:nvPr/>
        </p:nvSpPr>
        <p:spPr>
          <a:xfrm>
            <a:off x="914400" y="3383280"/>
            <a:ext cx="1463040" cy="365760"/>
          </a:xfrm>
          <a:prstGeom prst="rect">
            <a:avLst/>
          </a:prstGeom>
          <a:noFill/>
          <a:ln/>
        </p:spPr>
        <p:txBody>
          <a:bodyPr wrap="square" lIns="0" tIns="0" rIns="0" bIns="0" rtlCol="0" anchor="ctr"/>
          <a:lstStyle/>
          <a:p>
            <a:pPr indent="0" marL="0">
              <a:buNone/>
            </a:pPr>
            <a:r>
              <a:rPr lang="en-US" sz="1200" dirty="0">
                <a:solidFill>
                  <a:srgbClr val="475569"/>
                </a:solidFill>
                <a:latin typeface="Calibri" pitchFamily="34" charset="0"/>
                <a:ea typeface="Calibri" pitchFamily="34" charset="-122"/>
                <a:cs typeface="Calibri" pitchFamily="34" charset="-120"/>
              </a:rPr>
              <a:t>Classes</a:t>
            </a:r>
            <a:endParaRPr lang="en-US" sz="1200" dirty="0"/>
          </a:p>
        </p:txBody>
      </p:sp>
      <p:sp>
        <p:nvSpPr>
          <p:cNvPr id="12" name="Text 10"/>
          <p:cNvSpPr/>
          <p:nvPr/>
        </p:nvSpPr>
        <p:spPr>
          <a:xfrm>
            <a:off x="2377440" y="3383280"/>
            <a:ext cx="2103120" cy="365760"/>
          </a:xfrm>
          <a:prstGeom prst="rect">
            <a:avLst/>
          </a:prstGeom>
          <a:noFill/>
          <a:ln/>
        </p:spPr>
        <p:txBody>
          <a:bodyPr wrap="square" lIns="0" tIns="0" rIns="0" bIns="0" rtlCol="0" anchor="ctr"/>
          <a:lstStyle/>
          <a:p>
            <a:pPr indent="0" marL="0">
              <a:buNone/>
            </a:pPr>
            <a:r>
              <a:rPr lang="en-US" sz="1300" b="1" dirty="0">
                <a:solidFill>
                  <a:srgbClr val="1A1F36"/>
                </a:solidFill>
                <a:latin typeface="Calibri" pitchFamily="34" charset="0"/>
                <a:ea typeface="Calibri" pitchFamily="34" charset="-122"/>
                <a:cs typeface="Calibri" pitchFamily="34" charset="-120"/>
              </a:rPr>
              <a:t>5 (AAMI EC57)</a:t>
            </a:r>
            <a:endParaRPr lang="en-US" sz="1300" dirty="0"/>
          </a:p>
        </p:txBody>
      </p:sp>
      <p:sp>
        <p:nvSpPr>
          <p:cNvPr id="13" name="Text 11"/>
          <p:cNvSpPr/>
          <p:nvPr/>
        </p:nvSpPr>
        <p:spPr>
          <a:xfrm>
            <a:off x="914400" y="3840480"/>
            <a:ext cx="1463040" cy="365760"/>
          </a:xfrm>
          <a:prstGeom prst="rect">
            <a:avLst/>
          </a:prstGeom>
          <a:noFill/>
          <a:ln/>
        </p:spPr>
        <p:txBody>
          <a:bodyPr wrap="square" lIns="0" tIns="0" rIns="0" bIns="0" rtlCol="0" anchor="ctr"/>
          <a:lstStyle/>
          <a:p>
            <a:pPr indent="0" marL="0">
              <a:buNone/>
            </a:pPr>
            <a:r>
              <a:rPr lang="en-US" sz="1200" dirty="0">
                <a:solidFill>
                  <a:srgbClr val="475569"/>
                </a:solidFill>
                <a:latin typeface="Calibri" pitchFamily="34" charset="0"/>
                <a:ea typeface="Calibri" pitchFamily="34" charset="-122"/>
                <a:cs typeface="Calibri" pitchFamily="34" charset="-120"/>
              </a:rPr>
              <a:t>Task</a:t>
            </a:r>
            <a:endParaRPr lang="en-US" sz="1200" dirty="0"/>
          </a:p>
        </p:txBody>
      </p:sp>
      <p:sp>
        <p:nvSpPr>
          <p:cNvPr id="14" name="Text 12"/>
          <p:cNvSpPr/>
          <p:nvPr/>
        </p:nvSpPr>
        <p:spPr>
          <a:xfrm>
            <a:off x="2377440" y="3840480"/>
            <a:ext cx="2103120" cy="365760"/>
          </a:xfrm>
          <a:prstGeom prst="rect">
            <a:avLst/>
          </a:prstGeom>
          <a:noFill/>
          <a:ln/>
        </p:spPr>
        <p:txBody>
          <a:bodyPr wrap="square" lIns="0" tIns="0" rIns="0" bIns="0" rtlCol="0" anchor="ctr"/>
          <a:lstStyle/>
          <a:p>
            <a:pPr indent="0" marL="0">
              <a:buNone/>
            </a:pPr>
            <a:r>
              <a:rPr lang="en-US" sz="1300" b="1" dirty="0">
                <a:solidFill>
                  <a:srgbClr val="1A1F36"/>
                </a:solidFill>
                <a:latin typeface="Calibri" pitchFamily="34" charset="0"/>
                <a:ea typeface="Calibri" pitchFamily="34" charset="-122"/>
                <a:cs typeface="Calibri" pitchFamily="34" charset="-120"/>
              </a:rPr>
              <a:t>Beat classification</a:t>
            </a:r>
            <a:endParaRPr lang="en-US" sz="1300" dirty="0"/>
          </a:p>
        </p:txBody>
      </p:sp>
      <p:sp>
        <p:nvSpPr>
          <p:cNvPr id="15" name="Shape 13"/>
          <p:cNvSpPr/>
          <p:nvPr/>
        </p:nvSpPr>
        <p:spPr>
          <a:xfrm>
            <a:off x="4754880" y="1691640"/>
            <a:ext cx="3931920" cy="2926080"/>
          </a:xfrm>
          <a:prstGeom prst="rect">
            <a:avLst/>
          </a:prstGeom>
          <a:solidFill>
            <a:srgbClr val="F8FAFC"/>
          </a:solidFill>
          <a:ln w="6350">
            <a:solidFill>
              <a:srgbClr val="E2E8F0"/>
            </a:solidFill>
            <a:prstDash val="solid"/>
          </a:ln>
        </p:spPr>
      </p:sp>
      <p:sp>
        <p:nvSpPr>
          <p:cNvPr id="16" name="Shape 14"/>
          <p:cNvSpPr/>
          <p:nvPr/>
        </p:nvSpPr>
        <p:spPr>
          <a:xfrm>
            <a:off x="4754880" y="1691640"/>
            <a:ext cx="73152" cy="2926080"/>
          </a:xfrm>
          <a:prstGeom prst="rect">
            <a:avLst/>
          </a:prstGeom>
          <a:solidFill>
            <a:srgbClr val="1C7293"/>
          </a:solidFill>
          <a:ln w="12700">
            <a:solidFill>
              <a:srgbClr val="333333"/>
            </a:solidFill>
            <a:prstDash val="solid"/>
          </a:ln>
        </p:spPr>
      </p:sp>
      <p:sp>
        <p:nvSpPr>
          <p:cNvPr id="17" name="Text 15"/>
          <p:cNvSpPr/>
          <p:nvPr/>
        </p:nvSpPr>
        <p:spPr>
          <a:xfrm>
            <a:off x="4983480" y="1874520"/>
            <a:ext cx="3657600" cy="457200"/>
          </a:xfrm>
          <a:prstGeom prst="rect">
            <a:avLst/>
          </a:prstGeom>
          <a:noFill/>
          <a:ln/>
        </p:spPr>
        <p:txBody>
          <a:bodyPr wrap="square" lIns="0" tIns="0" rIns="0" bIns="0" rtlCol="0" anchor="ctr"/>
          <a:lstStyle/>
          <a:p>
            <a:pPr indent="0" marL="0">
              <a:buNone/>
            </a:pPr>
            <a:r>
              <a:rPr lang="en-US" sz="1700" b="1" dirty="0">
                <a:solidFill>
                  <a:srgbClr val="1E2761"/>
                </a:solidFill>
                <a:latin typeface="Calibri" pitchFamily="34" charset="0"/>
                <a:ea typeface="Calibri" pitchFamily="34" charset="-122"/>
                <a:cs typeface="Calibri" pitchFamily="34" charset="-120"/>
              </a:rPr>
              <a:t>PTB-XL</a:t>
            </a:r>
            <a:endParaRPr lang="en-US" sz="1700" dirty="0"/>
          </a:p>
        </p:txBody>
      </p:sp>
      <p:sp>
        <p:nvSpPr>
          <p:cNvPr id="18" name="Text 16"/>
          <p:cNvSpPr/>
          <p:nvPr/>
        </p:nvSpPr>
        <p:spPr>
          <a:xfrm>
            <a:off x="5029200" y="2468880"/>
            <a:ext cx="1463040" cy="365760"/>
          </a:xfrm>
          <a:prstGeom prst="rect">
            <a:avLst/>
          </a:prstGeom>
          <a:noFill/>
          <a:ln/>
        </p:spPr>
        <p:txBody>
          <a:bodyPr wrap="square" lIns="0" tIns="0" rIns="0" bIns="0" rtlCol="0" anchor="ctr"/>
          <a:lstStyle/>
          <a:p>
            <a:pPr indent="0" marL="0">
              <a:buNone/>
            </a:pPr>
            <a:r>
              <a:rPr lang="en-US" sz="1200" dirty="0">
                <a:solidFill>
                  <a:srgbClr val="475569"/>
                </a:solidFill>
                <a:latin typeface="Calibri" pitchFamily="34" charset="0"/>
                <a:ea typeface="Calibri" pitchFamily="34" charset="-122"/>
                <a:cs typeface="Calibri" pitchFamily="34" charset="-120"/>
              </a:rPr>
              <a:t>Records</a:t>
            </a:r>
            <a:endParaRPr lang="en-US" sz="1200" dirty="0"/>
          </a:p>
        </p:txBody>
      </p:sp>
      <p:sp>
        <p:nvSpPr>
          <p:cNvPr id="19" name="Text 17"/>
          <p:cNvSpPr/>
          <p:nvPr/>
        </p:nvSpPr>
        <p:spPr>
          <a:xfrm>
            <a:off x="6492240" y="2468880"/>
            <a:ext cx="2103120" cy="365760"/>
          </a:xfrm>
          <a:prstGeom prst="rect">
            <a:avLst/>
          </a:prstGeom>
          <a:noFill/>
          <a:ln/>
        </p:spPr>
        <p:txBody>
          <a:bodyPr wrap="square" lIns="0" tIns="0" rIns="0" bIns="0" rtlCol="0" anchor="ctr"/>
          <a:lstStyle/>
          <a:p>
            <a:pPr indent="0" marL="0">
              <a:buNone/>
            </a:pPr>
            <a:r>
              <a:rPr lang="en-US" sz="1300" b="1" dirty="0">
                <a:solidFill>
                  <a:srgbClr val="1A1F36"/>
                </a:solidFill>
                <a:latin typeface="Calibri" pitchFamily="34" charset="0"/>
                <a:ea typeface="Calibri" pitchFamily="34" charset="-122"/>
                <a:cs typeface="Calibri" pitchFamily="34" charset="-120"/>
              </a:rPr>
              <a:t>21,388</a:t>
            </a:r>
            <a:endParaRPr lang="en-US" sz="1300" dirty="0"/>
          </a:p>
        </p:txBody>
      </p:sp>
      <p:sp>
        <p:nvSpPr>
          <p:cNvPr id="20" name="Text 18"/>
          <p:cNvSpPr/>
          <p:nvPr/>
        </p:nvSpPr>
        <p:spPr>
          <a:xfrm>
            <a:off x="5029200" y="2926080"/>
            <a:ext cx="1463040" cy="365760"/>
          </a:xfrm>
          <a:prstGeom prst="rect">
            <a:avLst/>
          </a:prstGeom>
          <a:noFill/>
          <a:ln/>
        </p:spPr>
        <p:txBody>
          <a:bodyPr wrap="square" lIns="0" tIns="0" rIns="0" bIns="0" rtlCol="0" anchor="ctr"/>
          <a:lstStyle/>
          <a:p>
            <a:pPr indent="0" marL="0">
              <a:buNone/>
            </a:pPr>
            <a:r>
              <a:rPr lang="en-US" sz="1200" dirty="0">
                <a:solidFill>
                  <a:srgbClr val="475569"/>
                </a:solidFill>
                <a:latin typeface="Calibri" pitchFamily="34" charset="0"/>
                <a:ea typeface="Calibri" pitchFamily="34" charset="-122"/>
                <a:cs typeface="Calibri" pitchFamily="34" charset="-120"/>
              </a:rPr>
              <a:t>Length</a:t>
            </a:r>
            <a:endParaRPr lang="en-US" sz="1200" dirty="0"/>
          </a:p>
        </p:txBody>
      </p:sp>
      <p:sp>
        <p:nvSpPr>
          <p:cNvPr id="21" name="Text 19"/>
          <p:cNvSpPr/>
          <p:nvPr/>
        </p:nvSpPr>
        <p:spPr>
          <a:xfrm>
            <a:off x="6492240" y="2926080"/>
            <a:ext cx="2103120" cy="365760"/>
          </a:xfrm>
          <a:prstGeom prst="rect">
            <a:avLst/>
          </a:prstGeom>
          <a:noFill/>
          <a:ln/>
        </p:spPr>
        <p:txBody>
          <a:bodyPr wrap="square" lIns="0" tIns="0" rIns="0" bIns="0" rtlCol="0" anchor="ctr"/>
          <a:lstStyle/>
          <a:p>
            <a:pPr indent="0" marL="0">
              <a:buNone/>
            </a:pPr>
            <a:r>
              <a:rPr lang="en-US" sz="1300" b="1" dirty="0">
                <a:solidFill>
                  <a:srgbClr val="1A1F36"/>
                </a:solidFill>
                <a:latin typeface="Calibri" pitchFamily="34" charset="0"/>
                <a:ea typeface="Calibri" pitchFamily="34" charset="-122"/>
                <a:cs typeface="Calibri" pitchFamily="34" charset="-120"/>
              </a:rPr>
              <a:t>10 sec / record</a:t>
            </a:r>
            <a:endParaRPr lang="en-US" sz="1300" dirty="0"/>
          </a:p>
        </p:txBody>
      </p:sp>
      <p:sp>
        <p:nvSpPr>
          <p:cNvPr id="22" name="Text 20"/>
          <p:cNvSpPr/>
          <p:nvPr/>
        </p:nvSpPr>
        <p:spPr>
          <a:xfrm>
            <a:off x="5029200" y="3383280"/>
            <a:ext cx="1463040" cy="365760"/>
          </a:xfrm>
          <a:prstGeom prst="rect">
            <a:avLst/>
          </a:prstGeom>
          <a:noFill/>
          <a:ln/>
        </p:spPr>
        <p:txBody>
          <a:bodyPr wrap="square" lIns="0" tIns="0" rIns="0" bIns="0" rtlCol="0" anchor="ctr"/>
          <a:lstStyle/>
          <a:p>
            <a:pPr indent="0" marL="0">
              <a:buNone/>
            </a:pPr>
            <a:r>
              <a:rPr lang="en-US" sz="1200" dirty="0">
                <a:solidFill>
                  <a:srgbClr val="475569"/>
                </a:solidFill>
                <a:latin typeface="Calibri" pitchFamily="34" charset="0"/>
                <a:ea typeface="Calibri" pitchFamily="34" charset="-122"/>
                <a:cs typeface="Calibri" pitchFamily="34" charset="-120"/>
              </a:rPr>
              <a:t>Classes</a:t>
            </a:r>
            <a:endParaRPr lang="en-US" sz="1200" dirty="0"/>
          </a:p>
        </p:txBody>
      </p:sp>
      <p:sp>
        <p:nvSpPr>
          <p:cNvPr id="23" name="Text 21"/>
          <p:cNvSpPr/>
          <p:nvPr/>
        </p:nvSpPr>
        <p:spPr>
          <a:xfrm>
            <a:off x="6492240" y="3383280"/>
            <a:ext cx="2103120" cy="365760"/>
          </a:xfrm>
          <a:prstGeom prst="rect">
            <a:avLst/>
          </a:prstGeom>
          <a:noFill/>
          <a:ln/>
        </p:spPr>
        <p:txBody>
          <a:bodyPr wrap="square" lIns="0" tIns="0" rIns="0" bIns="0" rtlCol="0" anchor="ctr"/>
          <a:lstStyle/>
          <a:p>
            <a:pPr indent="0" marL="0">
              <a:buNone/>
            </a:pPr>
            <a:r>
              <a:rPr lang="en-US" sz="1300" b="1" dirty="0">
                <a:solidFill>
                  <a:srgbClr val="1A1F36"/>
                </a:solidFill>
                <a:latin typeface="Calibri" pitchFamily="34" charset="0"/>
                <a:ea typeface="Calibri" pitchFamily="34" charset="-122"/>
                <a:cs typeface="Calibri" pitchFamily="34" charset="-120"/>
              </a:rPr>
              <a:t>2 (binary)</a:t>
            </a:r>
            <a:endParaRPr lang="en-US" sz="1300" dirty="0"/>
          </a:p>
        </p:txBody>
      </p:sp>
      <p:sp>
        <p:nvSpPr>
          <p:cNvPr id="24" name="Text 22"/>
          <p:cNvSpPr/>
          <p:nvPr/>
        </p:nvSpPr>
        <p:spPr>
          <a:xfrm>
            <a:off x="5029200" y="3840480"/>
            <a:ext cx="1463040" cy="365760"/>
          </a:xfrm>
          <a:prstGeom prst="rect">
            <a:avLst/>
          </a:prstGeom>
          <a:noFill/>
          <a:ln/>
        </p:spPr>
        <p:txBody>
          <a:bodyPr wrap="square" lIns="0" tIns="0" rIns="0" bIns="0" rtlCol="0" anchor="ctr"/>
          <a:lstStyle/>
          <a:p>
            <a:pPr indent="0" marL="0">
              <a:buNone/>
            </a:pPr>
            <a:r>
              <a:rPr lang="en-US" sz="1200" dirty="0">
                <a:solidFill>
                  <a:srgbClr val="475569"/>
                </a:solidFill>
                <a:latin typeface="Calibri" pitchFamily="34" charset="0"/>
                <a:ea typeface="Calibri" pitchFamily="34" charset="-122"/>
                <a:cs typeface="Calibri" pitchFamily="34" charset="-120"/>
              </a:rPr>
              <a:t>Task</a:t>
            </a:r>
            <a:endParaRPr lang="en-US" sz="1200" dirty="0"/>
          </a:p>
        </p:txBody>
      </p:sp>
      <p:sp>
        <p:nvSpPr>
          <p:cNvPr id="25" name="Text 23"/>
          <p:cNvSpPr/>
          <p:nvPr/>
        </p:nvSpPr>
        <p:spPr>
          <a:xfrm>
            <a:off x="6492240" y="3840480"/>
            <a:ext cx="2103120" cy="365760"/>
          </a:xfrm>
          <a:prstGeom prst="rect">
            <a:avLst/>
          </a:prstGeom>
          <a:noFill/>
          <a:ln/>
        </p:spPr>
        <p:txBody>
          <a:bodyPr wrap="square" lIns="0" tIns="0" rIns="0" bIns="0" rtlCol="0" anchor="ctr"/>
          <a:lstStyle/>
          <a:p>
            <a:pPr indent="0" marL="0">
              <a:buNone/>
            </a:pPr>
            <a:r>
              <a:rPr lang="en-US" sz="1300" b="1" dirty="0">
                <a:solidFill>
                  <a:srgbClr val="1A1F36"/>
                </a:solidFill>
                <a:latin typeface="Calibri" pitchFamily="34" charset="0"/>
                <a:ea typeface="Calibri" pitchFamily="34" charset="-122"/>
                <a:cs typeface="Calibri" pitchFamily="34" charset="-120"/>
              </a:rPr>
              <a:t>Record-level classification</a:t>
            </a:r>
            <a:endParaRPr lang="en-US" sz="1300" dirty="0"/>
          </a:p>
        </p:txBody>
      </p:sp>
      <p:sp>
        <p:nvSpPr>
          <p:cNvPr id="26" name="Text 24"/>
          <p:cNvSpPr/>
          <p:nvPr/>
        </p:nvSpPr>
        <p:spPr>
          <a:xfrm>
            <a:off x="8869680" y="1691640"/>
            <a:ext cx="3200400" cy="365760"/>
          </a:xfrm>
          <a:prstGeom prst="rect">
            <a:avLst/>
          </a:prstGeom>
          <a:noFill/>
          <a:ln/>
        </p:spPr>
        <p:txBody>
          <a:bodyPr wrap="square" lIns="0" tIns="0" rIns="0" bIns="0" rtlCol="0" anchor="ctr"/>
          <a:lstStyle/>
          <a:p>
            <a:pPr indent="0" marL="0">
              <a:buNone/>
            </a:pPr>
            <a:r>
              <a:rPr lang="en-US" sz="1400" b="1" dirty="0">
                <a:solidFill>
                  <a:srgbClr val="1E2761"/>
                </a:solidFill>
                <a:latin typeface="Calibri" pitchFamily="34" charset="0"/>
                <a:ea typeface="Calibri" pitchFamily="34" charset="-122"/>
                <a:cs typeface="Calibri" pitchFamily="34" charset="-120"/>
              </a:rPr>
              <a:t>Heterogeneity Regimes (5 clients)</a:t>
            </a:r>
            <a:endParaRPr lang="en-US" sz="1400" dirty="0"/>
          </a:p>
        </p:txBody>
      </p:sp>
      <p:sp>
        <p:nvSpPr>
          <p:cNvPr id="27" name="Shape 25"/>
          <p:cNvSpPr/>
          <p:nvPr/>
        </p:nvSpPr>
        <p:spPr>
          <a:xfrm>
            <a:off x="8869680" y="2075688"/>
            <a:ext cx="731520" cy="27432"/>
          </a:xfrm>
          <a:prstGeom prst="rect">
            <a:avLst/>
          </a:prstGeom>
          <a:solidFill>
            <a:srgbClr val="065A82"/>
          </a:solidFill>
          <a:ln w="12700">
            <a:solidFill>
              <a:srgbClr val="333333"/>
            </a:solidFill>
            <a:prstDash val="solid"/>
          </a:ln>
        </p:spPr>
      </p:sp>
      <p:sp>
        <p:nvSpPr>
          <p:cNvPr id="28" name="Text 26"/>
          <p:cNvSpPr/>
          <p:nvPr/>
        </p:nvSpPr>
        <p:spPr>
          <a:xfrm>
            <a:off x="8869680" y="2331720"/>
            <a:ext cx="1371600" cy="292608"/>
          </a:xfrm>
          <a:prstGeom prst="rect">
            <a:avLst/>
          </a:prstGeom>
          <a:noFill/>
          <a:ln/>
        </p:spPr>
        <p:txBody>
          <a:bodyPr wrap="square" lIns="0" tIns="0" rIns="0" bIns="0" rtlCol="0" anchor="ctr"/>
          <a:lstStyle/>
          <a:p>
            <a:pPr indent="0" marL="0">
              <a:buNone/>
            </a:pPr>
            <a:r>
              <a:rPr lang="en-US" sz="1000" dirty="0">
                <a:solidFill>
                  <a:srgbClr val="065A82"/>
                </a:solidFill>
                <a:latin typeface="Consolas" pitchFamily="34" charset="0"/>
                <a:ea typeface="Consolas" pitchFamily="34" charset="-122"/>
                <a:cs typeface="Consolas" pitchFamily="34" charset="-120"/>
              </a:rPr>
              <a:t>iid</a:t>
            </a:r>
            <a:endParaRPr lang="en-US" sz="1000" dirty="0"/>
          </a:p>
        </p:txBody>
      </p:sp>
      <p:sp>
        <p:nvSpPr>
          <p:cNvPr id="29" name="Text 27"/>
          <p:cNvSpPr/>
          <p:nvPr/>
        </p:nvSpPr>
        <p:spPr>
          <a:xfrm>
            <a:off x="10287000" y="2331720"/>
            <a:ext cx="1920240" cy="292608"/>
          </a:xfrm>
          <a:prstGeom prst="rect">
            <a:avLst/>
          </a:prstGeom>
          <a:noFill/>
          <a:ln/>
        </p:spPr>
        <p:txBody>
          <a:bodyPr wrap="square" lIns="0" tIns="0" rIns="0" bIns="0" rtlCol="0" anchor="ctr"/>
          <a:lstStyle/>
          <a:p>
            <a:pPr indent="0" marL="0">
              <a:buNone/>
            </a:pPr>
            <a:r>
              <a:rPr lang="en-US" sz="1100" dirty="0">
                <a:solidFill>
                  <a:srgbClr val="1A1F36"/>
                </a:solidFill>
                <a:latin typeface="Calibri" pitchFamily="34" charset="0"/>
                <a:ea typeface="Calibri" pitchFamily="34" charset="-122"/>
                <a:cs typeface="Calibri" pitchFamily="34" charset="-120"/>
              </a:rPr>
              <a:t>IID baseline</a:t>
            </a:r>
            <a:endParaRPr lang="en-US" sz="1100" dirty="0"/>
          </a:p>
        </p:txBody>
      </p:sp>
      <p:sp>
        <p:nvSpPr>
          <p:cNvPr id="30" name="Text 28"/>
          <p:cNvSpPr/>
          <p:nvPr/>
        </p:nvSpPr>
        <p:spPr>
          <a:xfrm>
            <a:off x="8869680" y="2697480"/>
            <a:ext cx="1371600" cy="292608"/>
          </a:xfrm>
          <a:prstGeom prst="rect">
            <a:avLst/>
          </a:prstGeom>
          <a:noFill/>
          <a:ln/>
        </p:spPr>
        <p:txBody>
          <a:bodyPr wrap="square" lIns="0" tIns="0" rIns="0" bIns="0" rtlCol="0" anchor="ctr"/>
          <a:lstStyle/>
          <a:p>
            <a:pPr indent="0" marL="0">
              <a:buNone/>
            </a:pPr>
            <a:r>
              <a:rPr lang="en-US" sz="1000" dirty="0">
                <a:solidFill>
                  <a:srgbClr val="065A82"/>
                </a:solidFill>
                <a:latin typeface="Consolas" pitchFamily="34" charset="0"/>
                <a:ea typeface="Consolas" pitchFamily="34" charset="-122"/>
                <a:cs typeface="Consolas" pitchFamily="34" charset="-120"/>
              </a:rPr>
              <a:t>quantity_skew</a:t>
            </a:r>
            <a:endParaRPr lang="en-US" sz="1000" dirty="0"/>
          </a:p>
        </p:txBody>
      </p:sp>
      <p:sp>
        <p:nvSpPr>
          <p:cNvPr id="31" name="Text 29"/>
          <p:cNvSpPr/>
          <p:nvPr/>
        </p:nvSpPr>
        <p:spPr>
          <a:xfrm>
            <a:off x="10287000" y="2697480"/>
            <a:ext cx="1920240" cy="292608"/>
          </a:xfrm>
          <a:prstGeom prst="rect">
            <a:avLst/>
          </a:prstGeom>
          <a:noFill/>
          <a:ln/>
        </p:spPr>
        <p:txBody>
          <a:bodyPr wrap="square" lIns="0" tIns="0" rIns="0" bIns="0" rtlCol="0" anchor="ctr"/>
          <a:lstStyle/>
          <a:p>
            <a:pPr indent="0" marL="0">
              <a:buNone/>
            </a:pPr>
            <a:r>
              <a:rPr lang="en-US" sz="1100" dirty="0">
                <a:solidFill>
                  <a:srgbClr val="1A1F36"/>
                </a:solidFill>
                <a:latin typeface="Calibri" pitchFamily="34" charset="0"/>
                <a:ea typeface="Calibri" pitchFamily="34" charset="-122"/>
                <a:cs typeface="Calibri" pitchFamily="34" charset="-120"/>
              </a:rPr>
              <a:t>Imbalanced data volumes</a:t>
            </a:r>
            <a:endParaRPr lang="en-US" sz="1100" dirty="0"/>
          </a:p>
        </p:txBody>
      </p:sp>
      <p:sp>
        <p:nvSpPr>
          <p:cNvPr id="32" name="Text 30"/>
          <p:cNvSpPr/>
          <p:nvPr/>
        </p:nvSpPr>
        <p:spPr>
          <a:xfrm>
            <a:off x="8869680" y="3063240"/>
            <a:ext cx="1371600" cy="292608"/>
          </a:xfrm>
          <a:prstGeom prst="rect">
            <a:avLst/>
          </a:prstGeom>
          <a:noFill/>
          <a:ln/>
        </p:spPr>
        <p:txBody>
          <a:bodyPr wrap="square" lIns="0" tIns="0" rIns="0" bIns="0" rtlCol="0" anchor="ctr"/>
          <a:lstStyle/>
          <a:p>
            <a:pPr indent="0" marL="0">
              <a:buNone/>
            </a:pPr>
            <a:r>
              <a:rPr lang="en-US" sz="1000" dirty="0">
                <a:solidFill>
                  <a:srgbClr val="065A82"/>
                </a:solidFill>
                <a:latin typeface="Consolas" pitchFamily="34" charset="0"/>
                <a:ea typeface="Consolas" pitchFamily="34" charset="-122"/>
                <a:cs typeface="Consolas" pitchFamily="34" charset="-120"/>
              </a:rPr>
              <a:t>label_skew_c2</a:t>
            </a:r>
            <a:endParaRPr lang="en-US" sz="1000" dirty="0"/>
          </a:p>
        </p:txBody>
      </p:sp>
      <p:sp>
        <p:nvSpPr>
          <p:cNvPr id="33" name="Text 31"/>
          <p:cNvSpPr/>
          <p:nvPr/>
        </p:nvSpPr>
        <p:spPr>
          <a:xfrm>
            <a:off x="10287000" y="3063240"/>
            <a:ext cx="1920240" cy="292608"/>
          </a:xfrm>
          <a:prstGeom prst="rect">
            <a:avLst/>
          </a:prstGeom>
          <a:noFill/>
          <a:ln/>
        </p:spPr>
        <p:txBody>
          <a:bodyPr wrap="square" lIns="0" tIns="0" rIns="0" bIns="0" rtlCol="0" anchor="ctr"/>
          <a:lstStyle/>
          <a:p>
            <a:pPr indent="0" marL="0">
              <a:buNone/>
            </a:pPr>
            <a:r>
              <a:rPr lang="en-US" sz="1100" dirty="0">
                <a:solidFill>
                  <a:srgbClr val="1A1F36"/>
                </a:solidFill>
                <a:latin typeface="Calibri" pitchFamily="34" charset="0"/>
                <a:ea typeface="Calibri" pitchFamily="34" charset="-122"/>
                <a:cs typeface="Calibri" pitchFamily="34" charset="-120"/>
              </a:rPr>
              <a:t>2 classes/client</a:t>
            </a:r>
            <a:endParaRPr lang="en-US" sz="1100" dirty="0"/>
          </a:p>
        </p:txBody>
      </p:sp>
      <p:sp>
        <p:nvSpPr>
          <p:cNvPr id="34" name="Text 32"/>
          <p:cNvSpPr/>
          <p:nvPr/>
        </p:nvSpPr>
        <p:spPr>
          <a:xfrm>
            <a:off x="8869680" y="3429000"/>
            <a:ext cx="1371600" cy="292608"/>
          </a:xfrm>
          <a:prstGeom prst="rect">
            <a:avLst/>
          </a:prstGeom>
          <a:noFill/>
          <a:ln/>
        </p:spPr>
        <p:txBody>
          <a:bodyPr wrap="square" lIns="0" tIns="0" rIns="0" bIns="0" rtlCol="0" anchor="ctr"/>
          <a:lstStyle/>
          <a:p>
            <a:pPr indent="0" marL="0">
              <a:buNone/>
            </a:pPr>
            <a:r>
              <a:rPr lang="en-US" sz="1000" dirty="0">
                <a:solidFill>
                  <a:srgbClr val="065A82"/>
                </a:solidFill>
                <a:latin typeface="Consolas" pitchFamily="34" charset="0"/>
                <a:ea typeface="Consolas" pitchFamily="34" charset="-122"/>
                <a:cs typeface="Consolas" pitchFamily="34" charset="-120"/>
              </a:rPr>
              <a:t>label_skew_c3</a:t>
            </a:r>
            <a:endParaRPr lang="en-US" sz="1000" dirty="0"/>
          </a:p>
        </p:txBody>
      </p:sp>
      <p:sp>
        <p:nvSpPr>
          <p:cNvPr id="35" name="Text 33"/>
          <p:cNvSpPr/>
          <p:nvPr/>
        </p:nvSpPr>
        <p:spPr>
          <a:xfrm>
            <a:off x="10287000" y="3429000"/>
            <a:ext cx="1920240" cy="292608"/>
          </a:xfrm>
          <a:prstGeom prst="rect">
            <a:avLst/>
          </a:prstGeom>
          <a:noFill/>
          <a:ln/>
        </p:spPr>
        <p:txBody>
          <a:bodyPr wrap="square" lIns="0" tIns="0" rIns="0" bIns="0" rtlCol="0" anchor="ctr"/>
          <a:lstStyle/>
          <a:p>
            <a:pPr indent="0" marL="0">
              <a:buNone/>
            </a:pPr>
            <a:r>
              <a:rPr lang="en-US" sz="1100" dirty="0">
                <a:solidFill>
                  <a:srgbClr val="1A1F36"/>
                </a:solidFill>
                <a:latin typeface="Calibri" pitchFamily="34" charset="0"/>
                <a:ea typeface="Calibri" pitchFamily="34" charset="-122"/>
                <a:cs typeface="Calibri" pitchFamily="34" charset="-120"/>
              </a:rPr>
              <a:t>3 classes/client</a:t>
            </a:r>
            <a:endParaRPr lang="en-US" sz="1100" dirty="0"/>
          </a:p>
        </p:txBody>
      </p:sp>
      <p:sp>
        <p:nvSpPr>
          <p:cNvPr id="36" name="Text 34"/>
          <p:cNvSpPr/>
          <p:nvPr/>
        </p:nvSpPr>
        <p:spPr>
          <a:xfrm>
            <a:off x="8869680" y="3794760"/>
            <a:ext cx="1371600" cy="292608"/>
          </a:xfrm>
          <a:prstGeom prst="rect">
            <a:avLst/>
          </a:prstGeom>
          <a:noFill/>
          <a:ln/>
        </p:spPr>
        <p:txBody>
          <a:bodyPr wrap="square" lIns="0" tIns="0" rIns="0" bIns="0" rtlCol="0" anchor="ctr"/>
          <a:lstStyle/>
          <a:p>
            <a:pPr indent="0" marL="0">
              <a:buNone/>
            </a:pPr>
            <a:r>
              <a:rPr lang="en-US" sz="1000" dirty="0">
                <a:solidFill>
                  <a:srgbClr val="065A82"/>
                </a:solidFill>
                <a:latin typeface="Consolas" pitchFamily="34" charset="0"/>
                <a:ea typeface="Consolas" pitchFamily="34" charset="-122"/>
                <a:cs typeface="Consolas" pitchFamily="34" charset="-120"/>
              </a:rPr>
              <a:t>dirichlet_a01</a:t>
            </a:r>
            <a:endParaRPr lang="en-US" sz="1000" dirty="0"/>
          </a:p>
        </p:txBody>
      </p:sp>
      <p:sp>
        <p:nvSpPr>
          <p:cNvPr id="37" name="Text 35"/>
          <p:cNvSpPr/>
          <p:nvPr/>
        </p:nvSpPr>
        <p:spPr>
          <a:xfrm>
            <a:off x="10287000" y="3794760"/>
            <a:ext cx="1920240" cy="292608"/>
          </a:xfrm>
          <a:prstGeom prst="rect">
            <a:avLst/>
          </a:prstGeom>
          <a:noFill/>
          <a:ln/>
        </p:spPr>
        <p:txBody>
          <a:bodyPr wrap="square" lIns="0" tIns="0" rIns="0" bIns="0" rtlCol="0" anchor="ctr"/>
          <a:lstStyle/>
          <a:p>
            <a:pPr indent="0" marL="0">
              <a:buNone/>
            </a:pPr>
            <a:r>
              <a:rPr lang="en-US" sz="1100" dirty="0">
                <a:solidFill>
                  <a:srgbClr val="1A1F36"/>
                </a:solidFill>
                <a:latin typeface="Calibri" pitchFamily="34" charset="0"/>
                <a:ea typeface="Calibri" pitchFamily="34" charset="-122"/>
                <a:cs typeface="Calibri" pitchFamily="34" charset="-120"/>
              </a:rPr>
              <a:t>Dirichlet α=0.1 (severe)</a:t>
            </a:r>
            <a:endParaRPr lang="en-US" sz="1100" dirty="0"/>
          </a:p>
        </p:txBody>
      </p:sp>
      <p:sp>
        <p:nvSpPr>
          <p:cNvPr id="38" name="Text 36"/>
          <p:cNvSpPr/>
          <p:nvPr/>
        </p:nvSpPr>
        <p:spPr>
          <a:xfrm>
            <a:off x="8869680" y="4160520"/>
            <a:ext cx="1371600" cy="292608"/>
          </a:xfrm>
          <a:prstGeom prst="rect">
            <a:avLst/>
          </a:prstGeom>
          <a:noFill/>
          <a:ln/>
        </p:spPr>
        <p:txBody>
          <a:bodyPr wrap="square" lIns="0" tIns="0" rIns="0" bIns="0" rtlCol="0" anchor="ctr"/>
          <a:lstStyle/>
          <a:p>
            <a:pPr indent="0" marL="0">
              <a:buNone/>
            </a:pPr>
            <a:r>
              <a:rPr lang="en-US" sz="1000" dirty="0">
                <a:solidFill>
                  <a:srgbClr val="065A82"/>
                </a:solidFill>
                <a:latin typeface="Consolas" pitchFamily="34" charset="0"/>
                <a:ea typeface="Consolas" pitchFamily="34" charset="-122"/>
                <a:cs typeface="Consolas" pitchFamily="34" charset="-120"/>
              </a:rPr>
              <a:t>dirichlet_a05</a:t>
            </a:r>
            <a:endParaRPr lang="en-US" sz="1000" dirty="0"/>
          </a:p>
        </p:txBody>
      </p:sp>
      <p:sp>
        <p:nvSpPr>
          <p:cNvPr id="39" name="Text 37"/>
          <p:cNvSpPr/>
          <p:nvPr/>
        </p:nvSpPr>
        <p:spPr>
          <a:xfrm>
            <a:off x="10287000" y="4160520"/>
            <a:ext cx="1920240" cy="292608"/>
          </a:xfrm>
          <a:prstGeom prst="rect">
            <a:avLst/>
          </a:prstGeom>
          <a:noFill/>
          <a:ln/>
        </p:spPr>
        <p:txBody>
          <a:bodyPr wrap="square" lIns="0" tIns="0" rIns="0" bIns="0" rtlCol="0" anchor="ctr"/>
          <a:lstStyle/>
          <a:p>
            <a:pPr indent="0" marL="0">
              <a:buNone/>
            </a:pPr>
            <a:r>
              <a:rPr lang="en-US" sz="1100" dirty="0">
                <a:solidFill>
                  <a:srgbClr val="1A1F36"/>
                </a:solidFill>
                <a:latin typeface="Calibri" pitchFamily="34" charset="0"/>
                <a:ea typeface="Calibri" pitchFamily="34" charset="-122"/>
                <a:cs typeface="Calibri" pitchFamily="34" charset="-120"/>
              </a:rPr>
              <a:t>Dirichlet α=0.5 (moderate)</a:t>
            </a:r>
            <a:endParaRPr lang="en-US" sz="1100" dirty="0"/>
          </a:p>
        </p:txBody>
      </p:sp>
      <p:sp>
        <p:nvSpPr>
          <p:cNvPr id="40" name="Shape 38"/>
          <p:cNvSpPr/>
          <p:nvPr/>
        </p:nvSpPr>
        <p:spPr>
          <a:xfrm>
            <a:off x="640080" y="4846320"/>
            <a:ext cx="10911535" cy="1188720"/>
          </a:xfrm>
          <a:prstGeom prst="rect">
            <a:avLst/>
          </a:prstGeom>
          <a:solidFill>
            <a:srgbClr val="1E2761"/>
          </a:solidFill>
          <a:ln w="12700">
            <a:solidFill>
              <a:srgbClr val="333333"/>
            </a:solidFill>
            <a:prstDash val="solid"/>
          </a:ln>
        </p:spPr>
      </p:sp>
      <p:sp>
        <p:nvSpPr>
          <p:cNvPr id="41" name="Text 39"/>
          <p:cNvSpPr/>
          <p:nvPr/>
        </p:nvSpPr>
        <p:spPr>
          <a:xfrm>
            <a:off x="640080" y="5010912"/>
            <a:ext cx="2182307" cy="548640"/>
          </a:xfrm>
          <a:prstGeom prst="rect">
            <a:avLst/>
          </a:prstGeom>
          <a:noFill/>
          <a:ln/>
        </p:spPr>
        <p:txBody>
          <a:bodyPr wrap="square" lIns="0" tIns="0" rIns="0" bIns="0" rtlCol="0" anchor="ctr"/>
          <a:lstStyle/>
          <a:p>
            <a:pPr algn="ctr" indent="0" marL="0">
              <a:buNone/>
            </a:pPr>
            <a:r>
              <a:rPr lang="en-US" sz="3000" b="1" dirty="0">
                <a:solidFill>
                  <a:srgbClr val="0E9594"/>
                </a:solidFill>
                <a:latin typeface="Calibri" pitchFamily="34" charset="0"/>
                <a:ea typeface="Calibri" pitchFamily="34" charset="-122"/>
                <a:cs typeface="Calibri" pitchFamily="34" charset="-120"/>
              </a:rPr>
              <a:t>~40</a:t>
            </a:r>
            <a:endParaRPr lang="en-US" sz="3000" dirty="0"/>
          </a:p>
        </p:txBody>
      </p:sp>
      <p:sp>
        <p:nvSpPr>
          <p:cNvPr id="42" name="Text 40"/>
          <p:cNvSpPr/>
          <p:nvPr/>
        </p:nvSpPr>
        <p:spPr>
          <a:xfrm>
            <a:off x="640080" y="5577840"/>
            <a:ext cx="2182307" cy="365760"/>
          </a:xfrm>
          <a:prstGeom prst="rect">
            <a:avLst/>
          </a:prstGeom>
          <a:noFill/>
          <a:ln/>
        </p:spPr>
        <p:txBody>
          <a:bodyPr wrap="square" lIns="0" tIns="0" rIns="0" bIns="0" rtlCol="0" anchor="ctr"/>
          <a:lstStyle/>
          <a:p>
            <a:pPr algn="ctr" indent="0" marL="0">
              <a:buNone/>
            </a:pPr>
            <a:r>
              <a:rPr lang="en-US" sz="1100" dirty="0">
                <a:solidFill>
                  <a:srgbClr val="CBD5E1"/>
                </a:solidFill>
                <a:latin typeface="Calibri" pitchFamily="34" charset="0"/>
                <a:ea typeface="Calibri" pitchFamily="34" charset="-122"/>
                <a:cs typeface="Calibri" pitchFamily="34" charset="-120"/>
              </a:rPr>
              <a:t>configurations</a:t>
            </a:r>
            <a:endParaRPr lang="en-US" sz="1100" dirty="0"/>
          </a:p>
        </p:txBody>
      </p:sp>
      <p:sp>
        <p:nvSpPr>
          <p:cNvPr id="43" name="Text 41"/>
          <p:cNvSpPr/>
          <p:nvPr/>
        </p:nvSpPr>
        <p:spPr>
          <a:xfrm>
            <a:off x="2822387" y="5010912"/>
            <a:ext cx="2182307" cy="548640"/>
          </a:xfrm>
          <a:prstGeom prst="rect">
            <a:avLst/>
          </a:prstGeom>
          <a:noFill/>
          <a:ln/>
        </p:spPr>
        <p:txBody>
          <a:bodyPr wrap="square" lIns="0" tIns="0" rIns="0" bIns="0" rtlCol="0" anchor="ctr"/>
          <a:lstStyle/>
          <a:p>
            <a:pPr algn="ctr" indent="0" marL="0">
              <a:buNone/>
            </a:pPr>
            <a:r>
              <a:rPr lang="en-US" sz="3000" b="1" dirty="0">
                <a:solidFill>
                  <a:srgbClr val="0E9594"/>
                </a:solidFill>
                <a:latin typeface="Calibri" pitchFamily="34" charset="0"/>
                <a:ea typeface="Calibri" pitchFamily="34" charset="-122"/>
                <a:cs typeface="Calibri" pitchFamily="34" charset="-120"/>
              </a:rPr>
              <a:t>6</a:t>
            </a:r>
            <a:endParaRPr lang="en-US" sz="3000" dirty="0"/>
          </a:p>
        </p:txBody>
      </p:sp>
      <p:sp>
        <p:nvSpPr>
          <p:cNvPr id="44" name="Text 42"/>
          <p:cNvSpPr/>
          <p:nvPr/>
        </p:nvSpPr>
        <p:spPr>
          <a:xfrm>
            <a:off x="2822387" y="5577840"/>
            <a:ext cx="2182307" cy="365760"/>
          </a:xfrm>
          <a:prstGeom prst="rect">
            <a:avLst/>
          </a:prstGeom>
          <a:noFill/>
          <a:ln/>
        </p:spPr>
        <p:txBody>
          <a:bodyPr wrap="square" lIns="0" tIns="0" rIns="0" bIns="0" rtlCol="0" anchor="ctr"/>
          <a:lstStyle/>
          <a:p>
            <a:pPr algn="ctr" indent="0" marL="0">
              <a:buNone/>
            </a:pPr>
            <a:r>
              <a:rPr lang="en-US" sz="1100" dirty="0">
                <a:solidFill>
                  <a:srgbClr val="CBD5E1"/>
                </a:solidFill>
                <a:latin typeface="Calibri" pitchFamily="34" charset="0"/>
                <a:ea typeface="Calibri" pitchFamily="34" charset="-122"/>
                <a:cs typeface="Calibri" pitchFamily="34" charset="-120"/>
              </a:rPr>
              <a:t>partition regimes</a:t>
            </a:r>
            <a:endParaRPr lang="en-US" sz="1100" dirty="0"/>
          </a:p>
        </p:txBody>
      </p:sp>
      <p:sp>
        <p:nvSpPr>
          <p:cNvPr id="45" name="Text 43"/>
          <p:cNvSpPr/>
          <p:nvPr/>
        </p:nvSpPr>
        <p:spPr>
          <a:xfrm>
            <a:off x="5004694" y="5010912"/>
            <a:ext cx="2182307" cy="548640"/>
          </a:xfrm>
          <a:prstGeom prst="rect">
            <a:avLst/>
          </a:prstGeom>
          <a:noFill/>
          <a:ln/>
        </p:spPr>
        <p:txBody>
          <a:bodyPr wrap="square" lIns="0" tIns="0" rIns="0" bIns="0" rtlCol="0" anchor="ctr"/>
          <a:lstStyle/>
          <a:p>
            <a:pPr algn="ctr" indent="0" marL="0">
              <a:buNone/>
            </a:pPr>
            <a:r>
              <a:rPr lang="en-US" sz="3000" b="1" dirty="0">
                <a:solidFill>
                  <a:srgbClr val="0E9594"/>
                </a:solidFill>
                <a:latin typeface="Calibri" pitchFamily="34" charset="0"/>
                <a:ea typeface="Calibri" pitchFamily="34" charset="-122"/>
                <a:cs typeface="Calibri" pitchFamily="34" charset="-120"/>
              </a:rPr>
              <a:t>3</a:t>
            </a:r>
            <a:endParaRPr lang="en-US" sz="3000" dirty="0"/>
          </a:p>
        </p:txBody>
      </p:sp>
      <p:sp>
        <p:nvSpPr>
          <p:cNvPr id="46" name="Text 44"/>
          <p:cNvSpPr/>
          <p:nvPr/>
        </p:nvSpPr>
        <p:spPr>
          <a:xfrm>
            <a:off x="5004694" y="5577840"/>
            <a:ext cx="2182307" cy="365760"/>
          </a:xfrm>
          <a:prstGeom prst="rect">
            <a:avLst/>
          </a:prstGeom>
          <a:noFill/>
          <a:ln/>
        </p:spPr>
        <p:txBody>
          <a:bodyPr wrap="square" lIns="0" tIns="0" rIns="0" bIns="0" rtlCol="0" anchor="ctr"/>
          <a:lstStyle/>
          <a:p>
            <a:pPr algn="ctr" indent="0" marL="0">
              <a:buNone/>
            </a:pPr>
            <a:r>
              <a:rPr lang="en-US" sz="1100" dirty="0">
                <a:solidFill>
                  <a:srgbClr val="CBD5E1"/>
                </a:solidFill>
                <a:latin typeface="Calibri" pitchFamily="34" charset="0"/>
                <a:ea typeface="Calibri" pitchFamily="34" charset="-122"/>
                <a:cs typeface="Calibri" pitchFamily="34" charset="-120"/>
              </a:rPr>
              <a:t>DP budgets (ε=1, 3, 10)</a:t>
            </a:r>
            <a:endParaRPr lang="en-US" sz="1100" dirty="0"/>
          </a:p>
        </p:txBody>
      </p:sp>
      <p:sp>
        <p:nvSpPr>
          <p:cNvPr id="47" name="Text 45"/>
          <p:cNvSpPr/>
          <p:nvPr/>
        </p:nvSpPr>
        <p:spPr>
          <a:xfrm>
            <a:off x="7187001" y="5010912"/>
            <a:ext cx="2182307" cy="548640"/>
          </a:xfrm>
          <a:prstGeom prst="rect">
            <a:avLst/>
          </a:prstGeom>
          <a:noFill/>
          <a:ln/>
        </p:spPr>
        <p:txBody>
          <a:bodyPr wrap="square" lIns="0" tIns="0" rIns="0" bIns="0" rtlCol="0" anchor="ctr"/>
          <a:lstStyle/>
          <a:p>
            <a:pPr algn="ctr" indent="0" marL="0">
              <a:buNone/>
            </a:pPr>
            <a:r>
              <a:rPr lang="en-US" sz="3000" b="1" dirty="0">
                <a:solidFill>
                  <a:srgbClr val="0E9594"/>
                </a:solidFill>
                <a:latin typeface="Calibri" pitchFamily="34" charset="0"/>
                <a:ea typeface="Calibri" pitchFamily="34" charset="-122"/>
                <a:cs typeface="Calibri" pitchFamily="34" charset="-120"/>
              </a:rPr>
              <a:t>4</a:t>
            </a:r>
            <a:endParaRPr lang="en-US" sz="3000" dirty="0"/>
          </a:p>
        </p:txBody>
      </p:sp>
      <p:sp>
        <p:nvSpPr>
          <p:cNvPr id="48" name="Text 46"/>
          <p:cNvSpPr/>
          <p:nvPr/>
        </p:nvSpPr>
        <p:spPr>
          <a:xfrm>
            <a:off x="7187001" y="5577840"/>
            <a:ext cx="2182307" cy="365760"/>
          </a:xfrm>
          <a:prstGeom prst="rect">
            <a:avLst/>
          </a:prstGeom>
          <a:noFill/>
          <a:ln/>
        </p:spPr>
        <p:txBody>
          <a:bodyPr wrap="square" lIns="0" tIns="0" rIns="0" bIns="0" rtlCol="0" anchor="ctr"/>
          <a:lstStyle/>
          <a:p>
            <a:pPr algn="ctr" indent="0" marL="0">
              <a:buNone/>
            </a:pPr>
            <a:r>
              <a:rPr lang="en-US" sz="1100" dirty="0">
                <a:solidFill>
                  <a:srgbClr val="CBD5E1"/>
                </a:solidFill>
                <a:latin typeface="Calibri" pitchFamily="34" charset="0"/>
                <a:ea typeface="Calibri" pitchFamily="34" charset="-122"/>
                <a:cs typeface="Calibri" pitchFamily="34" charset="-120"/>
              </a:rPr>
              <a:t>FL aggregation methods</a:t>
            </a:r>
            <a:endParaRPr lang="en-US" sz="1100" dirty="0"/>
          </a:p>
        </p:txBody>
      </p:sp>
      <p:sp>
        <p:nvSpPr>
          <p:cNvPr id="49" name="Text 47"/>
          <p:cNvSpPr/>
          <p:nvPr/>
        </p:nvSpPr>
        <p:spPr>
          <a:xfrm>
            <a:off x="9369308" y="5010912"/>
            <a:ext cx="2182307" cy="548640"/>
          </a:xfrm>
          <a:prstGeom prst="rect">
            <a:avLst/>
          </a:prstGeom>
          <a:noFill/>
          <a:ln/>
        </p:spPr>
        <p:txBody>
          <a:bodyPr wrap="square" lIns="0" tIns="0" rIns="0" bIns="0" rtlCol="0" anchor="ctr"/>
          <a:lstStyle/>
          <a:p>
            <a:pPr algn="ctr" indent="0" marL="0">
              <a:buNone/>
            </a:pPr>
            <a:r>
              <a:rPr lang="en-US" sz="3000" b="1" dirty="0">
                <a:solidFill>
                  <a:srgbClr val="0E9594"/>
                </a:solidFill>
                <a:latin typeface="Calibri" pitchFamily="34" charset="0"/>
                <a:ea typeface="Calibri" pitchFamily="34" charset="-122"/>
                <a:cs typeface="Calibri" pitchFamily="34" charset="-120"/>
              </a:rPr>
              <a:t>5</a:t>
            </a:r>
            <a:endParaRPr lang="en-US" sz="3000" dirty="0"/>
          </a:p>
        </p:txBody>
      </p:sp>
      <p:sp>
        <p:nvSpPr>
          <p:cNvPr id="50" name="Text 48"/>
          <p:cNvSpPr/>
          <p:nvPr/>
        </p:nvSpPr>
        <p:spPr>
          <a:xfrm>
            <a:off x="9369308" y="5577840"/>
            <a:ext cx="2182307" cy="365760"/>
          </a:xfrm>
          <a:prstGeom prst="rect">
            <a:avLst/>
          </a:prstGeom>
          <a:noFill/>
          <a:ln/>
        </p:spPr>
        <p:txBody>
          <a:bodyPr wrap="square" lIns="0" tIns="0" rIns="0" bIns="0" rtlCol="0" anchor="ctr"/>
          <a:lstStyle/>
          <a:p>
            <a:pPr algn="ctr" indent="0" marL="0">
              <a:buNone/>
            </a:pPr>
            <a:r>
              <a:rPr lang="en-US" sz="1100" dirty="0">
                <a:solidFill>
                  <a:srgbClr val="CBD5E1"/>
                </a:solidFill>
                <a:latin typeface="Calibri" pitchFamily="34" charset="0"/>
                <a:ea typeface="Calibri" pitchFamily="34" charset="-122"/>
                <a:cs typeface="Calibri" pitchFamily="34" charset="-120"/>
              </a:rPr>
              <a:t>clients × 30-50 rounds</a:t>
            </a:r>
            <a:endParaRPr lang="en-US" sz="1100" dirty="0"/>
          </a:p>
        </p:txBody>
      </p:sp>
      <p:sp>
        <p:nvSpPr>
          <p:cNvPr id="51" name="Text 49"/>
          <p:cNvSpPr/>
          <p:nvPr/>
        </p:nvSpPr>
        <p:spPr>
          <a:xfrm>
            <a:off x="457200" y="6492240"/>
            <a:ext cx="8229600" cy="274320"/>
          </a:xfrm>
          <a:prstGeom prst="rect">
            <a:avLst/>
          </a:prstGeom>
          <a:noFill/>
          <a:ln/>
        </p:spPr>
        <p:txBody>
          <a:bodyPr wrap="square" lIns="0" tIns="0" rIns="0" bIns="0" rtlCol="0" anchor="ctr"/>
          <a:lstStyle/>
          <a:p>
            <a:pPr indent="0" marL="0">
              <a:buNone/>
            </a:pPr>
            <a:r>
              <a:rPr lang="en-US" sz="900" dirty="0">
                <a:solidFill>
                  <a:srgbClr val="94A3B8"/>
                </a:solidFill>
                <a:latin typeface="Calibri" pitchFamily="34" charset="0"/>
                <a:ea typeface="Calibri" pitchFamily="34" charset="-122"/>
                <a:cs typeface="Calibri" pitchFamily="34" charset="-120"/>
              </a:rPr>
              <a:t>Efe Deniz Bağlar  ·  Undergraduate Thesis  ·  Ege University · Computer Engineering</a:t>
            </a:r>
            <a:endParaRPr lang="en-US" sz="900" dirty="0"/>
          </a:p>
        </p:txBody>
      </p:sp>
      <p:sp>
        <p:nvSpPr>
          <p:cNvPr id="52" name="Text 50"/>
          <p:cNvSpPr/>
          <p:nvPr/>
        </p:nvSpPr>
        <p:spPr>
          <a:xfrm>
            <a:off x="10820095" y="6492240"/>
            <a:ext cx="914400" cy="274320"/>
          </a:xfrm>
          <a:prstGeom prst="rect">
            <a:avLst/>
          </a:prstGeom>
          <a:noFill/>
          <a:ln/>
        </p:spPr>
        <p:txBody>
          <a:bodyPr wrap="square" lIns="0" tIns="0" rIns="0" bIns="0" rtlCol="0" anchor="ctr"/>
          <a:lstStyle/>
          <a:p>
            <a:pPr algn="r" indent="0" marL="0">
              <a:buNone/>
            </a:pPr>
            <a:r>
              <a:rPr lang="en-US" sz="900" dirty="0">
                <a:solidFill>
                  <a:srgbClr val="94A3B8"/>
                </a:solidFill>
                <a:latin typeface="Calibri" pitchFamily="34" charset="0"/>
                <a:ea typeface="Calibri" pitchFamily="34" charset="-122"/>
                <a:cs typeface="Calibri" pitchFamily="34" charset="-120"/>
              </a:rPr>
              <a:t>8 / 11</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65760"/>
            <a:ext cx="11094415" cy="822960"/>
          </a:xfrm>
          <a:prstGeom prst="rect">
            <a:avLst/>
          </a:prstGeom>
          <a:noFill/>
          <a:ln/>
        </p:spPr>
        <p:txBody>
          <a:bodyPr wrap="square" lIns="0" tIns="0" rIns="0" bIns="0" rtlCol="0" anchor="ctr"/>
          <a:lstStyle/>
          <a:p>
            <a:pPr indent="0" marL="0">
              <a:buNone/>
            </a:pPr>
            <a:r>
              <a:rPr lang="en-US" sz="3200" b="1" dirty="0">
                <a:solidFill>
                  <a:srgbClr val="1E2761"/>
                </a:solidFill>
                <a:latin typeface="Calibri" pitchFamily="34" charset="0"/>
                <a:ea typeface="Calibri" pitchFamily="34" charset="-122"/>
                <a:cs typeface="Calibri" pitchFamily="34" charset="-120"/>
              </a:rPr>
              <a:t>Results  ·  The Eval-Regime Flip</a:t>
            </a:r>
            <a:endParaRPr lang="en-US" sz="3200" dirty="0"/>
          </a:p>
        </p:txBody>
      </p:sp>
      <p:sp>
        <p:nvSpPr>
          <p:cNvPr id="3" name="Shape 1"/>
          <p:cNvSpPr/>
          <p:nvPr/>
        </p:nvSpPr>
        <p:spPr>
          <a:xfrm>
            <a:off x="548640" y="1188720"/>
            <a:ext cx="1097280" cy="54864"/>
          </a:xfrm>
          <a:prstGeom prst="rect">
            <a:avLst/>
          </a:prstGeom>
          <a:solidFill>
            <a:srgbClr val="065A82"/>
          </a:solidFill>
          <a:ln w="12700">
            <a:solidFill>
              <a:srgbClr val="065A82"/>
            </a:solidFill>
            <a:prstDash val="solid"/>
          </a:ln>
        </p:spPr>
      </p:sp>
      <p:pic>
        <p:nvPicPr>
          <p:cNvPr id="4" name="Image 0" descr="/home/claude/slides_assets/fig_central_vs_local-1.png">    </p:cNvPr>
          <p:cNvPicPr>
            <a:picLocks noChangeAspect="1"/>
          </p:cNvPicPr>
          <p:nvPr/>
        </p:nvPicPr>
        <p:blipFill>
          <a:blip r:embed="rId1"/>
          <a:srcRect l="0" r="0" t="0" b="0"/>
          <a:stretch/>
        </p:blipFill>
        <p:spPr>
          <a:xfrm>
            <a:off x="457200" y="1554480"/>
            <a:ext cx="6858000" cy="4297680"/>
          </a:xfrm>
          <a:prstGeom prst="rect">
            <a:avLst/>
          </a:prstGeom>
        </p:spPr>
      </p:pic>
      <p:sp>
        <p:nvSpPr>
          <p:cNvPr id="5" name="Text 2"/>
          <p:cNvSpPr/>
          <p:nvPr/>
        </p:nvSpPr>
        <p:spPr>
          <a:xfrm>
            <a:off x="457200" y="5897880"/>
            <a:ext cx="6858000" cy="365760"/>
          </a:xfrm>
          <a:prstGeom prst="rect">
            <a:avLst/>
          </a:prstGeom>
          <a:noFill/>
          <a:ln/>
        </p:spPr>
        <p:txBody>
          <a:bodyPr wrap="square" lIns="0" tIns="0" rIns="0" bIns="0" rtlCol="0" anchor="ctr"/>
          <a:lstStyle/>
          <a:p>
            <a:pPr algn="ctr" indent="0" marL="0">
              <a:buNone/>
            </a:pPr>
            <a:r>
              <a:rPr lang="en-US" sz="900" i="1" dirty="0">
                <a:solidFill>
                  <a:srgbClr val="475569"/>
                </a:solidFill>
                <a:latin typeface="Calibri" pitchFamily="34" charset="0"/>
                <a:ea typeface="Calibri" pitchFamily="34" charset="-122"/>
                <a:cs typeface="Calibri" pitchFamily="34" charset="-120"/>
              </a:rPr>
              <a:t>MIT-BIH across 6 partition regimes: pooled-central F1 (left bars) vs per-client local F1 (right bars).</a:t>
            </a:r>
            <a:endParaRPr lang="en-US" sz="900" dirty="0"/>
          </a:p>
        </p:txBody>
      </p:sp>
      <p:sp>
        <p:nvSpPr>
          <p:cNvPr id="6" name="Text 3"/>
          <p:cNvSpPr/>
          <p:nvPr/>
        </p:nvSpPr>
        <p:spPr>
          <a:xfrm>
            <a:off x="7589520" y="1691640"/>
            <a:ext cx="4114800" cy="274320"/>
          </a:xfrm>
          <a:prstGeom prst="rect">
            <a:avLst/>
          </a:prstGeom>
          <a:noFill/>
          <a:ln/>
        </p:spPr>
        <p:txBody>
          <a:bodyPr wrap="square" lIns="0" tIns="0" rIns="0" bIns="0" rtlCol="0" anchor="ctr"/>
          <a:lstStyle/>
          <a:p>
            <a:pPr indent="0" marL="0">
              <a:buNone/>
            </a:pPr>
            <a:r>
              <a:rPr lang="en-US" sz="1000" b="1" spc="300" kern="0" dirty="0">
                <a:solidFill>
                  <a:srgbClr val="065A82"/>
                </a:solidFill>
                <a:latin typeface="Calibri" pitchFamily="34" charset="0"/>
                <a:ea typeface="Calibri" pitchFamily="34" charset="-122"/>
                <a:cs typeface="Calibri" pitchFamily="34" charset="-120"/>
              </a:rPr>
              <a:t>LARGEST SWING</a:t>
            </a:r>
            <a:endParaRPr lang="en-US" sz="1000" dirty="0"/>
          </a:p>
        </p:txBody>
      </p:sp>
      <p:sp>
        <p:nvSpPr>
          <p:cNvPr id="7" name="Text 4"/>
          <p:cNvSpPr/>
          <p:nvPr/>
        </p:nvSpPr>
        <p:spPr>
          <a:xfrm>
            <a:off x="7589520" y="1965960"/>
            <a:ext cx="4114800" cy="914400"/>
          </a:xfrm>
          <a:prstGeom prst="rect">
            <a:avLst/>
          </a:prstGeom>
          <a:noFill/>
          <a:ln/>
        </p:spPr>
        <p:txBody>
          <a:bodyPr wrap="square" lIns="0" tIns="0" rIns="0" bIns="0" rtlCol="0" anchor="ctr"/>
          <a:lstStyle/>
          <a:p>
            <a:pPr indent="0" marL="0">
              <a:buNone/>
            </a:pPr>
            <a:r>
              <a:rPr lang="en-US" sz="5600" b="1" dirty="0">
                <a:solidFill>
                  <a:srgbClr val="0E9594"/>
                </a:solidFill>
                <a:latin typeface="Calibri" pitchFamily="34" charset="0"/>
                <a:ea typeface="Calibri" pitchFamily="34" charset="-122"/>
                <a:cs typeface="Calibri" pitchFamily="34" charset="-120"/>
              </a:rPr>
              <a:t>+0.72</a:t>
            </a:r>
            <a:endParaRPr lang="en-US" sz="5600" dirty="0"/>
          </a:p>
        </p:txBody>
      </p:sp>
      <p:sp>
        <p:nvSpPr>
          <p:cNvPr id="8" name="Text 5"/>
          <p:cNvSpPr/>
          <p:nvPr/>
        </p:nvSpPr>
        <p:spPr>
          <a:xfrm>
            <a:off x="7589520" y="2880360"/>
            <a:ext cx="4114800" cy="365760"/>
          </a:xfrm>
          <a:prstGeom prst="rect">
            <a:avLst/>
          </a:prstGeom>
          <a:noFill/>
          <a:ln/>
        </p:spPr>
        <p:txBody>
          <a:bodyPr wrap="square" lIns="0" tIns="0" rIns="0" bIns="0" rtlCol="0" anchor="ctr"/>
          <a:lstStyle/>
          <a:p>
            <a:pPr indent="0" marL="0">
              <a:buNone/>
            </a:pPr>
            <a:r>
              <a:rPr lang="en-US" sz="1200" dirty="0">
                <a:solidFill>
                  <a:srgbClr val="1A1F36"/>
                </a:solidFill>
                <a:latin typeface="Calibri" pitchFamily="34" charset="0"/>
                <a:ea typeface="Calibri" pitchFamily="34" charset="-122"/>
                <a:cs typeface="Calibri" pitchFamily="34" charset="-120"/>
              </a:rPr>
              <a:t>FedBN  ·  label_skew_c2</a:t>
            </a:r>
            <a:endParaRPr lang="en-US" sz="1200" dirty="0"/>
          </a:p>
        </p:txBody>
      </p:sp>
      <p:sp>
        <p:nvSpPr>
          <p:cNvPr id="9" name="Text 6"/>
          <p:cNvSpPr/>
          <p:nvPr/>
        </p:nvSpPr>
        <p:spPr>
          <a:xfrm>
            <a:off x="7589520" y="3200400"/>
            <a:ext cx="4114800" cy="365760"/>
          </a:xfrm>
          <a:prstGeom prst="rect">
            <a:avLst/>
          </a:prstGeom>
          <a:noFill/>
          <a:ln/>
        </p:spPr>
        <p:txBody>
          <a:bodyPr wrap="square" lIns="0" tIns="0" rIns="0" bIns="0" rtlCol="0" anchor="ctr"/>
          <a:lstStyle/>
          <a:p>
            <a:pPr indent="0" marL="0">
              <a:buNone/>
            </a:pPr>
            <a:r>
              <a:rPr lang="en-US" sz="1100" i="1" dirty="0">
                <a:solidFill>
                  <a:srgbClr val="475569"/>
                </a:solidFill>
                <a:latin typeface="Calibri" pitchFamily="34" charset="0"/>
                <a:ea typeface="Calibri" pitchFamily="34" charset="-122"/>
                <a:cs typeface="Calibri" pitchFamily="34" charset="-120"/>
              </a:rPr>
              <a:t>Pooled F1: 0.224  →  Local F1: 0.942</a:t>
            </a:r>
            <a:endParaRPr lang="en-US" sz="1100" dirty="0"/>
          </a:p>
        </p:txBody>
      </p:sp>
      <p:sp>
        <p:nvSpPr>
          <p:cNvPr id="10" name="Shape 7"/>
          <p:cNvSpPr/>
          <p:nvPr/>
        </p:nvSpPr>
        <p:spPr>
          <a:xfrm>
            <a:off x="7589520" y="3749040"/>
            <a:ext cx="4114800" cy="0"/>
          </a:xfrm>
          <a:prstGeom prst="line">
            <a:avLst/>
          </a:prstGeom>
          <a:noFill/>
          <a:ln w="12700">
            <a:solidFill>
              <a:srgbClr val="E2E8F0"/>
            </a:solidFill>
            <a:prstDash val="solid"/>
          </a:ln>
        </p:spPr>
      </p:sp>
      <p:sp>
        <p:nvSpPr>
          <p:cNvPr id="11" name="Text 8"/>
          <p:cNvSpPr/>
          <p:nvPr/>
        </p:nvSpPr>
        <p:spPr>
          <a:xfrm>
            <a:off x="7589520" y="3931920"/>
            <a:ext cx="4114800" cy="2103120"/>
          </a:xfrm>
          <a:prstGeom prst="rect">
            <a:avLst/>
          </a:prstGeom>
          <a:noFill/>
          <a:ln/>
        </p:spPr>
        <p:txBody>
          <a:bodyPr wrap="square" lIns="0" tIns="0" rIns="0" bIns="0" rtlCol="0" anchor="ctr"/>
          <a:lstStyle/>
          <a:p>
            <a:pPr indent="0" marL="0">
              <a:spcAft>
                <a:spcPts val="400"/>
              </a:spcAft>
              <a:buNone/>
            </a:pPr>
            <a:r>
              <a:rPr lang="en-US" sz="1100" b="1" spc="200" kern="0" dirty="0">
                <a:solidFill>
                  <a:srgbClr val="065A82"/>
                </a:solidFill>
                <a:latin typeface="Calibri" pitchFamily="34" charset="0"/>
                <a:ea typeface="Calibri" pitchFamily="34" charset="-122"/>
                <a:cs typeface="Calibri" pitchFamily="34" charset="-120"/>
              </a:rPr>
              <a:t>Finding</a:t>
            </a:r>
            <a:endParaRPr lang="en-US" sz="1100" dirty="0"/>
          </a:p>
          <a:p>
            <a:pPr indent="0" marL="0">
              <a:spcAft>
                <a:spcPts val="400"/>
              </a:spcAft>
              <a:buNone/>
            </a:pPr>
            <a:r>
              <a:rPr lang="en-US" sz="1200" dirty="0">
                <a:solidFill>
                  <a:srgbClr val="1A1F36"/>
                </a:solidFill>
                <a:latin typeface="Calibri" pitchFamily="34" charset="0"/>
                <a:ea typeface="Calibri" pitchFamily="34" charset="-122"/>
                <a:cs typeface="Calibri" pitchFamily="34" charset="-120"/>
              </a:rPr>
              <a:t>FedBN's ranking inverts across evaluation regimes: worst under pooled-central, best under per-client local.</a:t>
            </a:r>
            <a:endParaRPr lang="en-US" sz="1100" dirty="0"/>
          </a:p>
          <a:p>
            <a:pPr indent="0" marL="0">
              <a:spcAft>
                <a:spcPts val="400"/>
              </a:spcAft>
              <a:buNone/>
            </a:pPr>
            <a:endParaRPr lang="en-US" sz="1100" dirty="0"/>
          </a:p>
          <a:p>
            <a:pPr indent="0" marL="0">
              <a:spcAft>
                <a:spcPts val="400"/>
              </a:spcAft>
              <a:buNone/>
            </a:pPr>
            <a:r>
              <a:rPr lang="en-US" sz="1100" b="1" spc="200" kern="0" dirty="0">
                <a:solidFill>
                  <a:srgbClr val="065A82"/>
                </a:solidFill>
                <a:latin typeface="Calibri" pitchFamily="34" charset="0"/>
                <a:ea typeface="Calibri" pitchFamily="34" charset="-122"/>
                <a:cs typeface="Calibri" pitchFamily="34" charset="-120"/>
              </a:rPr>
              <a:t>Practical implication</a:t>
            </a:r>
            <a:endParaRPr lang="en-US" sz="1100" dirty="0"/>
          </a:p>
          <a:p>
            <a:pPr indent="0" marL="0">
              <a:spcAft>
                <a:spcPts val="400"/>
              </a:spcAft>
              <a:buNone/>
            </a:pPr>
            <a:r>
              <a:rPr lang="en-US" sz="1200" dirty="0">
                <a:solidFill>
                  <a:srgbClr val="1A1F36"/>
                </a:solidFill>
                <a:latin typeface="Calibri" pitchFamily="34" charset="0"/>
                <a:ea typeface="Calibri" pitchFamily="34" charset="-122"/>
                <a:cs typeface="Calibri" pitchFamily="34" charset="-120"/>
              </a:rPr>
              <a:t>Medical-FL benchmarks must explicitly state which evaluation regime is reported. Both should be reported when deployment heterogeneity is unclear.</a:t>
            </a:r>
            <a:endParaRPr lang="en-US" sz="1100" dirty="0"/>
          </a:p>
        </p:txBody>
      </p:sp>
      <p:sp>
        <p:nvSpPr>
          <p:cNvPr id="12" name="Text 9"/>
          <p:cNvSpPr/>
          <p:nvPr/>
        </p:nvSpPr>
        <p:spPr>
          <a:xfrm>
            <a:off x="457200" y="6492240"/>
            <a:ext cx="8229600" cy="274320"/>
          </a:xfrm>
          <a:prstGeom prst="rect">
            <a:avLst/>
          </a:prstGeom>
          <a:noFill/>
          <a:ln/>
        </p:spPr>
        <p:txBody>
          <a:bodyPr wrap="square" lIns="0" tIns="0" rIns="0" bIns="0" rtlCol="0" anchor="ctr"/>
          <a:lstStyle/>
          <a:p>
            <a:pPr indent="0" marL="0">
              <a:buNone/>
            </a:pPr>
            <a:r>
              <a:rPr lang="en-US" sz="900" dirty="0">
                <a:solidFill>
                  <a:srgbClr val="94A3B8"/>
                </a:solidFill>
                <a:latin typeface="Calibri" pitchFamily="34" charset="0"/>
                <a:ea typeface="Calibri" pitchFamily="34" charset="-122"/>
                <a:cs typeface="Calibri" pitchFamily="34" charset="-120"/>
              </a:rPr>
              <a:t>Efe Deniz Bağlar  ·  Undergraduate Thesis  ·  Ege University · Computer Engineering</a:t>
            </a:r>
            <a:endParaRPr lang="en-US" sz="900" dirty="0"/>
          </a:p>
        </p:txBody>
      </p:sp>
      <p:sp>
        <p:nvSpPr>
          <p:cNvPr id="13" name="Text 10"/>
          <p:cNvSpPr/>
          <p:nvPr/>
        </p:nvSpPr>
        <p:spPr>
          <a:xfrm>
            <a:off x="10820095" y="6492240"/>
            <a:ext cx="914400" cy="274320"/>
          </a:xfrm>
          <a:prstGeom prst="rect">
            <a:avLst/>
          </a:prstGeom>
          <a:noFill/>
          <a:ln/>
        </p:spPr>
        <p:txBody>
          <a:bodyPr wrap="square" lIns="0" tIns="0" rIns="0" bIns="0" rtlCol="0" anchor="ctr"/>
          <a:lstStyle/>
          <a:p>
            <a:pPr algn="r" indent="0" marL="0">
              <a:buNone/>
            </a:pPr>
            <a:r>
              <a:rPr lang="en-US" sz="900" dirty="0">
                <a:solidFill>
                  <a:srgbClr val="94A3B8"/>
                </a:solidFill>
                <a:latin typeface="Calibri" pitchFamily="34" charset="0"/>
                <a:ea typeface="Calibri" pitchFamily="34" charset="-122"/>
                <a:cs typeface="Calibri" pitchFamily="34" charset="-120"/>
              </a:rPr>
              <a:t>9 / 11</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65760"/>
            <a:ext cx="11094415" cy="822960"/>
          </a:xfrm>
          <a:prstGeom prst="rect">
            <a:avLst/>
          </a:prstGeom>
          <a:noFill/>
          <a:ln/>
        </p:spPr>
        <p:txBody>
          <a:bodyPr wrap="square" lIns="0" tIns="0" rIns="0" bIns="0" rtlCol="0" anchor="ctr"/>
          <a:lstStyle/>
          <a:p>
            <a:pPr indent="0" marL="0">
              <a:buNone/>
            </a:pPr>
            <a:r>
              <a:rPr lang="en-US" sz="3200" b="1" dirty="0">
                <a:solidFill>
                  <a:srgbClr val="1E2761"/>
                </a:solidFill>
                <a:latin typeface="Calibri" pitchFamily="34" charset="0"/>
                <a:ea typeface="Calibri" pitchFamily="34" charset="-122"/>
                <a:cs typeface="Calibri" pitchFamily="34" charset="-120"/>
              </a:rPr>
              <a:t>Results  ·  Privacy-Utility Tradeoff</a:t>
            </a:r>
            <a:endParaRPr lang="en-US" sz="3200" dirty="0"/>
          </a:p>
        </p:txBody>
      </p:sp>
      <p:sp>
        <p:nvSpPr>
          <p:cNvPr id="3" name="Shape 1"/>
          <p:cNvSpPr/>
          <p:nvPr/>
        </p:nvSpPr>
        <p:spPr>
          <a:xfrm>
            <a:off x="548640" y="1188720"/>
            <a:ext cx="1097280" cy="54864"/>
          </a:xfrm>
          <a:prstGeom prst="rect">
            <a:avLst/>
          </a:prstGeom>
          <a:solidFill>
            <a:srgbClr val="065A82"/>
          </a:solidFill>
          <a:ln w="12700">
            <a:solidFill>
              <a:srgbClr val="065A82"/>
            </a:solidFill>
            <a:prstDash val="solid"/>
          </a:ln>
        </p:spPr>
      </p:sp>
      <p:pic>
        <p:nvPicPr>
          <p:cNvPr id="4" name="Image 0" descr="/home/claude/slides_assets/fig_privacy_utility_dual-1.png">    </p:cNvPr>
          <p:cNvPicPr>
            <a:picLocks noChangeAspect="1"/>
          </p:cNvPicPr>
          <p:nvPr/>
        </p:nvPicPr>
        <p:blipFill>
          <a:blip r:embed="rId1"/>
          <a:srcRect l="0" r="0" t="0" b="0"/>
          <a:stretch/>
        </p:blipFill>
        <p:spPr>
          <a:xfrm>
            <a:off x="457200" y="1554480"/>
            <a:ext cx="6858000" cy="4572000"/>
          </a:xfrm>
          <a:prstGeom prst="rect">
            <a:avLst/>
          </a:prstGeom>
        </p:spPr>
      </p:pic>
      <p:sp>
        <p:nvSpPr>
          <p:cNvPr id="5" name="Text 2"/>
          <p:cNvSpPr/>
          <p:nvPr/>
        </p:nvSpPr>
        <p:spPr>
          <a:xfrm>
            <a:off x="457200" y="6172200"/>
            <a:ext cx="6858000" cy="274320"/>
          </a:xfrm>
          <a:prstGeom prst="rect">
            <a:avLst/>
          </a:prstGeom>
          <a:noFill/>
          <a:ln/>
        </p:spPr>
        <p:txBody>
          <a:bodyPr wrap="square" lIns="0" tIns="0" rIns="0" bIns="0" rtlCol="0" anchor="ctr"/>
          <a:lstStyle/>
          <a:p>
            <a:pPr algn="ctr" indent="0" marL="0">
              <a:buNone/>
            </a:pPr>
            <a:r>
              <a:rPr lang="en-US" sz="900" i="1" dirty="0">
                <a:solidFill>
                  <a:srgbClr val="475569"/>
                </a:solidFill>
                <a:latin typeface="Calibri" pitchFamily="34" charset="0"/>
                <a:ea typeface="Calibri" pitchFamily="34" charset="-122"/>
                <a:cs typeface="Calibri" pitchFamily="34" charset="-120"/>
              </a:rPr>
              <a:t>Macro F1 vs DP budget ε: DP-FedBN (local eval) vs DP-FedAvg+GN (central eval), MIT-BIH.</a:t>
            </a:r>
            <a:endParaRPr lang="en-US" sz="900" dirty="0"/>
          </a:p>
        </p:txBody>
      </p:sp>
      <p:sp>
        <p:nvSpPr>
          <p:cNvPr id="6" name="Text 3"/>
          <p:cNvSpPr/>
          <p:nvPr/>
        </p:nvSpPr>
        <p:spPr>
          <a:xfrm>
            <a:off x="7589520" y="1691640"/>
            <a:ext cx="4114800" cy="274320"/>
          </a:xfrm>
          <a:prstGeom prst="rect">
            <a:avLst/>
          </a:prstGeom>
          <a:noFill/>
          <a:ln/>
        </p:spPr>
        <p:txBody>
          <a:bodyPr wrap="square" lIns="0" tIns="0" rIns="0" bIns="0" rtlCol="0" anchor="ctr"/>
          <a:lstStyle/>
          <a:p>
            <a:pPr indent="0" marL="0">
              <a:buNone/>
            </a:pPr>
            <a:r>
              <a:rPr lang="en-US" sz="1000" b="1" spc="300" kern="0" dirty="0">
                <a:solidFill>
                  <a:srgbClr val="065A82"/>
                </a:solidFill>
                <a:latin typeface="Calibri" pitchFamily="34" charset="0"/>
                <a:ea typeface="Calibri" pitchFamily="34" charset="-122"/>
                <a:cs typeface="Calibri" pitchFamily="34" charset="-120"/>
              </a:rPr>
              <a:t>KEY FINDINGS</a:t>
            </a:r>
            <a:endParaRPr lang="en-US" sz="1000" dirty="0"/>
          </a:p>
        </p:txBody>
      </p:sp>
      <p:sp>
        <p:nvSpPr>
          <p:cNvPr id="7" name="Text 4"/>
          <p:cNvSpPr/>
          <p:nvPr/>
        </p:nvSpPr>
        <p:spPr>
          <a:xfrm>
            <a:off x="7589520" y="2057400"/>
            <a:ext cx="4114800" cy="2743200"/>
          </a:xfrm>
          <a:prstGeom prst="rect">
            <a:avLst/>
          </a:prstGeom>
          <a:noFill/>
          <a:ln/>
        </p:spPr>
        <p:txBody>
          <a:bodyPr wrap="square" lIns="0" tIns="0" rIns="0" bIns="0" rtlCol="0" anchor="ctr"/>
          <a:lstStyle/>
          <a:p>
            <a:pPr indent="0" marL="0">
              <a:spcAft>
                <a:spcPts val="400"/>
              </a:spcAft>
              <a:buNone/>
            </a:pPr>
            <a:r>
              <a:rPr lang="en-US" sz="1200" b="1" dirty="0">
                <a:solidFill>
                  <a:srgbClr val="0E9594"/>
                </a:solidFill>
                <a:latin typeface="Calibri" pitchFamily="34" charset="0"/>
                <a:ea typeface="Calibri" pitchFamily="34" charset="-122"/>
                <a:cs typeface="Calibri" pitchFamily="34" charset="-120"/>
              </a:rPr>
              <a:t>1.  </a:t>
            </a:r>
            <a:pPr indent="0" marL="0">
              <a:spcAft>
                <a:spcPts val="400"/>
              </a:spcAft>
              <a:buNone/>
            </a:pPr>
            <a:r>
              <a:rPr lang="en-US" sz="1200" dirty="0">
                <a:solidFill>
                  <a:srgbClr val="1A1F36"/>
                </a:solidFill>
                <a:latin typeface="Calibri" pitchFamily="34" charset="0"/>
                <a:ea typeface="Calibri" pitchFamily="34" charset="-122"/>
                <a:cs typeface="Calibri" pitchFamily="34" charset="-120"/>
              </a:rPr>
              <a:t>Under label-skew: DP-FedBN beats the GN fallback by +0.17 local F1 at ε=3.</a:t>
            </a:r>
            <a:endParaRPr lang="en-US" sz="1200" dirty="0"/>
          </a:p>
          <a:p>
            <a:pPr indent="0" marL="0">
              <a:spcAft>
                <a:spcPts val="400"/>
              </a:spcAft>
              <a:buNone/>
            </a:pPr>
            <a:endParaRPr lang="en-US" sz="1200" dirty="0"/>
          </a:p>
          <a:p>
            <a:pPr indent="0" marL="0">
              <a:spcAft>
                <a:spcPts val="400"/>
              </a:spcAft>
              <a:buNone/>
            </a:pPr>
            <a:r>
              <a:rPr lang="en-US" sz="1200" b="1" dirty="0">
                <a:solidFill>
                  <a:srgbClr val="0E9594"/>
                </a:solidFill>
                <a:latin typeface="Calibri" pitchFamily="34" charset="0"/>
                <a:ea typeface="Calibri" pitchFamily="34" charset="-122"/>
                <a:cs typeface="Calibri" pitchFamily="34" charset="-120"/>
              </a:rPr>
              <a:t>2.  </a:t>
            </a:r>
            <a:pPr indent="0" marL="0">
              <a:spcAft>
                <a:spcPts val="400"/>
              </a:spcAft>
              <a:buNone/>
            </a:pPr>
            <a:r>
              <a:rPr lang="en-US" sz="1200" dirty="0">
                <a:solidFill>
                  <a:srgbClr val="1A1F36"/>
                </a:solidFill>
                <a:latin typeface="Calibri" pitchFamily="34" charset="0"/>
                <a:ea typeface="Calibri" pitchFamily="34" charset="-122"/>
                <a:cs typeface="Calibri" pitchFamily="34" charset="-120"/>
              </a:rPr>
              <a:t>Under Dirichlet skew: the advantage flips negative (−0.234). Partition type is determinative.</a:t>
            </a:r>
            <a:endParaRPr lang="en-US" sz="1200" dirty="0"/>
          </a:p>
          <a:p>
            <a:pPr indent="0" marL="0">
              <a:spcAft>
                <a:spcPts val="400"/>
              </a:spcAft>
              <a:buNone/>
            </a:pPr>
            <a:endParaRPr lang="en-US" sz="1200" dirty="0"/>
          </a:p>
          <a:p>
            <a:pPr indent="0" marL="0">
              <a:spcAft>
                <a:spcPts val="400"/>
              </a:spcAft>
              <a:buNone/>
            </a:pPr>
            <a:r>
              <a:rPr lang="en-US" sz="1200" b="1" dirty="0">
                <a:solidFill>
                  <a:srgbClr val="0E9594"/>
                </a:solidFill>
                <a:latin typeface="Calibri" pitchFamily="34" charset="0"/>
                <a:ea typeface="Calibri" pitchFamily="34" charset="-122"/>
                <a:cs typeface="Calibri" pitchFamily="34" charset="-120"/>
              </a:rPr>
              <a:t>3.  </a:t>
            </a:r>
            <a:pPr indent="0" marL="0">
              <a:spcAft>
                <a:spcPts val="400"/>
              </a:spcAft>
              <a:buNone/>
            </a:pPr>
            <a:r>
              <a:rPr lang="en-US" sz="1200" dirty="0">
                <a:solidFill>
                  <a:srgbClr val="1A1F36"/>
                </a:solidFill>
                <a:latin typeface="Calibri" pitchFamily="34" charset="0"/>
                <a:ea typeface="Calibri" pitchFamily="34" charset="-122"/>
                <a:cs typeface="Calibri" pitchFamily="34" charset="-120"/>
              </a:rPr>
              <a:t>Cross-task on PTB-XL: same pattern replicates. Conclusion is not dataset-specific.</a:t>
            </a:r>
            <a:endParaRPr lang="en-US" sz="1200" dirty="0"/>
          </a:p>
        </p:txBody>
      </p:sp>
      <p:sp>
        <p:nvSpPr>
          <p:cNvPr id="8" name="Shape 5"/>
          <p:cNvSpPr/>
          <p:nvPr/>
        </p:nvSpPr>
        <p:spPr>
          <a:xfrm>
            <a:off x="7589520" y="4297680"/>
            <a:ext cx="4114800" cy="2103120"/>
          </a:xfrm>
          <a:prstGeom prst="rect">
            <a:avLst/>
          </a:prstGeom>
          <a:solidFill>
            <a:srgbClr val="F8FAFC"/>
          </a:solidFill>
          <a:ln w="6350">
            <a:solidFill>
              <a:srgbClr val="E2E8F0"/>
            </a:solidFill>
            <a:prstDash val="solid"/>
          </a:ln>
        </p:spPr>
      </p:sp>
      <p:sp>
        <p:nvSpPr>
          <p:cNvPr id="9" name="Shape 6"/>
          <p:cNvSpPr/>
          <p:nvPr/>
        </p:nvSpPr>
        <p:spPr>
          <a:xfrm>
            <a:off x="7589520" y="4297680"/>
            <a:ext cx="73152" cy="2103120"/>
          </a:xfrm>
          <a:prstGeom prst="rect">
            <a:avLst/>
          </a:prstGeom>
          <a:solidFill>
            <a:srgbClr val="0E9594"/>
          </a:solidFill>
          <a:ln w="12700">
            <a:solidFill>
              <a:srgbClr val="333333"/>
            </a:solidFill>
            <a:prstDash val="solid"/>
          </a:ln>
        </p:spPr>
      </p:sp>
      <p:sp>
        <p:nvSpPr>
          <p:cNvPr id="10" name="Text 7"/>
          <p:cNvSpPr/>
          <p:nvPr/>
        </p:nvSpPr>
        <p:spPr>
          <a:xfrm>
            <a:off x="7818120" y="4434840"/>
            <a:ext cx="3840480" cy="274320"/>
          </a:xfrm>
          <a:prstGeom prst="rect">
            <a:avLst/>
          </a:prstGeom>
          <a:noFill/>
          <a:ln/>
        </p:spPr>
        <p:txBody>
          <a:bodyPr wrap="square" lIns="0" tIns="0" rIns="0" bIns="0" rtlCol="0" anchor="ctr"/>
          <a:lstStyle/>
          <a:p>
            <a:pPr indent="0" marL="0">
              <a:buNone/>
            </a:pPr>
            <a:r>
              <a:rPr lang="en-US" sz="1000" b="1" spc="300" kern="0" dirty="0">
                <a:solidFill>
                  <a:srgbClr val="0E9594"/>
                </a:solidFill>
                <a:latin typeface="Calibri" pitchFamily="34" charset="0"/>
                <a:ea typeface="Calibri" pitchFamily="34" charset="-122"/>
                <a:cs typeface="Calibri" pitchFamily="34" charset="-120"/>
              </a:rPr>
              <a:t>PRACTITIONER RUBRIC</a:t>
            </a:r>
            <a:endParaRPr lang="en-US" sz="1000" dirty="0"/>
          </a:p>
        </p:txBody>
      </p:sp>
      <p:sp>
        <p:nvSpPr>
          <p:cNvPr id="11" name="Text 8"/>
          <p:cNvSpPr/>
          <p:nvPr/>
        </p:nvSpPr>
        <p:spPr>
          <a:xfrm>
            <a:off x="7818120" y="4754880"/>
            <a:ext cx="3840480" cy="1554480"/>
          </a:xfrm>
          <a:prstGeom prst="rect">
            <a:avLst/>
          </a:prstGeom>
          <a:noFill/>
          <a:ln/>
        </p:spPr>
        <p:txBody>
          <a:bodyPr wrap="square" lIns="0" tIns="0" rIns="0" bIns="0" rtlCol="0" anchor="ctr"/>
          <a:lstStyle/>
          <a:p>
            <a:pPr indent="0" marL="0">
              <a:spcAft>
                <a:spcPts val="200"/>
              </a:spcAft>
              <a:buNone/>
            </a:pPr>
            <a:r>
              <a:rPr lang="en-US" sz="1100" b="1" dirty="0">
                <a:solidFill>
                  <a:srgbClr val="1E2761"/>
                </a:solidFill>
                <a:latin typeface="Calibri" pitchFamily="34" charset="0"/>
                <a:ea typeface="Calibri" pitchFamily="34" charset="-122"/>
                <a:cs typeface="Calibri" pitchFamily="34" charset="-120"/>
              </a:rPr>
              <a:t>If label-truncated cohorts + local deploy</a:t>
            </a:r>
            <a:endParaRPr lang="en-US" sz="1100" dirty="0"/>
          </a:p>
          <a:p>
            <a:pPr indent="0" marL="0">
              <a:spcAft>
                <a:spcPts val="200"/>
              </a:spcAft>
              <a:buNone/>
            </a:pPr>
            <a:r>
              <a:rPr lang="en-US" sz="1100" dirty="0">
                <a:solidFill>
                  <a:srgbClr val="1A1F36"/>
                </a:solidFill>
                <a:latin typeface="Calibri" pitchFamily="34" charset="0"/>
                <a:ea typeface="Calibri" pitchFamily="34" charset="-122"/>
                <a:cs typeface="Calibri" pitchFamily="34" charset="-120"/>
              </a:rPr>
              <a:t>→  use DP-FedBN</a:t>
            </a:r>
            <a:endParaRPr lang="en-US" sz="1100" dirty="0"/>
          </a:p>
          <a:p>
            <a:pPr indent="0" marL="0">
              <a:spcAft>
                <a:spcPts val="200"/>
              </a:spcAft>
              <a:buNone/>
            </a:pPr>
            <a:endParaRPr lang="en-US" sz="1100" dirty="0"/>
          </a:p>
          <a:p>
            <a:pPr indent="0" marL="0">
              <a:spcAft>
                <a:spcPts val="200"/>
              </a:spcAft>
              <a:buNone/>
            </a:pPr>
            <a:r>
              <a:rPr lang="en-US" sz="1100" b="1" dirty="0">
                <a:solidFill>
                  <a:srgbClr val="1E2761"/>
                </a:solidFill>
                <a:latin typeface="Calibri" pitchFamily="34" charset="0"/>
                <a:ea typeface="Calibri" pitchFamily="34" charset="-122"/>
                <a:cs typeface="Calibri" pitchFamily="34" charset="-120"/>
              </a:rPr>
              <a:t>If Dirichlet-style class-mix heterogeneity</a:t>
            </a:r>
            <a:endParaRPr lang="en-US" sz="1100" dirty="0"/>
          </a:p>
          <a:p>
            <a:pPr indent="0" marL="0">
              <a:spcAft>
                <a:spcPts val="200"/>
              </a:spcAft>
              <a:buNone/>
            </a:pPr>
            <a:r>
              <a:rPr lang="en-US" sz="1100" dirty="0">
                <a:solidFill>
                  <a:srgbClr val="1A1F36"/>
                </a:solidFill>
                <a:latin typeface="Calibri" pitchFamily="34" charset="0"/>
                <a:ea typeface="Calibri" pitchFamily="34" charset="-122"/>
                <a:cs typeface="Calibri" pitchFamily="34" charset="-120"/>
              </a:rPr>
              <a:t>→  use DP-FedAvg + GroupNorm</a:t>
            </a:r>
            <a:endParaRPr lang="en-US" sz="1100" dirty="0"/>
          </a:p>
        </p:txBody>
      </p:sp>
      <p:sp>
        <p:nvSpPr>
          <p:cNvPr id="12" name="Text 9"/>
          <p:cNvSpPr/>
          <p:nvPr/>
        </p:nvSpPr>
        <p:spPr>
          <a:xfrm>
            <a:off x="457200" y="6492240"/>
            <a:ext cx="8229600" cy="274320"/>
          </a:xfrm>
          <a:prstGeom prst="rect">
            <a:avLst/>
          </a:prstGeom>
          <a:noFill/>
          <a:ln/>
        </p:spPr>
        <p:txBody>
          <a:bodyPr wrap="square" lIns="0" tIns="0" rIns="0" bIns="0" rtlCol="0" anchor="ctr"/>
          <a:lstStyle/>
          <a:p>
            <a:pPr indent="0" marL="0">
              <a:buNone/>
            </a:pPr>
            <a:r>
              <a:rPr lang="en-US" sz="900" dirty="0">
                <a:solidFill>
                  <a:srgbClr val="94A3B8"/>
                </a:solidFill>
                <a:latin typeface="Calibri" pitchFamily="34" charset="0"/>
                <a:ea typeface="Calibri" pitchFamily="34" charset="-122"/>
                <a:cs typeface="Calibri" pitchFamily="34" charset="-120"/>
              </a:rPr>
              <a:t>Efe Deniz Bağlar  ·  Undergraduate Thesis  ·  Ege University · Computer Engineering</a:t>
            </a:r>
            <a:endParaRPr lang="en-US" sz="900" dirty="0"/>
          </a:p>
        </p:txBody>
      </p:sp>
      <p:sp>
        <p:nvSpPr>
          <p:cNvPr id="13" name="Text 10"/>
          <p:cNvSpPr/>
          <p:nvPr/>
        </p:nvSpPr>
        <p:spPr>
          <a:xfrm>
            <a:off x="10820095" y="6492240"/>
            <a:ext cx="914400" cy="274320"/>
          </a:xfrm>
          <a:prstGeom prst="rect">
            <a:avLst/>
          </a:prstGeom>
          <a:noFill/>
          <a:ln/>
        </p:spPr>
        <p:txBody>
          <a:bodyPr wrap="square" lIns="0" tIns="0" rIns="0" bIns="0" rtlCol="0" anchor="ctr"/>
          <a:lstStyle/>
          <a:p>
            <a:pPr algn="r" indent="0" marL="0">
              <a:buNone/>
            </a:pPr>
            <a:r>
              <a:rPr lang="en-US" sz="900" dirty="0">
                <a:solidFill>
                  <a:srgbClr val="94A3B8"/>
                </a:solidFill>
                <a:latin typeface="Calibri" pitchFamily="34" charset="0"/>
                <a:ea typeface="Calibri" pitchFamily="34" charset="-122"/>
                <a:cs typeface="Calibri" pitchFamily="34" charset="-120"/>
              </a:rPr>
              <a:t>10 / 11</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65760"/>
            <a:ext cx="11094415" cy="822960"/>
          </a:xfrm>
          <a:prstGeom prst="rect">
            <a:avLst/>
          </a:prstGeom>
          <a:noFill/>
          <a:ln/>
        </p:spPr>
        <p:txBody>
          <a:bodyPr wrap="square" lIns="0" tIns="0" rIns="0" bIns="0" rtlCol="0" anchor="ctr"/>
          <a:lstStyle/>
          <a:p>
            <a:pPr indent="0" marL="0">
              <a:buNone/>
            </a:pPr>
            <a:r>
              <a:rPr lang="en-US" sz="3200" b="1" dirty="0">
                <a:solidFill>
                  <a:srgbClr val="1E2761"/>
                </a:solidFill>
                <a:latin typeface="Calibri" pitchFamily="34" charset="0"/>
                <a:ea typeface="Calibri" pitchFamily="34" charset="-122"/>
                <a:cs typeface="Calibri" pitchFamily="34" charset="-120"/>
              </a:rPr>
              <a:t>Limitations, Roadmap, and Closing</a:t>
            </a:r>
            <a:endParaRPr lang="en-US" sz="3200" dirty="0"/>
          </a:p>
        </p:txBody>
      </p:sp>
      <p:sp>
        <p:nvSpPr>
          <p:cNvPr id="3" name="Shape 1"/>
          <p:cNvSpPr/>
          <p:nvPr/>
        </p:nvSpPr>
        <p:spPr>
          <a:xfrm>
            <a:off x="548640" y="1188720"/>
            <a:ext cx="1097280" cy="54864"/>
          </a:xfrm>
          <a:prstGeom prst="rect">
            <a:avLst/>
          </a:prstGeom>
          <a:solidFill>
            <a:srgbClr val="065A82"/>
          </a:solidFill>
          <a:ln w="12700">
            <a:solidFill>
              <a:srgbClr val="065A82"/>
            </a:solidFill>
            <a:prstDash val="solid"/>
          </a:ln>
        </p:spPr>
      </p:sp>
      <p:sp>
        <p:nvSpPr>
          <p:cNvPr id="4" name="Text 2"/>
          <p:cNvSpPr/>
          <p:nvPr/>
        </p:nvSpPr>
        <p:spPr>
          <a:xfrm>
            <a:off x="822960" y="1600200"/>
            <a:ext cx="3271418" cy="320040"/>
          </a:xfrm>
          <a:prstGeom prst="rect">
            <a:avLst/>
          </a:prstGeom>
          <a:noFill/>
          <a:ln/>
        </p:spPr>
        <p:txBody>
          <a:bodyPr wrap="square" lIns="0" tIns="0" rIns="0" bIns="0" rtlCol="0" anchor="ctr"/>
          <a:lstStyle/>
          <a:p>
            <a:pPr indent="0" marL="0">
              <a:buNone/>
            </a:pPr>
            <a:r>
              <a:rPr lang="en-US" sz="1100" b="1" spc="300" kern="0" dirty="0">
                <a:solidFill>
                  <a:srgbClr val="B91C1C"/>
                </a:solidFill>
                <a:latin typeface="Calibri" pitchFamily="34" charset="0"/>
                <a:ea typeface="Calibri" pitchFamily="34" charset="-122"/>
                <a:cs typeface="Calibri" pitchFamily="34" charset="-120"/>
              </a:rPr>
              <a:t>LIMITATIONS</a:t>
            </a:r>
            <a:endParaRPr lang="en-US" sz="1100" dirty="0"/>
          </a:p>
        </p:txBody>
      </p:sp>
      <p:sp>
        <p:nvSpPr>
          <p:cNvPr id="5" name="Shape 3"/>
          <p:cNvSpPr/>
          <p:nvPr/>
        </p:nvSpPr>
        <p:spPr>
          <a:xfrm>
            <a:off x="822960" y="1920240"/>
            <a:ext cx="914400" cy="36576"/>
          </a:xfrm>
          <a:prstGeom prst="rect">
            <a:avLst/>
          </a:prstGeom>
          <a:solidFill>
            <a:srgbClr val="B91C1C"/>
          </a:solidFill>
          <a:ln w="12700">
            <a:solidFill>
              <a:srgbClr val="333333"/>
            </a:solidFill>
            <a:prstDash val="solid"/>
          </a:ln>
        </p:spPr>
      </p:sp>
      <p:sp>
        <p:nvSpPr>
          <p:cNvPr id="6" name="Text 4"/>
          <p:cNvSpPr/>
          <p:nvPr/>
        </p:nvSpPr>
        <p:spPr>
          <a:xfrm>
            <a:off x="822960" y="2103120"/>
            <a:ext cx="3271418" cy="320040"/>
          </a:xfrm>
          <a:prstGeom prst="rect">
            <a:avLst/>
          </a:prstGeom>
          <a:noFill/>
          <a:ln/>
        </p:spPr>
        <p:txBody>
          <a:bodyPr wrap="square" lIns="0" tIns="0" rIns="0" bIns="0" rtlCol="0" anchor="ctr"/>
          <a:lstStyle/>
          <a:p>
            <a:pPr indent="0" marL="0">
              <a:buNone/>
            </a:pPr>
            <a:r>
              <a:rPr lang="en-US" sz="1400" b="1" dirty="0">
                <a:solidFill>
                  <a:srgbClr val="1E2761"/>
                </a:solidFill>
                <a:latin typeface="Calibri" pitchFamily="34" charset="0"/>
                <a:ea typeface="Calibri" pitchFamily="34" charset="-122"/>
                <a:cs typeface="Calibri" pitchFamily="34" charset="-120"/>
              </a:rPr>
              <a:t>Single-seed (=42)</a:t>
            </a:r>
            <a:endParaRPr lang="en-US" sz="1400" dirty="0"/>
          </a:p>
        </p:txBody>
      </p:sp>
      <p:sp>
        <p:nvSpPr>
          <p:cNvPr id="7" name="Text 5"/>
          <p:cNvSpPr/>
          <p:nvPr/>
        </p:nvSpPr>
        <p:spPr>
          <a:xfrm>
            <a:off x="822960" y="2468880"/>
            <a:ext cx="3271418" cy="502920"/>
          </a:xfrm>
          <a:prstGeom prst="rect">
            <a:avLst/>
          </a:prstGeom>
          <a:noFill/>
          <a:ln/>
        </p:spPr>
        <p:txBody>
          <a:bodyPr wrap="square" lIns="0" tIns="0" rIns="0" bIns="0" rtlCol="0" anchor="ctr"/>
          <a:lstStyle/>
          <a:p>
            <a:pPr indent="0" marL="0">
              <a:buNone/>
            </a:pPr>
            <a:r>
              <a:rPr lang="en-US" sz="1100" dirty="0">
                <a:solidFill>
                  <a:srgbClr val="1A1F36"/>
                </a:solidFill>
                <a:latin typeface="Calibri" pitchFamily="34" charset="0"/>
                <a:ea typeface="Calibri" pitchFamily="34" charset="-122"/>
                <a:cs typeface="Calibri" pitchFamily="34" charset="-120"/>
              </a:rPr>
              <a:t>Variance unquantified; multi-seed expansion in progress.</a:t>
            </a:r>
            <a:endParaRPr lang="en-US" sz="1100" dirty="0"/>
          </a:p>
        </p:txBody>
      </p:sp>
      <p:sp>
        <p:nvSpPr>
          <p:cNvPr id="8" name="Text 6"/>
          <p:cNvSpPr/>
          <p:nvPr/>
        </p:nvSpPr>
        <p:spPr>
          <a:xfrm>
            <a:off x="822960" y="3063240"/>
            <a:ext cx="3271418" cy="320040"/>
          </a:xfrm>
          <a:prstGeom prst="rect">
            <a:avLst/>
          </a:prstGeom>
          <a:noFill/>
          <a:ln/>
        </p:spPr>
        <p:txBody>
          <a:bodyPr wrap="square" lIns="0" tIns="0" rIns="0" bIns="0" rtlCol="0" anchor="ctr"/>
          <a:lstStyle/>
          <a:p>
            <a:pPr indent="0" marL="0">
              <a:buNone/>
            </a:pPr>
            <a:r>
              <a:rPr lang="en-US" sz="1400" b="1" dirty="0">
                <a:solidFill>
                  <a:srgbClr val="1E2761"/>
                </a:solidFill>
                <a:latin typeface="Calibri" pitchFamily="34" charset="0"/>
                <a:ea typeface="Calibri" pitchFamily="34" charset="-122"/>
                <a:cs typeface="Calibri" pitchFamily="34" charset="-120"/>
              </a:rPr>
              <a:t>CNN1D only</a:t>
            </a:r>
            <a:endParaRPr lang="en-US" sz="1400" dirty="0"/>
          </a:p>
        </p:txBody>
      </p:sp>
      <p:sp>
        <p:nvSpPr>
          <p:cNvPr id="9" name="Text 7"/>
          <p:cNvSpPr/>
          <p:nvPr/>
        </p:nvSpPr>
        <p:spPr>
          <a:xfrm>
            <a:off x="822960" y="3429000"/>
            <a:ext cx="3271418" cy="502920"/>
          </a:xfrm>
          <a:prstGeom prst="rect">
            <a:avLst/>
          </a:prstGeom>
          <a:noFill/>
          <a:ln/>
        </p:spPr>
        <p:txBody>
          <a:bodyPr wrap="square" lIns="0" tIns="0" rIns="0" bIns="0" rtlCol="0" anchor="ctr"/>
          <a:lstStyle/>
          <a:p>
            <a:pPr indent="0" marL="0">
              <a:buNone/>
            </a:pPr>
            <a:r>
              <a:rPr lang="en-US" sz="1100" dirty="0">
                <a:solidFill>
                  <a:srgbClr val="1A1F36"/>
                </a:solidFill>
                <a:latin typeface="Calibri" pitchFamily="34" charset="0"/>
                <a:ea typeface="Calibri" pitchFamily="34" charset="-122"/>
                <a:cs typeface="Calibri" pitchFamily="34" charset="-120"/>
              </a:rPr>
              <a:t>Architecture-dependent generalization untested.</a:t>
            </a:r>
            <a:endParaRPr lang="en-US" sz="1100" dirty="0"/>
          </a:p>
        </p:txBody>
      </p:sp>
      <p:sp>
        <p:nvSpPr>
          <p:cNvPr id="10" name="Text 8"/>
          <p:cNvSpPr/>
          <p:nvPr/>
        </p:nvSpPr>
        <p:spPr>
          <a:xfrm>
            <a:off x="822960" y="4023360"/>
            <a:ext cx="3271418" cy="320040"/>
          </a:xfrm>
          <a:prstGeom prst="rect">
            <a:avLst/>
          </a:prstGeom>
          <a:noFill/>
          <a:ln/>
        </p:spPr>
        <p:txBody>
          <a:bodyPr wrap="square" lIns="0" tIns="0" rIns="0" bIns="0" rtlCol="0" anchor="ctr"/>
          <a:lstStyle/>
          <a:p>
            <a:pPr indent="0" marL="0">
              <a:buNone/>
            </a:pPr>
            <a:r>
              <a:rPr lang="en-US" sz="1400" b="1" dirty="0">
                <a:solidFill>
                  <a:srgbClr val="1E2761"/>
                </a:solidFill>
                <a:latin typeface="Calibri" pitchFamily="34" charset="0"/>
                <a:ea typeface="Calibri" pitchFamily="34" charset="-122"/>
                <a:cs typeface="Calibri" pitchFamily="34" charset="-120"/>
              </a:rPr>
              <a:t>5 clients</a:t>
            </a:r>
            <a:endParaRPr lang="en-US" sz="1400" dirty="0"/>
          </a:p>
        </p:txBody>
      </p:sp>
      <p:sp>
        <p:nvSpPr>
          <p:cNvPr id="11" name="Text 9"/>
          <p:cNvSpPr/>
          <p:nvPr/>
        </p:nvSpPr>
        <p:spPr>
          <a:xfrm>
            <a:off x="822960" y="4389120"/>
            <a:ext cx="3271418" cy="502920"/>
          </a:xfrm>
          <a:prstGeom prst="rect">
            <a:avLst/>
          </a:prstGeom>
          <a:noFill/>
          <a:ln/>
        </p:spPr>
        <p:txBody>
          <a:bodyPr wrap="square" lIns="0" tIns="0" rIns="0" bIns="0" rtlCol="0" anchor="ctr"/>
          <a:lstStyle/>
          <a:p>
            <a:pPr indent="0" marL="0">
              <a:buNone/>
            </a:pPr>
            <a:r>
              <a:rPr lang="en-US" sz="1100" dirty="0">
                <a:solidFill>
                  <a:srgbClr val="1A1F36"/>
                </a:solidFill>
                <a:latin typeface="Calibri" pitchFamily="34" charset="0"/>
                <a:ea typeface="Calibri" pitchFamily="34" charset="-122"/>
                <a:cs typeface="Calibri" pitchFamily="34" charset="-120"/>
              </a:rPr>
              <a:t>Production medical FL has tens to hundreds.</a:t>
            </a:r>
            <a:endParaRPr lang="en-US" sz="1100" dirty="0"/>
          </a:p>
        </p:txBody>
      </p:sp>
      <p:sp>
        <p:nvSpPr>
          <p:cNvPr id="12" name="Text 10"/>
          <p:cNvSpPr/>
          <p:nvPr/>
        </p:nvSpPr>
        <p:spPr>
          <a:xfrm>
            <a:off x="822960" y="4983480"/>
            <a:ext cx="3271418" cy="320040"/>
          </a:xfrm>
          <a:prstGeom prst="rect">
            <a:avLst/>
          </a:prstGeom>
          <a:noFill/>
          <a:ln/>
        </p:spPr>
        <p:txBody>
          <a:bodyPr wrap="square" lIns="0" tIns="0" rIns="0" bIns="0" rtlCol="0" anchor="ctr"/>
          <a:lstStyle/>
          <a:p>
            <a:pPr indent="0" marL="0">
              <a:buNone/>
            </a:pPr>
            <a:r>
              <a:rPr lang="en-US" sz="1400" b="1" dirty="0">
                <a:solidFill>
                  <a:srgbClr val="1E2761"/>
                </a:solidFill>
                <a:latin typeface="Calibri" pitchFamily="34" charset="0"/>
                <a:ea typeface="Calibri" pitchFamily="34" charset="-122"/>
                <a:cs typeface="Calibri" pitchFamily="34" charset="-120"/>
              </a:rPr>
              <a:t>FedProx tuning</a:t>
            </a:r>
            <a:endParaRPr lang="en-US" sz="1400" dirty="0"/>
          </a:p>
        </p:txBody>
      </p:sp>
      <p:sp>
        <p:nvSpPr>
          <p:cNvPr id="13" name="Text 11"/>
          <p:cNvSpPr/>
          <p:nvPr/>
        </p:nvSpPr>
        <p:spPr>
          <a:xfrm>
            <a:off x="822960" y="5349240"/>
            <a:ext cx="3271418" cy="502920"/>
          </a:xfrm>
          <a:prstGeom prst="rect">
            <a:avLst/>
          </a:prstGeom>
          <a:noFill/>
          <a:ln/>
        </p:spPr>
        <p:txBody>
          <a:bodyPr wrap="square" lIns="0" tIns="0" rIns="0" bIns="0" rtlCol="0" anchor="ctr"/>
          <a:lstStyle/>
          <a:p>
            <a:pPr indent="0" marL="0">
              <a:buNone/>
            </a:pPr>
            <a:r>
              <a:rPr lang="en-US" sz="1100" dirty="0">
                <a:solidFill>
                  <a:srgbClr val="1A1F36"/>
                </a:solidFill>
                <a:latin typeface="Calibri" pitchFamily="34" charset="0"/>
                <a:ea typeface="Calibri" pitchFamily="34" charset="-122"/>
                <a:cs typeface="Calibri" pitchFamily="34" charset="-120"/>
              </a:rPr>
              <a:t>μ=0.01 likely under-tuned.</a:t>
            </a:r>
            <a:endParaRPr lang="en-US" sz="1100" dirty="0"/>
          </a:p>
        </p:txBody>
      </p:sp>
      <p:sp>
        <p:nvSpPr>
          <p:cNvPr id="14" name="Text 12"/>
          <p:cNvSpPr/>
          <p:nvPr/>
        </p:nvSpPr>
        <p:spPr>
          <a:xfrm>
            <a:off x="4460138" y="1600200"/>
            <a:ext cx="3271418" cy="320040"/>
          </a:xfrm>
          <a:prstGeom prst="rect">
            <a:avLst/>
          </a:prstGeom>
          <a:noFill/>
          <a:ln/>
        </p:spPr>
        <p:txBody>
          <a:bodyPr wrap="square" lIns="0" tIns="0" rIns="0" bIns="0" rtlCol="0" anchor="ctr"/>
          <a:lstStyle/>
          <a:p>
            <a:pPr indent="0" marL="0">
              <a:buNone/>
            </a:pPr>
            <a:r>
              <a:rPr lang="en-US" sz="1100" b="1" spc="300" kern="0" dirty="0">
                <a:solidFill>
                  <a:srgbClr val="1C7293"/>
                </a:solidFill>
                <a:latin typeface="Calibri" pitchFamily="34" charset="0"/>
                <a:ea typeface="Calibri" pitchFamily="34" charset="-122"/>
                <a:cs typeface="Calibri" pitchFamily="34" charset="-120"/>
              </a:rPr>
              <a:t>ROADMAP (MAY-SEP 2026)</a:t>
            </a:r>
            <a:endParaRPr lang="en-US" sz="1100" dirty="0"/>
          </a:p>
        </p:txBody>
      </p:sp>
      <p:sp>
        <p:nvSpPr>
          <p:cNvPr id="15" name="Shape 13"/>
          <p:cNvSpPr/>
          <p:nvPr/>
        </p:nvSpPr>
        <p:spPr>
          <a:xfrm>
            <a:off x="4460138" y="1920240"/>
            <a:ext cx="914400" cy="36576"/>
          </a:xfrm>
          <a:prstGeom prst="rect">
            <a:avLst/>
          </a:prstGeom>
          <a:solidFill>
            <a:srgbClr val="1C7293"/>
          </a:solidFill>
          <a:ln w="12700">
            <a:solidFill>
              <a:srgbClr val="333333"/>
            </a:solidFill>
            <a:prstDash val="solid"/>
          </a:ln>
        </p:spPr>
      </p:sp>
      <p:sp>
        <p:nvSpPr>
          <p:cNvPr id="16" name="Text 14"/>
          <p:cNvSpPr/>
          <p:nvPr/>
        </p:nvSpPr>
        <p:spPr>
          <a:xfrm>
            <a:off x="4460138" y="2103120"/>
            <a:ext cx="3271418" cy="320040"/>
          </a:xfrm>
          <a:prstGeom prst="rect">
            <a:avLst/>
          </a:prstGeom>
          <a:noFill/>
          <a:ln/>
        </p:spPr>
        <p:txBody>
          <a:bodyPr wrap="square" lIns="0" tIns="0" rIns="0" bIns="0" rtlCol="0" anchor="ctr"/>
          <a:lstStyle/>
          <a:p>
            <a:pPr indent="0" marL="0">
              <a:buNone/>
            </a:pPr>
            <a:r>
              <a:rPr lang="en-US" sz="1400" b="1" dirty="0">
                <a:solidFill>
                  <a:srgbClr val="1E2761"/>
                </a:solidFill>
                <a:latin typeface="Calibri" pitchFamily="34" charset="0"/>
                <a:ea typeface="Calibri" pitchFamily="34" charset="-122"/>
                <a:cs typeface="Calibri" pitchFamily="34" charset="-120"/>
              </a:rPr>
              <a:t>Multi-seed (3-5)</a:t>
            </a:r>
            <a:endParaRPr lang="en-US" sz="1400" dirty="0"/>
          </a:p>
        </p:txBody>
      </p:sp>
      <p:sp>
        <p:nvSpPr>
          <p:cNvPr id="17" name="Text 15"/>
          <p:cNvSpPr/>
          <p:nvPr/>
        </p:nvSpPr>
        <p:spPr>
          <a:xfrm>
            <a:off x="4460138" y="2468880"/>
            <a:ext cx="3271418" cy="502920"/>
          </a:xfrm>
          <a:prstGeom prst="rect">
            <a:avLst/>
          </a:prstGeom>
          <a:noFill/>
          <a:ln/>
        </p:spPr>
        <p:txBody>
          <a:bodyPr wrap="square" lIns="0" tIns="0" rIns="0" bIns="0" rtlCol="0" anchor="ctr"/>
          <a:lstStyle/>
          <a:p>
            <a:pPr indent="0" marL="0">
              <a:buNone/>
            </a:pPr>
            <a:r>
              <a:rPr lang="en-US" sz="1100" dirty="0">
                <a:solidFill>
                  <a:srgbClr val="1A1F36"/>
                </a:solidFill>
                <a:latin typeface="Calibri" pitchFamily="34" charset="0"/>
                <a:ea typeface="Calibri" pitchFamily="34" charset="-122"/>
                <a:cs typeface="Calibri" pitchFamily="34" charset="-120"/>
              </a:rPr>
              <a:t>PTB-XL Dirichlet priority; statistical CI bands.</a:t>
            </a:r>
            <a:endParaRPr lang="en-US" sz="1100" dirty="0"/>
          </a:p>
        </p:txBody>
      </p:sp>
      <p:sp>
        <p:nvSpPr>
          <p:cNvPr id="18" name="Text 16"/>
          <p:cNvSpPr/>
          <p:nvPr/>
        </p:nvSpPr>
        <p:spPr>
          <a:xfrm>
            <a:off x="4460138" y="3063240"/>
            <a:ext cx="3271418" cy="320040"/>
          </a:xfrm>
          <a:prstGeom prst="rect">
            <a:avLst/>
          </a:prstGeom>
          <a:noFill/>
          <a:ln/>
        </p:spPr>
        <p:txBody>
          <a:bodyPr wrap="square" lIns="0" tIns="0" rIns="0" bIns="0" rtlCol="0" anchor="ctr"/>
          <a:lstStyle/>
          <a:p>
            <a:pPr indent="0" marL="0">
              <a:buNone/>
            </a:pPr>
            <a:r>
              <a:rPr lang="en-US" sz="1400" b="1" dirty="0">
                <a:solidFill>
                  <a:srgbClr val="1E2761"/>
                </a:solidFill>
                <a:latin typeface="Calibri" pitchFamily="34" charset="0"/>
                <a:ea typeface="Calibri" pitchFamily="34" charset="-122"/>
                <a:cs typeface="Calibri" pitchFamily="34" charset="-120"/>
              </a:rPr>
              <a:t>FedProx grid</a:t>
            </a:r>
            <a:endParaRPr lang="en-US" sz="1400" dirty="0"/>
          </a:p>
        </p:txBody>
      </p:sp>
      <p:sp>
        <p:nvSpPr>
          <p:cNvPr id="19" name="Text 17"/>
          <p:cNvSpPr/>
          <p:nvPr/>
        </p:nvSpPr>
        <p:spPr>
          <a:xfrm>
            <a:off x="4460138" y="3429000"/>
            <a:ext cx="3271418" cy="502920"/>
          </a:xfrm>
          <a:prstGeom prst="rect">
            <a:avLst/>
          </a:prstGeom>
          <a:noFill/>
          <a:ln/>
        </p:spPr>
        <p:txBody>
          <a:bodyPr wrap="square" lIns="0" tIns="0" rIns="0" bIns="0" rtlCol="0" anchor="ctr"/>
          <a:lstStyle/>
          <a:p>
            <a:pPr indent="0" marL="0">
              <a:buNone/>
            </a:pPr>
            <a:r>
              <a:rPr lang="en-US" sz="1100" dirty="0">
                <a:solidFill>
                  <a:srgbClr val="1A1F36"/>
                </a:solidFill>
                <a:latin typeface="Calibri" pitchFamily="34" charset="0"/>
                <a:ea typeface="Calibri" pitchFamily="34" charset="-122"/>
                <a:cs typeface="Calibri" pitchFamily="34" charset="-120"/>
              </a:rPr>
              <a:t>μ ∈ {0.001, 0.01, 0.1, 1.0}.</a:t>
            </a:r>
            <a:endParaRPr lang="en-US" sz="1100" dirty="0"/>
          </a:p>
        </p:txBody>
      </p:sp>
      <p:sp>
        <p:nvSpPr>
          <p:cNvPr id="20" name="Text 18"/>
          <p:cNvSpPr/>
          <p:nvPr/>
        </p:nvSpPr>
        <p:spPr>
          <a:xfrm>
            <a:off x="4460138" y="4023360"/>
            <a:ext cx="3271418" cy="320040"/>
          </a:xfrm>
          <a:prstGeom prst="rect">
            <a:avLst/>
          </a:prstGeom>
          <a:noFill/>
          <a:ln/>
        </p:spPr>
        <p:txBody>
          <a:bodyPr wrap="square" lIns="0" tIns="0" rIns="0" bIns="0" rtlCol="0" anchor="ctr"/>
          <a:lstStyle/>
          <a:p>
            <a:pPr indent="0" marL="0">
              <a:buNone/>
            </a:pPr>
            <a:r>
              <a:rPr lang="en-US" sz="1400" b="1" dirty="0">
                <a:solidFill>
                  <a:srgbClr val="1E2761"/>
                </a:solidFill>
                <a:latin typeface="Calibri" pitchFamily="34" charset="0"/>
                <a:ea typeface="Calibri" pitchFamily="34" charset="-122"/>
                <a:cs typeface="Calibri" pitchFamily="34" charset="-120"/>
              </a:rPr>
              <a:t>Threat model</a:t>
            </a:r>
            <a:endParaRPr lang="en-US" sz="1400" dirty="0"/>
          </a:p>
        </p:txBody>
      </p:sp>
      <p:sp>
        <p:nvSpPr>
          <p:cNvPr id="21" name="Text 19"/>
          <p:cNvSpPr/>
          <p:nvPr/>
        </p:nvSpPr>
        <p:spPr>
          <a:xfrm>
            <a:off x="4460138" y="4389120"/>
            <a:ext cx="3271418" cy="502920"/>
          </a:xfrm>
          <a:prstGeom prst="rect">
            <a:avLst/>
          </a:prstGeom>
          <a:noFill/>
          <a:ln/>
        </p:spPr>
        <p:txBody>
          <a:bodyPr wrap="square" lIns="0" tIns="0" rIns="0" bIns="0" rtlCol="0" anchor="ctr"/>
          <a:lstStyle/>
          <a:p>
            <a:pPr indent="0" marL="0">
              <a:buNone/>
            </a:pPr>
            <a:r>
              <a:rPr lang="en-US" sz="1100" dirty="0">
                <a:solidFill>
                  <a:srgbClr val="1A1F36"/>
                </a:solidFill>
                <a:latin typeface="Calibri" pitchFamily="34" charset="0"/>
                <a:ea typeface="Calibri" pitchFamily="34" charset="-122"/>
                <a:cs typeface="Calibri" pitchFamily="34" charset="-120"/>
              </a:rPr>
              <a:t>BN repeated-query attack analysis.</a:t>
            </a:r>
            <a:endParaRPr lang="en-US" sz="1100" dirty="0"/>
          </a:p>
        </p:txBody>
      </p:sp>
      <p:sp>
        <p:nvSpPr>
          <p:cNvPr id="22" name="Text 20"/>
          <p:cNvSpPr/>
          <p:nvPr/>
        </p:nvSpPr>
        <p:spPr>
          <a:xfrm>
            <a:off x="4460138" y="4983480"/>
            <a:ext cx="3271418" cy="320040"/>
          </a:xfrm>
          <a:prstGeom prst="rect">
            <a:avLst/>
          </a:prstGeom>
          <a:noFill/>
          <a:ln/>
        </p:spPr>
        <p:txBody>
          <a:bodyPr wrap="square" lIns="0" tIns="0" rIns="0" bIns="0" rtlCol="0" anchor="ctr"/>
          <a:lstStyle/>
          <a:p>
            <a:pPr indent="0" marL="0">
              <a:buNone/>
            </a:pPr>
            <a:r>
              <a:rPr lang="en-US" sz="1400" b="1" dirty="0">
                <a:solidFill>
                  <a:srgbClr val="1E2761"/>
                </a:solidFill>
                <a:latin typeface="Calibri" pitchFamily="34" charset="0"/>
                <a:ea typeface="Calibri" pitchFamily="34" charset="-122"/>
                <a:cs typeface="Calibri" pitchFamily="34" charset="-120"/>
              </a:rPr>
              <a:t>Ablations</a:t>
            </a:r>
            <a:endParaRPr lang="en-US" sz="1400" dirty="0"/>
          </a:p>
        </p:txBody>
      </p:sp>
      <p:sp>
        <p:nvSpPr>
          <p:cNvPr id="23" name="Text 21"/>
          <p:cNvSpPr/>
          <p:nvPr/>
        </p:nvSpPr>
        <p:spPr>
          <a:xfrm>
            <a:off x="4460138" y="5349240"/>
            <a:ext cx="3271418" cy="502920"/>
          </a:xfrm>
          <a:prstGeom prst="rect">
            <a:avLst/>
          </a:prstGeom>
          <a:noFill/>
          <a:ln/>
        </p:spPr>
        <p:txBody>
          <a:bodyPr wrap="square" lIns="0" tIns="0" rIns="0" bIns="0" rtlCol="0" anchor="ctr"/>
          <a:lstStyle/>
          <a:p>
            <a:pPr indent="0" marL="0">
              <a:buNone/>
            </a:pPr>
            <a:r>
              <a:rPr lang="en-US" sz="1100" dirty="0">
                <a:solidFill>
                  <a:srgbClr val="1A1F36"/>
                </a:solidFill>
                <a:latin typeface="Calibri" pitchFamily="34" charset="0"/>
                <a:ea typeface="Calibri" pitchFamily="34" charset="-122"/>
                <a:cs typeface="Calibri" pitchFamily="34" charset="-120"/>
              </a:rPr>
              <a:t>With/without freeze trick comparison.</a:t>
            </a:r>
            <a:endParaRPr lang="en-US" sz="1100" dirty="0"/>
          </a:p>
        </p:txBody>
      </p:sp>
      <p:sp>
        <p:nvSpPr>
          <p:cNvPr id="24" name="Text 22"/>
          <p:cNvSpPr/>
          <p:nvPr/>
        </p:nvSpPr>
        <p:spPr>
          <a:xfrm>
            <a:off x="8097317" y="1600200"/>
            <a:ext cx="3271418" cy="320040"/>
          </a:xfrm>
          <a:prstGeom prst="rect">
            <a:avLst/>
          </a:prstGeom>
          <a:noFill/>
          <a:ln/>
        </p:spPr>
        <p:txBody>
          <a:bodyPr wrap="square" lIns="0" tIns="0" rIns="0" bIns="0" rtlCol="0" anchor="ctr"/>
          <a:lstStyle/>
          <a:p>
            <a:pPr indent="0" marL="0">
              <a:buNone/>
            </a:pPr>
            <a:r>
              <a:rPr lang="en-US" sz="1100" b="1" spc="300" kern="0" dirty="0">
                <a:solidFill>
                  <a:srgbClr val="0E9594"/>
                </a:solidFill>
                <a:latin typeface="Calibri" pitchFamily="34" charset="0"/>
                <a:ea typeface="Calibri" pitchFamily="34" charset="-122"/>
                <a:cs typeface="Calibri" pitchFamily="34" charset="-120"/>
              </a:rPr>
              <a:t>TARGET</a:t>
            </a:r>
            <a:endParaRPr lang="en-US" sz="1100" dirty="0"/>
          </a:p>
        </p:txBody>
      </p:sp>
      <p:sp>
        <p:nvSpPr>
          <p:cNvPr id="25" name="Shape 23"/>
          <p:cNvSpPr/>
          <p:nvPr/>
        </p:nvSpPr>
        <p:spPr>
          <a:xfrm>
            <a:off x="8097317" y="1920240"/>
            <a:ext cx="914400" cy="36576"/>
          </a:xfrm>
          <a:prstGeom prst="rect">
            <a:avLst/>
          </a:prstGeom>
          <a:solidFill>
            <a:srgbClr val="0E9594"/>
          </a:solidFill>
          <a:ln w="12700">
            <a:solidFill>
              <a:srgbClr val="333333"/>
            </a:solidFill>
            <a:prstDash val="solid"/>
          </a:ln>
        </p:spPr>
      </p:sp>
      <p:sp>
        <p:nvSpPr>
          <p:cNvPr id="26" name="Text 24"/>
          <p:cNvSpPr/>
          <p:nvPr/>
        </p:nvSpPr>
        <p:spPr>
          <a:xfrm>
            <a:off x="8097317" y="2103120"/>
            <a:ext cx="3271418" cy="320040"/>
          </a:xfrm>
          <a:prstGeom prst="rect">
            <a:avLst/>
          </a:prstGeom>
          <a:noFill/>
          <a:ln/>
        </p:spPr>
        <p:txBody>
          <a:bodyPr wrap="square" lIns="0" tIns="0" rIns="0" bIns="0" rtlCol="0" anchor="ctr"/>
          <a:lstStyle/>
          <a:p>
            <a:pPr indent="0" marL="0">
              <a:buNone/>
            </a:pPr>
            <a:r>
              <a:rPr lang="en-US" sz="1400" b="1" dirty="0">
                <a:solidFill>
                  <a:srgbClr val="1E2761"/>
                </a:solidFill>
                <a:latin typeface="Calibri" pitchFamily="34" charset="0"/>
                <a:ea typeface="Calibri" pitchFamily="34" charset="-122"/>
                <a:cs typeface="Calibri" pitchFamily="34" charset="-120"/>
              </a:rPr>
              <a:t>IEEE JBHI</a:t>
            </a:r>
            <a:endParaRPr lang="en-US" sz="1400" dirty="0"/>
          </a:p>
        </p:txBody>
      </p:sp>
      <p:sp>
        <p:nvSpPr>
          <p:cNvPr id="27" name="Text 25"/>
          <p:cNvSpPr/>
          <p:nvPr/>
        </p:nvSpPr>
        <p:spPr>
          <a:xfrm>
            <a:off x="8097317" y="2468880"/>
            <a:ext cx="3271418" cy="502920"/>
          </a:xfrm>
          <a:prstGeom prst="rect">
            <a:avLst/>
          </a:prstGeom>
          <a:noFill/>
          <a:ln/>
        </p:spPr>
        <p:txBody>
          <a:bodyPr wrap="square" lIns="0" tIns="0" rIns="0" bIns="0" rtlCol="0" anchor="ctr"/>
          <a:lstStyle/>
          <a:p>
            <a:pPr indent="0" marL="0">
              <a:buNone/>
            </a:pPr>
            <a:r>
              <a:rPr lang="en-US" sz="1100" dirty="0">
                <a:solidFill>
                  <a:srgbClr val="1A1F36"/>
                </a:solidFill>
                <a:latin typeface="Calibri" pitchFamily="34" charset="0"/>
                <a:ea typeface="Calibri" pitchFamily="34" charset="-122"/>
                <a:cs typeface="Calibri" pitchFamily="34" charset="-120"/>
              </a:rPr>
              <a:t>Journal of Biomedical and Health Informatics.</a:t>
            </a:r>
            <a:endParaRPr lang="en-US" sz="1100" dirty="0"/>
          </a:p>
        </p:txBody>
      </p:sp>
      <p:sp>
        <p:nvSpPr>
          <p:cNvPr id="28" name="Text 26"/>
          <p:cNvSpPr/>
          <p:nvPr/>
        </p:nvSpPr>
        <p:spPr>
          <a:xfrm>
            <a:off x="8097317" y="3063240"/>
            <a:ext cx="3271418" cy="320040"/>
          </a:xfrm>
          <a:prstGeom prst="rect">
            <a:avLst/>
          </a:prstGeom>
          <a:noFill/>
          <a:ln/>
        </p:spPr>
        <p:txBody>
          <a:bodyPr wrap="square" lIns="0" tIns="0" rIns="0" bIns="0" rtlCol="0" anchor="ctr"/>
          <a:lstStyle/>
          <a:p>
            <a:pPr indent="0" marL="0">
              <a:buNone/>
            </a:pPr>
            <a:r>
              <a:rPr lang="en-US" sz="1400" b="1" dirty="0">
                <a:solidFill>
                  <a:srgbClr val="1E2761"/>
                </a:solidFill>
                <a:latin typeface="Calibri" pitchFamily="34" charset="0"/>
                <a:ea typeface="Calibri" pitchFamily="34" charset="-122"/>
                <a:cs typeface="Calibri" pitchFamily="34" charset="-120"/>
              </a:rPr>
              <a:t>September 2026</a:t>
            </a:r>
            <a:endParaRPr lang="en-US" sz="1400" dirty="0"/>
          </a:p>
        </p:txBody>
      </p:sp>
      <p:sp>
        <p:nvSpPr>
          <p:cNvPr id="29" name="Text 27"/>
          <p:cNvSpPr/>
          <p:nvPr/>
        </p:nvSpPr>
        <p:spPr>
          <a:xfrm>
            <a:off x="8097317" y="3429000"/>
            <a:ext cx="3271418" cy="502920"/>
          </a:xfrm>
          <a:prstGeom prst="rect">
            <a:avLst/>
          </a:prstGeom>
          <a:noFill/>
          <a:ln/>
        </p:spPr>
        <p:txBody>
          <a:bodyPr wrap="square" lIns="0" tIns="0" rIns="0" bIns="0" rtlCol="0" anchor="ctr"/>
          <a:lstStyle/>
          <a:p>
            <a:pPr indent="0" marL="0">
              <a:buNone/>
            </a:pPr>
            <a:r>
              <a:rPr lang="en-US" sz="1100" dirty="0">
                <a:solidFill>
                  <a:srgbClr val="1A1F36"/>
                </a:solidFill>
                <a:latin typeface="Calibri" pitchFamily="34" charset="0"/>
                <a:ea typeface="Calibri" pitchFamily="34" charset="-122"/>
                <a:cs typeface="Calibri" pitchFamily="34" charset="-120"/>
              </a:rPr>
              <a:t>Submission deadline.</a:t>
            </a:r>
            <a:endParaRPr lang="en-US" sz="1100" dirty="0"/>
          </a:p>
        </p:txBody>
      </p:sp>
      <p:sp>
        <p:nvSpPr>
          <p:cNvPr id="30" name="Text 28"/>
          <p:cNvSpPr/>
          <p:nvPr/>
        </p:nvSpPr>
        <p:spPr>
          <a:xfrm>
            <a:off x="8097317" y="4023360"/>
            <a:ext cx="3271418" cy="320040"/>
          </a:xfrm>
          <a:prstGeom prst="rect">
            <a:avLst/>
          </a:prstGeom>
          <a:noFill/>
          <a:ln/>
        </p:spPr>
        <p:txBody>
          <a:bodyPr wrap="square" lIns="0" tIns="0" rIns="0" bIns="0" rtlCol="0" anchor="ctr"/>
          <a:lstStyle/>
          <a:p>
            <a:pPr indent="0" marL="0">
              <a:buNone/>
            </a:pPr>
            <a:r>
              <a:rPr lang="en-US" sz="1400" b="1" dirty="0">
                <a:solidFill>
                  <a:srgbClr val="1E2761"/>
                </a:solidFill>
                <a:latin typeface="Calibri" pitchFamily="34" charset="0"/>
                <a:ea typeface="Calibri" pitchFamily="34" charset="-122"/>
                <a:cs typeface="Calibri" pitchFamily="34" charset="-120"/>
              </a:rPr>
              <a:t>First-round review</a:t>
            </a:r>
            <a:endParaRPr lang="en-US" sz="1400" dirty="0"/>
          </a:p>
        </p:txBody>
      </p:sp>
      <p:sp>
        <p:nvSpPr>
          <p:cNvPr id="31" name="Text 29"/>
          <p:cNvSpPr/>
          <p:nvPr/>
        </p:nvSpPr>
        <p:spPr>
          <a:xfrm>
            <a:off x="8097317" y="4389120"/>
            <a:ext cx="3271418" cy="502920"/>
          </a:xfrm>
          <a:prstGeom prst="rect">
            <a:avLst/>
          </a:prstGeom>
          <a:noFill/>
          <a:ln/>
        </p:spPr>
        <p:txBody>
          <a:bodyPr wrap="square" lIns="0" tIns="0" rIns="0" bIns="0" rtlCol="0" anchor="ctr"/>
          <a:lstStyle/>
          <a:p>
            <a:pPr indent="0" marL="0">
              <a:buNone/>
            </a:pPr>
            <a:r>
              <a:rPr lang="en-US" sz="1100" dirty="0">
                <a:solidFill>
                  <a:srgbClr val="1A1F36"/>
                </a:solidFill>
                <a:latin typeface="Calibri" pitchFamily="34" charset="0"/>
                <a:ea typeface="Calibri" pitchFamily="34" charset="-122"/>
                <a:cs typeface="Calibri" pitchFamily="34" charset="-120"/>
              </a:rPr>
              <a:t>Major revision expected; revisions planned.</a:t>
            </a:r>
            <a:endParaRPr lang="en-US" sz="1100" dirty="0"/>
          </a:p>
        </p:txBody>
      </p:sp>
      <p:sp>
        <p:nvSpPr>
          <p:cNvPr id="32" name="Text 30"/>
          <p:cNvSpPr/>
          <p:nvPr/>
        </p:nvSpPr>
        <p:spPr>
          <a:xfrm>
            <a:off x="8097317" y="4983480"/>
            <a:ext cx="3271418" cy="320040"/>
          </a:xfrm>
          <a:prstGeom prst="rect">
            <a:avLst/>
          </a:prstGeom>
          <a:noFill/>
          <a:ln/>
        </p:spPr>
        <p:txBody>
          <a:bodyPr wrap="square" lIns="0" tIns="0" rIns="0" bIns="0" rtlCol="0" anchor="ctr"/>
          <a:lstStyle/>
          <a:p>
            <a:pPr indent="0" marL="0">
              <a:buNone/>
            </a:pPr>
            <a:r>
              <a:rPr lang="en-US" sz="1400" b="1" dirty="0">
                <a:solidFill>
                  <a:srgbClr val="1E2761"/>
                </a:solidFill>
                <a:latin typeface="Calibri" pitchFamily="34" charset="0"/>
                <a:ea typeface="Calibri" pitchFamily="34" charset="-122"/>
                <a:cs typeface="Calibri" pitchFamily="34" charset="-120"/>
              </a:rPr>
              <a:t>Backup venues</a:t>
            </a:r>
            <a:endParaRPr lang="en-US" sz="1400" dirty="0"/>
          </a:p>
        </p:txBody>
      </p:sp>
      <p:sp>
        <p:nvSpPr>
          <p:cNvPr id="33" name="Text 31"/>
          <p:cNvSpPr/>
          <p:nvPr/>
        </p:nvSpPr>
        <p:spPr>
          <a:xfrm>
            <a:off x="8097317" y="5349240"/>
            <a:ext cx="3271418" cy="502920"/>
          </a:xfrm>
          <a:prstGeom prst="rect">
            <a:avLst/>
          </a:prstGeom>
          <a:noFill/>
          <a:ln/>
        </p:spPr>
        <p:txBody>
          <a:bodyPr wrap="square" lIns="0" tIns="0" rIns="0" bIns="0" rtlCol="0" anchor="ctr"/>
          <a:lstStyle/>
          <a:p>
            <a:pPr indent="0" marL="0">
              <a:buNone/>
            </a:pPr>
            <a:r>
              <a:rPr lang="en-US" sz="1100" dirty="0">
                <a:solidFill>
                  <a:srgbClr val="1A1F36"/>
                </a:solidFill>
                <a:latin typeface="Calibri" pitchFamily="34" charset="0"/>
                <a:ea typeface="Calibri" pitchFamily="34" charset="-122"/>
                <a:cs typeface="Calibri" pitchFamily="34" charset="-120"/>
              </a:rPr>
              <a:t>ML4H workshop · MICCAI MedAGI.</a:t>
            </a:r>
            <a:endParaRPr lang="en-US" sz="1100" dirty="0"/>
          </a:p>
        </p:txBody>
      </p:sp>
      <p:sp>
        <p:nvSpPr>
          <p:cNvPr id="34" name="Shape 32"/>
          <p:cNvSpPr/>
          <p:nvPr/>
        </p:nvSpPr>
        <p:spPr>
          <a:xfrm>
            <a:off x="457200" y="6217920"/>
            <a:ext cx="11277295" cy="457200"/>
          </a:xfrm>
          <a:prstGeom prst="rect">
            <a:avLst/>
          </a:prstGeom>
          <a:solidFill>
            <a:srgbClr val="1E2761"/>
          </a:solidFill>
          <a:ln w="12700">
            <a:solidFill>
              <a:srgbClr val="333333"/>
            </a:solidFill>
            <a:prstDash val="solid"/>
          </a:ln>
        </p:spPr>
      </p:sp>
      <p:sp>
        <p:nvSpPr>
          <p:cNvPr id="35" name="Text 33"/>
          <p:cNvSpPr/>
          <p:nvPr/>
        </p:nvSpPr>
        <p:spPr>
          <a:xfrm>
            <a:off x="457200" y="6217920"/>
            <a:ext cx="11277295"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Thank you  ·  Questions and discussion welcome  ·  efedenizbaglar45@gmail.com</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D8E98C1FAF40684BA2939383EB92CF3A" ma:contentTypeVersion="3" ma:contentTypeDescription="Create a new document." ma:contentTypeScope="" ma:versionID="8309e1acda6aed635efe5c77834fba63">
  <xsd:schema xmlns:xsd="http://www.w3.org/2001/XMLSchema" xmlns:xs="http://www.w3.org/2001/XMLSchema" xmlns:p="http://schemas.microsoft.com/office/2006/metadata/properties" xmlns:ns2="301ef012-1064-4ec5-80a3-1343aae2a2a5" targetNamespace="http://schemas.microsoft.com/office/2006/metadata/properties" ma:root="true" ma:fieldsID="1e4415f7e9eaa73236d0c74432ec949f" ns2:_="">
    <xsd:import namespace="301ef012-1064-4ec5-80a3-1343aae2a2a5"/>
    <xsd:element name="properties">
      <xsd:complexType>
        <xsd:sequence>
          <xsd:element name="documentManagement">
            <xsd:complexType>
              <xsd:all>
                <xsd:element ref="ns2:MediaServiceMetadata" minOccurs="0"/>
                <xsd:element ref="ns2:MediaServiceFastMetadata"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301ef012-1064-4ec5-80a3-1343aae2a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C0137927-8330-461F-A546-72DBF766F053}"/>
</file>

<file path=customXml/itemProps2.xml><?xml version="1.0" encoding="utf-8"?>
<ds:datastoreItem xmlns:ds="http://schemas.openxmlformats.org/officeDocument/2006/customXml" ds:itemID="{A6B57757-4CD6-49CD-94CF-123C3846D010}"/>
</file>

<file path=customXml/itemProps3.xml><?xml version="1.0" encoding="utf-8"?>
<ds:datastoreItem xmlns:ds="http://schemas.openxmlformats.org/officeDocument/2006/customXml" ds:itemID="{77220EC7-AF71-4D30-9F4A-87F99AA135ED}"/>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11</Slides>
  <Notes>11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vt:i4>
      </vt:variant>
    </vt:vector>
  </HeadingPairs>
  <TitlesOfParts>
    <vt:vector size="1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DP-FedBN — Thesis Defense Seminar</dc:title>
  <dc:subject>PptxGenJS Presentation</dc:subject>
  <dc:creator>Efe Deniz Bağlar</dc:creator>
  <cp:lastModifiedBy>Efe Deniz Bağlar</cp:lastModifiedBy>
  <cp:revision>1</cp:revision>
  <dcterms:created xsi:type="dcterms:W3CDTF">2026-05-11T21:49:52Z</dcterms:created>
  <dcterms:modified xsi:type="dcterms:W3CDTF">2026-05-11T21:49:52Z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0x010100D8E98C1FAF40684BA2939383EB92CF3A</vt:lpwstr>
  </property>
</Properties>
</file>